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202"/>
  </p:notesMasterIdLst>
  <p:sldIdLst>
    <p:sldId id="256" r:id="rId2"/>
    <p:sldId id="282" r:id="rId3"/>
    <p:sldId id="372" r:id="rId4"/>
    <p:sldId id="373" r:id="rId5"/>
    <p:sldId id="522" r:id="rId6"/>
    <p:sldId id="523" r:id="rId7"/>
    <p:sldId id="524" r:id="rId8"/>
    <p:sldId id="525" r:id="rId9"/>
    <p:sldId id="374" r:id="rId10"/>
    <p:sldId id="375" r:id="rId11"/>
    <p:sldId id="526" r:id="rId12"/>
    <p:sldId id="528" r:id="rId13"/>
    <p:sldId id="527" r:id="rId14"/>
    <p:sldId id="376" r:id="rId15"/>
    <p:sldId id="366" r:id="rId16"/>
    <p:sldId id="377" r:id="rId17"/>
    <p:sldId id="529" r:id="rId18"/>
    <p:sldId id="379" r:id="rId19"/>
    <p:sldId id="536" r:id="rId20"/>
    <p:sldId id="537" r:id="rId21"/>
    <p:sldId id="533" r:id="rId22"/>
    <p:sldId id="530" r:id="rId23"/>
    <p:sldId id="531" r:id="rId24"/>
    <p:sldId id="532" r:id="rId25"/>
    <p:sldId id="534" r:id="rId26"/>
    <p:sldId id="535" r:id="rId27"/>
    <p:sldId id="367" r:id="rId28"/>
    <p:sldId id="383" r:id="rId29"/>
    <p:sldId id="538" r:id="rId30"/>
    <p:sldId id="539" r:id="rId31"/>
    <p:sldId id="385" r:id="rId32"/>
    <p:sldId id="386" r:id="rId33"/>
    <p:sldId id="541" r:id="rId34"/>
    <p:sldId id="542" r:id="rId35"/>
    <p:sldId id="543" r:id="rId36"/>
    <p:sldId id="384" r:id="rId37"/>
    <p:sldId id="540" r:id="rId38"/>
    <p:sldId id="387" r:id="rId39"/>
    <p:sldId id="388" r:id="rId40"/>
    <p:sldId id="389" r:id="rId41"/>
    <p:sldId id="368" r:id="rId42"/>
    <p:sldId id="390" r:id="rId43"/>
    <p:sldId id="391" r:id="rId44"/>
    <p:sldId id="392" r:id="rId45"/>
    <p:sldId id="393" r:id="rId46"/>
    <p:sldId id="395" r:id="rId47"/>
    <p:sldId id="394" r:id="rId48"/>
    <p:sldId id="396" r:id="rId49"/>
    <p:sldId id="397" r:id="rId50"/>
    <p:sldId id="398" r:id="rId51"/>
    <p:sldId id="399" r:id="rId52"/>
    <p:sldId id="400" r:id="rId53"/>
    <p:sldId id="401" r:id="rId54"/>
    <p:sldId id="402" r:id="rId55"/>
    <p:sldId id="403" r:id="rId56"/>
    <p:sldId id="404" r:id="rId57"/>
    <p:sldId id="405" r:id="rId58"/>
    <p:sldId id="406" r:id="rId59"/>
    <p:sldId id="407" r:id="rId60"/>
    <p:sldId id="408" r:id="rId61"/>
    <p:sldId id="409" r:id="rId62"/>
    <p:sldId id="410" r:id="rId63"/>
    <p:sldId id="411" r:id="rId64"/>
    <p:sldId id="412" r:id="rId65"/>
    <p:sldId id="413" r:id="rId66"/>
    <p:sldId id="414" r:id="rId67"/>
    <p:sldId id="415" r:id="rId68"/>
    <p:sldId id="416" r:id="rId69"/>
    <p:sldId id="417" r:id="rId70"/>
    <p:sldId id="418" r:id="rId71"/>
    <p:sldId id="419" r:id="rId72"/>
    <p:sldId id="420" r:id="rId73"/>
    <p:sldId id="421" r:id="rId74"/>
    <p:sldId id="422" r:id="rId75"/>
    <p:sldId id="423" r:id="rId76"/>
    <p:sldId id="424" r:id="rId77"/>
    <p:sldId id="425" r:id="rId78"/>
    <p:sldId id="426" r:id="rId79"/>
    <p:sldId id="427" r:id="rId80"/>
    <p:sldId id="428" r:id="rId81"/>
    <p:sldId id="429" r:id="rId82"/>
    <p:sldId id="430" r:id="rId83"/>
    <p:sldId id="431" r:id="rId84"/>
    <p:sldId id="432" r:id="rId85"/>
    <p:sldId id="433" r:id="rId86"/>
    <p:sldId id="369" r:id="rId87"/>
    <p:sldId id="434" r:id="rId88"/>
    <p:sldId id="435" r:id="rId89"/>
    <p:sldId id="436" r:id="rId90"/>
    <p:sldId id="437" r:id="rId91"/>
    <p:sldId id="438" r:id="rId92"/>
    <p:sldId id="439" r:id="rId93"/>
    <p:sldId id="440" r:id="rId94"/>
    <p:sldId id="441" r:id="rId95"/>
    <p:sldId id="442" r:id="rId96"/>
    <p:sldId id="443" r:id="rId97"/>
    <p:sldId id="444" r:id="rId98"/>
    <p:sldId id="445" r:id="rId99"/>
    <p:sldId id="370" r:id="rId100"/>
    <p:sldId id="446" r:id="rId101"/>
    <p:sldId id="448" r:id="rId102"/>
    <p:sldId id="450" r:id="rId103"/>
    <p:sldId id="449" r:id="rId104"/>
    <p:sldId id="451" r:id="rId105"/>
    <p:sldId id="452" r:id="rId106"/>
    <p:sldId id="453" r:id="rId107"/>
    <p:sldId id="454" r:id="rId108"/>
    <p:sldId id="455" r:id="rId109"/>
    <p:sldId id="456" r:id="rId110"/>
    <p:sldId id="457" r:id="rId111"/>
    <p:sldId id="458" r:id="rId112"/>
    <p:sldId id="459" r:id="rId113"/>
    <p:sldId id="460" r:id="rId114"/>
    <p:sldId id="461" r:id="rId115"/>
    <p:sldId id="462" r:id="rId116"/>
    <p:sldId id="463" r:id="rId117"/>
    <p:sldId id="464" r:id="rId118"/>
    <p:sldId id="465" r:id="rId119"/>
    <p:sldId id="466" r:id="rId120"/>
    <p:sldId id="467" r:id="rId121"/>
    <p:sldId id="468" r:id="rId122"/>
    <p:sldId id="469" r:id="rId123"/>
    <p:sldId id="470" r:id="rId124"/>
    <p:sldId id="471" r:id="rId125"/>
    <p:sldId id="472" r:id="rId126"/>
    <p:sldId id="473" r:id="rId127"/>
    <p:sldId id="474" r:id="rId128"/>
    <p:sldId id="475" r:id="rId129"/>
    <p:sldId id="476" r:id="rId130"/>
    <p:sldId id="477" r:id="rId131"/>
    <p:sldId id="478" r:id="rId132"/>
    <p:sldId id="479" r:id="rId133"/>
    <p:sldId id="480" r:id="rId134"/>
    <p:sldId id="371" r:id="rId135"/>
    <p:sldId id="481" r:id="rId136"/>
    <p:sldId id="482" r:id="rId137"/>
    <p:sldId id="483" r:id="rId138"/>
    <p:sldId id="484" r:id="rId139"/>
    <p:sldId id="485" r:id="rId140"/>
    <p:sldId id="486" r:id="rId141"/>
    <p:sldId id="487" r:id="rId142"/>
    <p:sldId id="488" r:id="rId143"/>
    <p:sldId id="489" r:id="rId144"/>
    <p:sldId id="490" r:id="rId145"/>
    <p:sldId id="491" r:id="rId146"/>
    <p:sldId id="493" r:id="rId147"/>
    <p:sldId id="494" r:id="rId148"/>
    <p:sldId id="495" r:id="rId149"/>
    <p:sldId id="496" r:id="rId150"/>
    <p:sldId id="497" r:id="rId151"/>
    <p:sldId id="499" r:id="rId152"/>
    <p:sldId id="501" r:id="rId153"/>
    <p:sldId id="502" r:id="rId154"/>
    <p:sldId id="503" r:id="rId155"/>
    <p:sldId id="504" r:id="rId156"/>
    <p:sldId id="505" r:id="rId157"/>
    <p:sldId id="506" r:id="rId158"/>
    <p:sldId id="508" r:id="rId159"/>
    <p:sldId id="509" r:id="rId160"/>
    <p:sldId id="510" r:id="rId161"/>
    <p:sldId id="511" r:id="rId162"/>
    <p:sldId id="512" r:id="rId163"/>
    <p:sldId id="514" r:id="rId164"/>
    <p:sldId id="515" r:id="rId165"/>
    <p:sldId id="516" r:id="rId166"/>
    <p:sldId id="517" r:id="rId167"/>
    <p:sldId id="518" r:id="rId168"/>
    <p:sldId id="519" r:id="rId169"/>
    <p:sldId id="520" r:id="rId170"/>
    <p:sldId id="521" r:id="rId171"/>
    <p:sldId id="283" r:id="rId172"/>
    <p:sldId id="337" r:id="rId173"/>
    <p:sldId id="338" r:id="rId174"/>
    <p:sldId id="340" r:id="rId175"/>
    <p:sldId id="342" r:id="rId176"/>
    <p:sldId id="343" r:id="rId177"/>
    <p:sldId id="344" r:id="rId178"/>
    <p:sldId id="345" r:id="rId179"/>
    <p:sldId id="346" r:id="rId180"/>
    <p:sldId id="347" r:id="rId181"/>
    <p:sldId id="279" r:id="rId182"/>
    <p:sldId id="349" r:id="rId183"/>
    <p:sldId id="350" r:id="rId184"/>
    <p:sldId id="351" r:id="rId185"/>
    <p:sldId id="352" r:id="rId186"/>
    <p:sldId id="353" r:id="rId187"/>
    <p:sldId id="354" r:id="rId188"/>
    <p:sldId id="355" r:id="rId189"/>
    <p:sldId id="356" r:id="rId190"/>
    <p:sldId id="365" r:id="rId191"/>
    <p:sldId id="357" r:id="rId192"/>
    <p:sldId id="358" r:id="rId193"/>
    <p:sldId id="359" r:id="rId194"/>
    <p:sldId id="360" r:id="rId195"/>
    <p:sldId id="361" r:id="rId196"/>
    <p:sldId id="362" r:id="rId197"/>
    <p:sldId id="363" r:id="rId198"/>
    <p:sldId id="364" r:id="rId199"/>
    <p:sldId id="334" r:id="rId200"/>
    <p:sldId id="335" r:id="rId20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1611E83-CAB5-4638-8F71-23D0EE323A23}" v="2" dt="2026-10-16T14:31:28.80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2851" autoAdjust="0"/>
  </p:normalViewPr>
  <p:slideViewPr>
    <p:cSldViewPr snapToGrid="0">
      <p:cViewPr varScale="1">
        <p:scale>
          <a:sx n="106" d="100"/>
          <a:sy n="106" d="100"/>
        </p:scale>
        <p:origin x="744" y="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slide" Target="slides/slide158.xml"/><Relationship Id="rId170" Type="http://schemas.openxmlformats.org/officeDocument/2006/relationships/slide" Target="slides/slide169.xml"/><Relationship Id="rId191" Type="http://schemas.openxmlformats.org/officeDocument/2006/relationships/slide" Target="slides/slide190.xml"/><Relationship Id="rId205" Type="http://schemas.openxmlformats.org/officeDocument/2006/relationships/theme" Target="theme/theme1.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181" Type="http://schemas.openxmlformats.org/officeDocument/2006/relationships/slide" Target="slides/slide180.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92" Type="http://schemas.openxmlformats.org/officeDocument/2006/relationships/slide" Target="slides/slide191.xml"/><Relationship Id="rId206" Type="http://schemas.openxmlformats.org/officeDocument/2006/relationships/tableStyles" Target="tableStyles.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slide" Target="slides/slide181.xml"/><Relationship Id="rId6" Type="http://schemas.openxmlformats.org/officeDocument/2006/relationships/slide" Target="slides/slide5.xml"/><Relationship Id="rId23" Type="http://schemas.openxmlformats.org/officeDocument/2006/relationships/slide" Target="slides/slide22.xml"/><Relationship Id="rId119" Type="http://schemas.openxmlformats.org/officeDocument/2006/relationships/slide" Target="slides/slide118.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93" Type="http://schemas.openxmlformats.org/officeDocument/2006/relationships/slide" Target="slides/slide192.xml"/><Relationship Id="rId207" Type="http://schemas.microsoft.com/office/2015/10/relationships/revisionInfo" Target="revisionInfo.xml"/><Relationship Id="rId13" Type="http://schemas.openxmlformats.org/officeDocument/2006/relationships/slide" Target="slides/slide12.xml"/><Relationship Id="rId109" Type="http://schemas.openxmlformats.org/officeDocument/2006/relationships/slide" Target="slides/slide108.xml"/><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162" Type="http://schemas.openxmlformats.org/officeDocument/2006/relationships/slide" Target="slides/slide161.xml"/><Relationship Id="rId183" Type="http://schemas.openxmlformats.org/officeDocument/2006/relationships/slide" Target="slides/slide182.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199" Type="http://schemas.openxmlformats.org/officeDocument/2006/relationships/slide" Target="slides/slide198.xml"/><Relationship Id="rId203" Type="http://schemas.openxmlformats.org/officeDocument/2006/relationships/presProps" Target="presProps.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189" Type="http://schemas.openxmlformats.org/officeDocument/2006/relationships/slide" Target="slides/slide188.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79" Type="http://schemas.openxmlformats.org/officeDocument/2006/relationships/slide" Target="slides/slide178.xml"/><Relationship Id="rId195" Type="http://schemas.openxmlformats.org/officeDocument/2006/relationships/slide" Target="slides/slide194.xml"/><Relationship Id="rId190" Type="http://schemas.openxmlformats.org/officeDocument/2006/relationships/slide" Target="slides/slide189.xml"/><Relationship Id="rId204" Type="http://schemas.openxmlformats.org/officeDocument/2006/relationships/viewProps" Target="viewProps.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164" Type="http://schemas.openxmlformats.org/officeDocument/2006/relationships/slide" Target="slides/slide163.xml"/><Relationship Id="rId169" Type="http://schemas.openxmlformats.org/officeDocument/2006/relationships/slide" Target="slides/slide168.xml"/><Relationship Id="rId185" Type="http://schemas.openxmlformats.org/officeDocument/2006/relationships/slide" Target="slides/slide184.xml"/><Relationship Id="rId4" Type="http://schemas.openxmlformats.org/officeDocument/2006/relationships/slide" Target="slides/slide3.xml"/><Relationship Id="rId9" Type="http://schemas.openxmlformats.org/officeDocument/2006/relationships/slide" Target="slides/slide8.xml"/><Relationship Id="rId180" Type="http://schemas.openxmlformats.org/officeDocument/2006/relationships/slide" Target="slides/slide179.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201" Type="http://schemas.openxmlformats.org/officeDocument/2006/relationships/slide" Target="slides/slide200.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202" Type="http://schemas.openxmlformats.org/officeDocument/2006/relationships/notesMaster" Target="notesMasters/notesMaster1.xml"/><Relationship Id="rId18" Type="http://schemas.openxmlformats.org/officeDocument/2006/relationships/slide" Target="slides/slide17.xml"/><Relationship Id="rId39" Type="http://schemas.openxmlformats.org/officeDocument/2006/relationships/slide" Target="slides/slide38.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s>
</file>

<file path=ppt/diagrams/colors1.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09538BC-3D7F-475A-9327-0A5A58C8F801}" type="doc">
      <dgm:prSet loTypeId="urn:microsoft.com/office/officeart/2005/8/layout/default" loCatId="list" qsTypeId="urn:microsoft.com/office/officeart/2005/8/quickstyle/simple1" qsCatId="simple" csTypeId="urn:microsoft.com/office/officeart/2005/8/colors/colorful5" csCatId="colorful"/>
      <dgm:spPr/>
      <dgm:t>
        <a:bodyPr/>
        <a:lstStyle/>
        <a:p>
          <a:endParaRPr lang="en-US"/>
        </a:p>
      </dgm:t>
    </dgm:pt>
    <dgm:pt modelId="{DCD0C712-7092-4F2C-AD9B-8C9F2EF56AAA}">
      <dgm:prSet/>
      <dgm:spPr/>
      <dgm:t>
        <a:bodyPr/>
        <a:lstStyle/>
        <a:p>
          <a:r>
            <a:rPr lang="en-US"/>
            <a:t>Build Security</a:t>
          </a:r>
        </a:p>
      </dgm:t>
    </dgm:pt>
    <dgm:pt modelId="{D667C268-9982-4898-B0DD-E7C19A75EB13}" type="parTrans" cxnId="{93354030-3846-4ED7-B638-7A0D10E6A179}">
      <dgm:prSet/>
      <dgm:spPr/>
      <dgm:t>
        <a:bodyPr/>
        <a:lstStyle/>
        <a:p>
          <a:endParaRPr lang="en-US"/>
        </a:p>
      </dgm:t>
    </dgm:pt>
    <dgm:pt modelId="{2DB59A5E-626A-44EB-874E-F4ECED64B502}" type="sibTrans" cxnId="{93354030-3846-4ED7-B638-7A0D10E6A179}">
      <dgm:prSet/>
      <dgm:spPr/>
      <dgm:t>
        <a:bodyPr/>
        <a:lstStyle/>
        <a:p>
          <a:endParaRPr lang="en-US"/>
        </a:p>
      </dgm:t>
    </dgm:pt>
    <dgm:pt modelId="{15E18632-4450-4EFA-861E-C19F503B9F6C}">
      <dgm:prSet/>
      <dgm:spPr/>
      <dgm:t>
        <a:bodyPr/>
        <a:lstStyle/>
        <a:p>
          <a:r>
            <a:rPr lang="en-US"/>
            <a:t>Registry Security</a:t>
          </a:r>
        </a:p>
      </dgm:t>
    </dgm:pt>
    <dgm:pt modelId="{0D11444F-333F-4841-BD5B-D1C8E183C5A7}" type="parTrans" cxnId="{2B1BDEEC-D44E-4C31-BC87-BF563B57D88D}">
      <dgm:prSet/>
      <dgm:spPr/>
      <dgm:t>
        <a:bodyPr/>
        <a:lstStyle/>
        <a:p>
          <a:endParaRPr lang="en-US"/>
        </a:p>
      </dgm:t>
    </dgm:pt>
    <dgm:pt modelId="{6B21F5B1-4F5E-4AEE-A81D-13B0DD1C08B1}" type="sibTrans" cxnId="{2B1BDEEC-D44E-4C31-BC87-BF563B57D88D}">
      <dgm:prSet/>
      <dgm:spPr/>
      <dgm:t>
        <a:bodyPr/>
        <a:lstStyle/>
        <a:p>
          <a:endParaRPr lang="en-US"/>
        </a:p>
      </dgm:t>
    </dgm:pt>
    <dgm:pt modelId="{B4A33C6A-5F16-4DAE-AD56-962C3541E3DB}">
      <dgm:prSet/>
      <dgm:spPr/>
      <dgm:t>
        <a:bodyPr/>
        <a:lstStyle/>
        <a:p>
          <a:r>
            <a:rPr lang="en-US"/>
            <a:t>Cluster security</a:t>
          </a:r>
        </a:p>
      </dgm:t>
    </dgm:pt>
    <dgm:pt modelId="{C3675199-952F-4A92-9152-9449E247CDAA}" type="parTrans" cxnId="{58669AB1-F081-404E-A664-EF57DAA86C3C}">
      <dgm:prSet/>
      <dgm:spPr/>
      <dgm:t>
        <a:bodyPr/>
        <a:lstStyle/>
        <a:p>
          <a:endParaRPr lang="en-US"/>
        </a:p>
      </dgm:t>
    </dgm:pt>
    <dgm:pt modelId="{0C1B8B7F-FEB4-46D1-835A-AF0CF93B654C}" type="sibTrans" cxnId="{58669AB1-F081-404E-A664-EF57DAA86C3C}">
      <dgm:prSet/>
      <dgm:spPr/>
      <dgm:t>
        <a:bodyPr/>
        <a:lstStyle/>
        <a:p>
          <a:endParaRPr lang="en-US"/>
        </a:p>
      </dgm:t>
    </dgm:pt>
    <dgm:pt modelId="{B058E153-2B7F-45C8-A194-7D5B84864E49}">
      <dgm:prSet/>
      <dgm:spPr/>
      <dgm:t>
        <a:bodyPr/>
        <a:lstStyle/>
        <a:p>
          <a:r>
            <a:rPr lang="en-US"/>
            <a:t>Node security</a:t>
          </a:r>
        </a:p>
      </dgm:t>
    </dgm:pt>
    <dgm:pt modelId="{E3898565-4CAD-4DCC-BCCF-025480BD47F0}" type="parTrans" cxnId="{4E32D540-6723-43B2-AD00-7CEF90CC7E42}">
      <dgm:prSet/>
      <dgm:spPr/>
      <dgm:t>
        <a:bodyPr/>
        <a:lstStyle/>
        <a:p>
          <a:endParaRPr lang="en-US"/>
        </a:p>
      </dgm:t>
    </dgm:pt>
    <dgm:pt modelId="{894D2F82-6099-40FC-A9AF-74FE9FFB18D6}" type="sibTrans" cxnId="{4E32D540-6723-43B2-AD00-7CEF90CC7E42}">
      <dgm:prSet/>
      <dgm:spPr/>
      <dgm:t>
        <a:bodyPr/>
        <a:lstStyle/>
        <a:p>
          <a:endParaRPr lang="en-US"/>
        </a:p>
      </dgm:t>
    </dgm:pt>
    <dgm:pt modelId="{A6B7493C-5EF9-4FBE-BE9C-7584F23E2383}">
      <dgm:prSet/>
      <dgm:spPr/>
      <dgm:t>
        <a:bodyPr/>
        <a:lstStyle/>
        <a:p>
          <a:r>
            <a:rPr lang="en-US"/>
            <a:t>Network security</a:t>
          </a:r>
        </a:p>
      </dgm:t>
    </dgm:pt>
    <dgm:pt modelId="{B949DAB8-75F0-493D-868F-AA0E64D54606}" type="parTrans" cxnId="{B04177C6-4E9E-49D6-AB0C-9B4F47C716E8}">
      <dgm:prSet/>
      <dgm:spPr/>
      <dgm:t>
        <a:bodyPr/>
        <a:lstStyle/>
        <a:p>
          <a:endParaRPr lang="en-US"/>
        </a:p>
      </dgm:t>
    </dgm:pt>
    <dgm:pt modelId="{63D413E9-5C69-4E07-806B-F03FBDA89991}" type="sibTrans" cxnId="{B04177C6-4E9E-49D6-AB0C-9B4F47C716E8}">
      <dgm:prSet/>
      <dgm:spPr/>
      <dgm:t>
        <a:bodyPr/>
        <a:lstStyle/>
        <a:p>
          <a:endParaRPr lang="en-US"/>
        </a:p>
      </dgm:t>
    </dgm:pt>
    <dgm:pt modelId="{E24A15EA-5EF4-4A9E-BCC1-7E6BAA70C2A2}">
      <dgm:prSet/>
      <dgm:spPr/>
      <dgm:t>
        <a:bodyPr/>
        <a:lstStyle/>
        <a:p>
          <a:r>
            <a:rPr lang="en-US"/>
            <a:t>Application Security</a:t>
          </a:r>
        </a:p>
      </dgm:t>
    </dgm:pt>
    <dgm:pt modelId="{8C7FA2BF-F8C7-4D4B-B55B-7E15E37BD209}" type="parTrans" cxnId="{DD0BA80B-899A-4DD8-95B5-13D098AE20F6}">
      <dgm:prSet/>
      <dgm:spPr/>
      <dgm:t>
        <a:bodyPr/>
        <a:lstStyle/>
        <a:p>
          <a:endParaRPr lang="en-US"/>
        </a:p>
      </dgm:t>
    </dgm:pt>
    <dgm:pt modelId="{22750F0A-6BFB-4E9C-B875-AA0895C78317}" type="sibTrans" cxnId="{DD0BA80B-899A-4DD8-95B5-13D098AE20F6}">
      <dgm:prSet/>
      <dgm:spPr/>
      <dgm:t>
        <a:bodyPr/>
        <a:lstStyle/>
        <a:p>
          <a:endParaRPr lang="en-US"/>
        </a:p>
      </dgm:t>
    </dgm:pt>
    <dgm:pt modelId="{C29D4894-BEB1-48C5-8304-AA4298F9490C}" type="pres">
      <dgm:prSet presAssocID="{A09538BC-3D7F-475A-9327-0A5A58C8F801}" presName="diagram" presStyleCnt="0">
        <dgm:presLayoutVars>
          <dgm:dir/>
          <dgm:resizeHandles val="exact"/>
        </dgm:presLayoutVars>
      </dgm:prSet>
      <dgm:spPr/>
    </dgm:pt>
    <dgm:pt modelId="{FA3CCA96-5F37-46CE-AACC-9713E68C9C56}" type="pres">
      <dgm:prSet presAssocID="{DCD0C712-7092-4F2C-AD9B-8C9F2EF56AAA}" presName="node" presStyleLbl="node1" presStyleIdx="0" presStyleCnt="6">
        <dgm:presLayoutVars>
          <dgm:bulletEnabled val="1"/>
        </dgm:presLayoutVars>
      </dgm:prSet>
      <dgm:spPr/>
    </dgm:pt>
    <dgm:pt modelId="{81FA2A00-901A-4CED-A8E2-862BD457087B}" type="pres">
      <dgm:prSet presAssocID="{2DB59A5E-626A-44EB-874E-F4ECED64B502}" presName="sibTrans" presStyleCnt="0"/>
      <dgm:spPr/>
    </dgm:pt>
    <dgm:pt modelId="{25894AB8-46EE-417C-A85F-CED486B95897}" type="pres">
      <dgm:prSet presAssocID="{15E18632-4450-4EFA-861E-C19F503B9F6C}" presName="node" presStyleLbl="node1" presStyleIdx="1" presStyleCnt="6">
        <dgm:presLayoutVars>
          <dgm:bulletEnabled val="1"/>
        </dgm:presLayoutVars>
      </dgm:prSet>
      <dgm:spPr/>
    </dgm:pt>
    <dgm:pt modelId="{A1EA46C7-1AE5-4260-A9AD-B8C23E625926}" type="pres">
      <dgm:prSet presAssocID="{6B21F5B1-4F5E-4AEE-A81D-13B0DD1C08B1}" presName="sibTrans" presStyleCnt="0"/>
      <dgm:spPr/>
    </dgm:pt>
    <dgm:pt modelId="{27BF921C-70EB-425B-88B6-C4996B67E771}" type="pres">
      <dgm:prSet presAssocID="{B4A33C6A-5F16-4DAE-AD56-962C3541E3DB}" presName="node" presStyleLbl="node1" presStyleIdx="2" presStyleCnt="6">
        <dgm:presLayoutVars>
          <dgm:bulletEnabled val="1"/>
        </dgm:presLayoutVars>
      </dgm:prSet>
      <dgm:spPr/>
    </dgm:pt>
    <dgm:pt modelId="{1FBCF5F9-E838-4470-941D-48AD093B2CBE}" type="pres">
      <dgm:prSet presAssocID="{0C1B8B7F-FEB4-46D1-835A-AF0CF93B654C}" presName="sibTrans" presStyleCnt="0"/>
      <dgm:spPr/>
    </dgm:pt>
    <dgm:pt modelId="{619A8216-1810-43F4-9C3F-C9BA53F0C472}" type="pres">
      <dgm:prSet presAssocID="{B058E153-2B7F-45C8-A194-7D5B84864E49}" presName="node" presStyleLbl="node1" presStyleIdx="3" presStyleCnt="6">
        <dgm:presLayoutVars>
          <dgm:bulletEnabled val="1"/>
        </dgm:presLayoutVars>
      </dgm:prSet>
      <dgm:spPr/>
    </dgm:pt>
    <dgm:pt modelId="{1B5EE9E2-E999-4914-BEFD-7553DF5AD874}" type="pres">
      <dgm:prSet presAssocID="{894D2F82-6099-40FC-A9AF-74FE9FFB18D6}" presName="sibTrans" presStyleCnt="0"/>
      <dgm:spPr/>
    </dgm:pt>
    <dgm:pt modelId="{C48539CD-F23E-488E-AD2C-14DEBC35AF96}" type="pres">
      <dgm:prSet presAssocID="{A6B7493C-5EF9-4FBE-BE9C-7584F23E2383}" presName="node" presStyleLbl="node1" presStyleIdx="4" presStyleCnt="6">
        <dgm:presLayoutVars>
          <dgm:bulletEnabled val="1"/>
        </dgm:presLayoutVars>
      </dgm:prSet>
      <dgm:spPr/>
    </dgm:pt>
    <dgm:pt modelId="{105CBE9B-65D5-4FC3-BE57-8D83D9D1137C}" type="pres">
      <dgm:prSet presAssocID="{63D413E9-5C69-4E07-806B-F03FBDA89991}" presName="sibTrans" presStyleCnt="0"/>
      <dgm:spPr/>
    </dgm:pt>
    <dgm:pt modelId="{EA8E32A5-6A27-479B-BA01-99991E2427B2}" type="pres">
      <dgm:prSet presAssocID="{E24A15EA-5EF4-4A9E-BCC1-7E6BAA70C2A2}" presName="node" presStyleLbl="node1" presStyleIdx="5" presStyleCnt="6">
        <dgm:presLayoutVars>
          <dgm:bulletEnabled val="1"/>
        </dgm:presLayoutVars>
      </dgm:prSet>
      <dgm:spPr/>
    </dgm:pt>
  </dgm:ptLst>
  <dgm:cxnLst>
    <dgm:cxn modelId="{8981AF04-E289-4E96-95DD-201280BAB670}" type="presOf" srcId="{B4A33C6A-5F16-4DAE-AD56-962C3541E3DB}" destId="{27BF921C-70EB-425B-88B6-C4996B67E771}" srcOrd="0" destOrd="0" presId="urn:microsoft.com/office/officeart/2005/8/layout/default"/>
    <dgm:cxn modelId="{DD0BA80B-899A-4DD8-95B5-13D098AE20F6}" srcId="{A09538BC-3D7F-475A-9327-0A5A58C8F801}" destId="{E24A15EA-5EF4-4A9E-BCC1-7E6BAA70C2A2}" srcOrd="5" destOrd="0" parTransId="{8C7FA2BF-F8C7-4D4B-B55B-7E15E37BD209}" sibTransId="{22750F0A-6BFB-4E9C-B875-AA0895C78317}"/>
    <dgm:cxn modelId="{7AE94228-5673-48CF-8A26-4CF5272EF3EA}" type="presOf" srcId="{A6B7493C-5EF9-4FBE-BE9C-7584F23E2383}" destId="{C48539CD-F23E-488E-AD2C-14DEBC35AF96}" srcOrd="0" destOrd="0" presId="urn:microsoft.com/office/officeart/2005/8/layout/default"/>
    <dgm:cxn modelId="{93354030-3846-4ED7-B638-7A0D10E6A179}" srcId="{A09538BC-3D7F-475A-9327-0A5A58C8F801}" destId="{DCD0C712-7092-4F2C-AD9B-8C9F2EF56AAA}" srcOrd="0" destOrd="0" parTransId="{D667C268-9982-4898-B0DD-E7C19A75EB13}" sibTransId="{2DB59A5E-626A-44EB-874E-F4ECED64B502}"/>
    <dgm:cxn modelId="{4E32D540-6723-43B2-AD00-7CEF90CC7E42}" srcId="{A09538BC-3D7F-475A-9327-0A5A58C8F801}" destId="{B058E153-2B7F-45C8-A194-7D5B84864E49}" srcOrd="3" destOrd="0" parTransId="{E3898565-4CAD-4DCC-BCCF-025480BD47F0}" sibTransId="{894D2F82-6099-40FC-A9AF-74FE9FFB18D6}"/>
    <dgm:cxn modelId="{33080A41-CA1C-4E79-9116-D6889555C9CB}" type="presOf" srcId="{B058E153-2B7F-45C8-A194-7D5B84864E49}" destId="{619A8216-1810-43F4-9C3F-C9BA53F0C472}" srcOrd="0" destOrd="0" presId="urn:microsoft.com/office/officeart/2005/8/layout/default"/>
    <dgm:cxn modelId="{D9D29142-3F6E-46FA-9F0E-329DB6BD58A3}" type="presOf" srcId="{15E18632-4450-4EFA-861E-C19F503B9F6C}" destId="{25894AB8-46EE-417C-A85F-CED486B95897}" srcOrd="0" destOrd="0" presId="urn:microsoft.com/office/officeart/2005/8/layout/default"/>
    <dgm:cxn modelId="{6279194B-8438-45DA-8691-2D2F432C2353}" type="presOf" srcId="{A09538BC-3D7F-475A-9327-0A5A58C8F801}" destId="{C29D4894-BEB1-48C5-8304-AA4298F9490C}" srcOrd="0" destOrd="0" presId="urn:microsoft.com/office/officeart/2005/8/layout/default"/>
    <dgm:cxn modelId="{133830A3-BCD8-4457-A1F3-D0ED50609E3C}" type="presOf" srcId="{DCD0C712-7092-4F2C-AD9B-8C9F2EF56AAA}" destId="{FA3CCA96-5F37-46CE-AACC-9713E68C9C56}" srcOrd="0" destOrd="0" presId="urn:microsoft.com/office/officeart/2005/8/layout/default"/>
    <dgm:cxn modelId="{90159EAA-55FB-4C44-87D8-9717E97F8531}" type="presOf" srcId="{E24A15EA-5EF4-4A9E-BCC1-7E6BAA70C2A2}" destId="{EA8E32A5-6A27-479B-BA01-99991E2427B2}" srcOrd="0" destOrd="0" presId="urn:microsoft.com/office/officeart/2005/8/layout/default"/>
    <dgm:cxn modelId="{58669AB1-F081-404E-A664-EF57DAA86C3C}" srcId="{A09538BC-3D7F-475A-9327-0A5A58C8F801}" destId="{B4A33C6A-5F16-4DAE-AD56-962C3541E3DB}" srcOrd="2" destOrd="0" parTransId="{C3675199-952F-4A92-9152-9449E247CDAA}" sibTransId="{0C1B8B7F-FEB4-46D1-835A-AF0CF93B654C}"/>
    <dgm:cxn modelId="{B04177C6-4E9E-49D6-AB0C-9B4F47C716E8}" srcId="{A09538BC-3D7F-475A-9327-0A5A58C8F801}" destId="{A6B7493C-5EF9-4FBE-BE9C-7584F23E2383}" srcOrd="4" destOrd="0" parTransId="{B949DAB8-75F0-493D-868F-AA0E64D54606}" sibTransId="{63D413E9-5C69-4E07-806B-F03FBDA89991}"/>
    <dgm:cxn modelId="{2B1BDEEC-D44E-4C31-BC87-BF563B57D88D}" srcId="{A09538BC-3D7F-475A-9327-0A5A58C8F801}" destId="{15E18632-4450-4EFA-861E-C19F503B9F6C}" srcOrd="1" destOrd="0" parTransId="{0D11444F-333F-4841-BD5B-D1C8E183C5A7}" sibTransId="{6B21F5B1-4F5E-4AEE-A81D-13B0DD1C08B1}"/>
    <dgm:cxn modelId="{18B4173E-348F-46D4-B69A-BFBFFFDD58A1}" type="presParOf" srcId="{C29D4894-BEB1-48C5-8304-AA4298F9490C}" destId="{FA3CCA96-5F37-46CE-AACC-9713E68C9C56}" srcOrd="0" destOrd="0" presId="urn:microsoft.com/office/officeart/2005/8/layout/default"/>
    <dgm:cxn modelId="{35EA1C3B-A48B-442D-80CD-0AA71B519A18}" type="presParOf" srcId="{C29D4894-BEB1-48C5-8304-AA4298F9490C}" destId="{81FA2A00-901A-4CED-A8E2-862BD457087B}" srcOrd="1" destOrd="0" presId="urn:microsoft.com/office/officeart/2005/8/layout/default"/>
    <dgm:cxn modelId="{62FC5DED-BD2A-47A0-879F-934CDF9274E0}" type="presParOf" srcId="{C29D4894-BEB1-48C5-8304-AA4298F9490C}" destId="{25894AB8-46EE-417C-A85F-CED486B95897}" srcOrd="2" destOrd="0" presId="urn:microsoft.com/office/officeart/2005/8/layout/default"/>
    <dgm:cxn modelId="{48F4E5F6-0299-4CBB-BB9C-469C0D990765}" type="presParOf" srcId="{C29D4894-BEB1-48C5-8304-AA4298F9490C}" destId="{A1EA46C7-1AE5-4260-A9AD-B8C23E625926}" srcOrd="3" destOrd="0" presId="urn:microsoft.com/office/officeart/2005/8/layout/default"/>
    <dgm:cxn modelId="{CF242B81-2025-4A6D-97EC-E6F2D4818F66}" type="presParOf" srcId="{C29D4894-BEB1-48C5-8304-AA4298F9490C}" destId="{27BF921C-70EB-425B-88B6-C4996B67E771}" srcOrd="4" destOrd="0" presId="urn:microsoft.com/office/officeart/2005/8/layout/default"/>
    <dgm:cxn modelId="{C95EF922-763D-4EA2-A3D0-E6E891609014}" type="presParOf" srcId="{C29D4894-BEB1-48C5-8304-AA4298F9490C}" destId="{1FBCF5F9-E838-4470-941D-48AD093B2CBE}" srcOrd="5" destOrd="0" presId="urn:microsoft.com/office/officeart/2005/8/layout/default"/>
    <dgm:cxn modelId="{F429F7AD-9C90-40DD-AD1A-14D35E47C3EB}" type="presParOf" srcId="{C29D4894-BEB1-48C5-8304-AA4298F9490C}" destId="{619A8216-1810-43F4-9C3F-C9BA53F0C472}" srcOrd="6" destOrd="0" presId="urn:microsoft.com/office/officeart/2005/8/layout/default"/>
    <dgm:cxn modelId="{E1D1E7F5-F26B-4F94-AD07-AB96AF116B06}" type="presParOf" srcId="{C29D4894-BEB1-48C5-8304-AA4298F9490C}" destId="{1B5EE9E2-E999-4914-BEFD-7553DF5AD874}" srcOrd="7" destOrd="0" presId="urn:microsoft.com/office/officeart/2005/8/layout/default"/>
    <dgm:cxn modelId="{A9C9AD1E-AFE6-46EE-88DB-F9E960BA71C6}" type="presParOf" srcId="{C29D4894-BEB1-48C5-8304-AA4298F9490C}" destId="{C48539CD-F23E-488E-AD2C-14DEBC35AF96}" srcOrd="8" destOrd="0" presId="urn:microsoft.com/office/officeart/2005/8/layout/default"/>
    <dgm:cxn modelId="{643E2C32-BEDD-4DBB-AAE5-34C43CA534A1}" type="presParOf" srcId="{C29D4894-BEB1-48C5-8304-AA4298F9490C}" destId="{105CBE9B-65D5-4FC3-BE57-8D83D9D1137C}" srcOrd="9" destOrd="0" presId="urn:microsoft.com/office/officeart/2005/8/layout/default"/>
    <dgm:cxn modelId="{90ECE4D1-42CA-4118-95CB-BDC1B03B3926}" type="presParOf" srcId="{C29D4894-BEB1-48C5-8304-AA4298F9490C}" destId="{EA8E32A5-6A27-479B-BA01-99991E2427B2}" srcOrd="10" destOrd="0" presId="urn:microsoft.com/office/officeart/2005/8/layout/defaul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9C876546-6EB1-4ADC-A43A-1C029F3AB792}" type="doc">
      <dgm:prSet loTypeId="urn:microsoft.com/office/officeart/2005/8/layout/vList2" loCatId="list" qsTypeId="urn:microsoft.com/office/officeart/2005/8/quickstyle/simple1" qsCatId="simple" csTypeId="urn:microsoft.com/office/officeart/2005/8/colors/colorful2" csCatId="colorful"/>
      <dgm:spPr/>
      <dgm:t>
        <a:bodyPr/>
        <a:lstStyle/>
        <a:p>
          <a:endParaRPr lang="en-US"/>
        </a:p>
      </dgm:t>
    </dgm:pt>
    <dgm:pt modelId="{EB832BE2-B39D-4C7B-9CCC-85E70CAB7FFC}">
      <dgm:prSet/>
      <dgm:spPr/>
      <dgm:t>
        <a:bodyPr/>
        <a:lstStyle/>
        <a:p>
          <a:r>
            <a:rPr lang="en-US"/>
            <a:t>Security posture management </a:t>
          </a:r>
        </a:p>
      </dgm:t>
    </dgm:pt>
    <dgm:pt modelId="{F67908C1-D7C3-49A8-B541-F05B10E19692}" type="parTrans" cxnId="{EFC91865-F211-4F57-8ADA-7BAC543020D4}">
      <dgm:prSet/>
      <dgm:spPr/>
      <dgm:t>
        <a:bodyPr/>
        <a:lstStyle/>
        <a:p>
          <a:endParaRPr lang="en-US"/>
        </a:p>
      </dgm:t>
    </dgm:pt>
    <dgm:pt modelId="{CA2186E0-304C-4DEF-B18C-E2B94F7DBFDA}" type="sibTrans" cxnId="{EFC91865-F211-4F57-8ADA-7BAC543020D4}">
      <dgm:prSet/>
      <dgm:spPr/>
      <dgm:t>
        <a:bodyPr/>
        <a:lstStyle/>
        <a:p>
          <a:endParaRPr lang="en-US"/>
        </a:p>
      </dgm:t>
    </dgm:pt>
    <dgm:pt modelId="{4F2584EF-6A9F-454D-BE33-5F4CF6C48038}">
      <dgm:prSet/>
      <dgm:spPr/>
      <dgm:t>
        <a:bodyPr/>
        <a:lstStyle/>
        <a:p>
          <a:r>
            <a:rPr lang="en-US"/>
            <a:t>Vulnerability assessment </a:t>
          </a:r>
        </a:p>
      </dgm:t>
    </dgm:pt>
    <dgm:pt modelId="{FA5C9E77-F7A1-4F06-AD7D-5BE227DF8807}" type="parTrans" cxnId="{DA333E23-65F8-446B-9178-3EB2A921CA01}">
      <dgm:prSet/>
      <dgm:spPr/>
      <dgm:t>
        <a:bodyPr/>
        <a:lstStyle/>
        <a:p>
          <a:endParaRPr lang="en-US"/>
        </a:p>
      </dgm:t>
    </dgm:pt>
    <dgm:pt modelId="{E25F0D55-4046-454A-9DAB-DB6891AB1352}" type="sibTrans" cxnId="{DA333E23-65F8-446B-9178-3EB2A921CA01}">
      <dgm:prSet/>
      <dgm:spPr/>
      <dgm:t>
        <a:bodyPr/>
        <a:lstStyle/>
        <a:p>
          <a:endParaRPr lang="en-US"/>
        </a:p>
      </dgm:t>
    </dgm:pt>
    <dgm:pt modelId="{EBFFE4E3-0DBC-430C-A214-03EF194F3590}">
      <dgm:prSet/>
      <dgm:spPr/>
      <dgm:t>
        <a:bodyPr/>
        <a:lstStyle/>
        <a:p>
          <a:r>
            <a:rPr lang="en-US"/>
            <a:t>Run-time threat protection</a:t>
          </a:r>
        </a:p>
      </dgm:t>
    </dgm:pt>
    <dgm:pt modelId="{222902B2-2CE2-4F36-BD88-79F0731340E3}" type="parTrans" cxnId="{6876A96E-A040-4221-96BA-1B7AED8DA72B}">
      <dgm:prSet/>
      <dgm:spPr/>
      <dgm:t>
        <a:bodyPr/>
        <a:lstStyle/>
        <a:p>
          <a:endParaRPr lang="en-US"/>
        </a:p>
      </dgm:t>
    </dgm:pt>
    <dgm:pt modelId="{C688FF85-B953-414C-807F-F082CFF41DAE}" type="sibTrans" cxnId="{6876A96E-A040-4221-96BA-1B7AED8DA72B}">
      <dgm:prSet/>
      <dgm:spPr/>
      <dgm:t>
        <a:bodyPr/>
        <a:lstStyle/>
        <a:p>
          <a:endParaRPr lang="en-US"/>
        </a:p>
      </dgm:t>
    </dgm:pt>
    <dgm:pt modelId="{EB74CF38-AB8F-4A9A-BFEA-CF2B32AD9BB2}">
      <dgm:prSet/>
      <dgm:spPr/>
      <dgm:t>
        <a:bodyPr/>
        <a:lstStyle/>
        <a:p>
          <a:r>
            <a:rPr lang="en-US"/>
            <a:t>Containers software supply chain protection</a:t>
          </a:r>
        </a:p>
      </dgm:t>
    </dgm:pt>
    <dgm:pt modelId="{FCEB7896-6EB3-452D-859B-2BE947E8DB4F}" type="parTrans" cxnId="{B5505A0C-5573-44B2-8449-BFF6B12E8289}">
      <dgm:prSet/>
      <dgm:spPr/>
      <dgm:t>
        <a:bodyPr/>
        <a:lstStyle/>
        <a:p>
          <a:endParaRPr lang="en-US"/>
        </a:p>
      </dgm:t>
    </dgm:pt>
    <dgm:pt modelId="{C16E5056-0F44-49D0-AE1C-FC058782C790}" type="sibTrans" cxnId="{B5505A0C-5573-44B2-8449-BFF6B12E8289}">
      <dgm:prSet/>
      <dgm:spPr/>
      <dgm:t>
        <a:bodyPr/>
        <a:lstStyle/>
        <a:p>
          <a:endParaRPr lang="en-US"/>
        </a:p>
      </dgm:t>
    </dgm:pt>
    <dgm:pt modelId="{3CC17E67-7E69-4EFC-9521-181C424D3C35}">
      <dgm:prSet/>
      <dgm:spPr/>
      <dgm:t>
        <a:bodyPr/>
        <a:lstStyle/>
        <a:p>
          <a:r>
            <a:rPr lang="en-US"/>
            <a:t>Deployment &amp; monitoring</a:t>
          </a:r>
        </a:p>
      </dgm:t>
    </dgm:pt>
    <dgm:pt modelId="{E141BD12-A8D9-40DF-BA5B-A35C45DAE192}" type="parTrans" cxnId="{74CB0578-EF54-4C6E-8189-D2AF2E81D922}">
      <dgm:prSet/>
      <dgm:spPr/>
      <dgm:t>
        <a:bodyPr/>
        <a:lstStyle/>
        <a:p>
          <a:endParaRPr lang="en-US"/>
        </a:p>
      </dgm:t>
    </dgm:pt>
    <dgm:pt modelId="{CB41446E-BD58-467B-B83F-66DA079C8B37}" type="sibTrans" cxnId="{74CB0578-EF54-4C6E-8189-D2AF2E81D922}">
      <dgm:prSet/>
      <dgm:spPr/>
      <dgm:t>
        <a:bodyPr/>
        <a:lstStyle/>
        <a:p>
          <a:endParaRPr lang="en-US"/>
        </a:p>
      </dgm:t>
    </dgm:pt>
    <dgm:pt modelId="{BC19E73D-BA88-45BD-A669-25AA69287709}" type="pres">
      <dgm:prSet presAssocID="{9C876546-6EB1-4ADC-A43A-1C029F3AB792}" presName="linear" presStyleCnt="0">
        <dgm:presLayoutVars>
          <dgm:animLvl val="lvl"/>
          <dgm:resizeHandles val="exact"/>
        </dgm:presLayoutVars>
      </dgm:prSet>
      <dgm:spPr/>
    </dgm:pt>
    <dgm:pt modelId="{A528632B-AF98-438E-81B2-557BC2C05ADE}" type="pres">
      <dgm:prSet presAssocID="{EB832BE2-B39D-4C7B-9CCC-85E70CAB7FFC}" presName="parentText" presStyleLbl="node1" presStyleIdx="0" presStyleCnt="5">
        <dgm:presLayoutVars>
          <dgm:chMax val="0"/>
          <dgm:bulletEnabled val="1"/>
        </dgm:presLayoutVars>
      </dgm:prSet>
      <dgm:spPr/>
    </dgm:pt>
    <dgm:pt modelId="{50E2873F-2B6F-450F-8592-6CB798B166D9}" type="pres">
      <dgm:prSet presAssocID="{CA2186E0-304C-4DEF-B18C-E2B94F7DBFDA}" presName="spacer" presStyleCnt="0"/>
      <dgm:spPr/>
    </dgm:pt>
    <dgm:pt modelId="{1835D6A1-99A2-45C3-A36F-26DB94D755E0}" type="pres">
      <dgm:prSet presAssocID="{4F2584EF-6A9F-454D-BE33-5F4CF6C48038}" presName="parentText" presStyleLbl="node1" presStyleIdx="1" presStyleCnt="5">
        <dgm:presLayoutVars>
          <dgm:chMax val="0"/>
          <dgm:bulletEnabled val="1"/>
        </dgm:presLayoutVars>
      </dgm:prSet>
      <dgm:spPr/>
    </dgm:pt>
    <dgm:pt modelId="{E0FC2B12-F293-4146-B7AA-2A523F30E03B}" type="pres">
      <dgm:prSet presAssocID="{E25F0D55-4046-454A-9DAB-DB6891AB1352}" presName="spacer" presStyleCnt="0"/>
      <dgm:spPr/>
    </dgm:pt>
    <dgm:pt modelId="{B42DE1D1-83F3-43CD-8D53-FC3E0892F83A}" type="pres">
      <dgm:prSet presAssocID="{EBFFE4E3-0DBC-430C-A214-03EF194F3590}" presName="parentText" presStyleLbl="node1" presStyleIdx="2" presStyleCnt="5">
        <dgm:presLayoutVars>
          <dgm:chMax val="0"/>
          <dgm:bulletEnabled val="1"/>
        </dgm:presLayoutVars>
      </dgm:prSet>
      <dgm:spPr/>
    </dgm:pt>
    <dgm:pt modelId="{0F66419F-701B-4537-A570-5AC2B8C78F9A}" type="pres">
      <dgm:prSet presAssocID="{C688FF85-B953-414C-807F-F082CFF41DAE}" presName="spacer" presStyleCnt="0"/>
      <dgm:spPr/>
    </dgm:pt>
    <dgm:pt modelId="{46282C84-148B-4BDC-8D5C-458E5677D2D2}" type="pres">
      <dgm:prSet presAssocID="{EB74CF38-AB8F-4A9A-BFEA-CF2B32AD9BB2}" presName="parentText" presStyleLbl="node1" presStyleIdx="3" presStyleCnt="5">
        <dgm:presLayoutVars>
          <dgm:chMax val="0"/>
          <dgm:bulletEnabled val="1"/>
        </dgm:presLayoutVars>
      </dgm:prSet>
      <dgm:spPr/>
    </dgm:pt>
    <dgm:pt modelId="{468FA092-AA20-4A97-85E9-EA4F989A09E8}" type="pres">
      <dgm:prSet presAssocID="{C16E5056-0F44-49D0-AE1C-FC058782C790}" presName="spacer" presStyleCnt="0"/>
      <dgm:spPr/>
    </dgm:pt>
    <dgm:pt modelId="{9D08B39D-73E5-4794-BCF9-5C62C8135CCE}" type="pres">
      <dgm:prSet presAssocID="{3CC17E67-7E69-4EFC-9521-181C424D3C35}" presName="parentText" presStyleLbl="node1" presStyleIdx="4" presStyleCnt="5">
        <dgm:presLayoutVars>
          <dgm:chMax val="0"/>
          <dgm:bulletEnabled val="1"/>
        </dgm:presLayoutVars>
      </dgm:prSet>
      <dgm:spPr/>
    </dgm:pt>
  </dgm:ptLst>
  <dgm:cxnLst>
    <dgm:cxn modelId="{B5505A0C-5573-44B2-8449-BFF6B12E8289}" srcId="{9C876546-6EB1-4ADC-A43A-1C029F3AB792}" destId="{EB74CF38-AB8F-4A9A-BFEA-CF2B32AD9BB2}" srcOrd="3" destOrd="0" parTransId="{FCEB7896-6EB3-452D-859B-2BE947E8DB4F}" sibTransId="{C16E5056-0F44-49D0-AE1C-FC058782C790}"/>
    <dgm:cxn modelId="{DA333E23-65F8-446B-9178-3EB2A921CA01}" srcId="{9C876546-6EB1-4ADC-A43A-1C029F3AB792}" destId="{4F2584EF-6A9F-454D-BE33-5F4CF6C48038}" srcOrd="1" destOrd="0" parTransId="{FA5C9E77-F7A1-4F06-AD7D-5BE227DF8807}" sibTransId="{E25F0D55-4046-454A-9DAB-DB6891AB1352}"/>
    <dgm:cxn modelId="{E1864044-6472-472C-A92A-8D4B87CC1A9E}" type="presOf" srcId="{EB74CF38-AB8F-4A9A-BFEA-CF2B32AD9BB2}" destId="{46282C84-148B-4BDC-8D5C-458E5677D2D2}" srcOrd="0" destOrd="0" presId="urn:microsoft.com/office/officeart/2005/8/layout/vList2"/>
    <dgm:cxn modelId="{EFC91865-F211-4F57-8ADA-7BAC543020D4}" srcId="{9C876546-6EB1-4ADC-A43A-1C029F3AB792}" destId="{EB832BE2-B39D-4C7B-9CCC-85E70CAB7FFC}" srcOrd="0" destOrd="0" parTransId="{F67908C1-D7C3-49A8-B541-F05B10E19692}" sibTransId="{CA2186E0-304C-4DEF-B18C-E2B94F7DBFDA}"/>
    <dgm:cxn modelId="{045A0B46-1D54-4814-8551-98AA09B7B06F}" type="presOf" srcId="{9C876546-6EB1-4ADC-A43A-1C029F3AB792}" destId="{BC19E73D-BA88-45BD-A669-25AA69287709}" srcOrd="0" destOrd="0" presId="urn:microsoft.com/office/officeart/2005/8/layout/vList2"/>
    <dgm:cxn modelId="{6876A96E-A040-4221-96BA-1B7AED8DA72B}" srcId="{9C876546-6EB1-4ADC-A43A-1C029F3AB792}" destId="{EBFFE4E3-0DBC-430C-A214-03EF194F3590}" srcOrd="2" destOrd="0" parTransId="{222902B2-2CE2-4F36-BD88-79F0731340E3}" sibTransId="{C688FF85-B953-414C-807F-F082CFF41DAE}"/>
    <dgm:cxn modelId="{2DE7EC71-B7BD-40F6-B3B9-745DB59D55D7}" type="presOf" srcId="{3CC17E67-7E69-4EFC-9521-181C424D3C35}" destId="{9D08B39D-73E5-4794-BCF9-5C62C8135CCE}" srcOrd="0" destOrd="0" presId="urn:microsoft.com/office/officeart/2005/8/layout/vList2"/>
    <dgm:cxn modelId="{74CB0578-EF54-4C6E-8189-D2AF2E81D922}" srcId="{9C876546-6EB1-4ADC-A43A-1C029F3AB792}" destId="{3CC17E67-7E69-4EFC-9521-181C424D3C35}" srcOrd="4" destOrd="0" parTransId="{E141BD12-A8D9-40DF-BA5B-A35C45DAE192}" sibTransId="{CB41446E-BD58-467B-B83F-66DA079C8B37}"/>
    <dgm:cxn modelId="{19C68682-5C81-44BB-8CAF-FC87F548BF18}" type="presOf" srcId="{EBFFE4E3-0DBC-430C-A214-03EF194F3590}" destId="{B42DE1D1-83F3-43CD-8D53-FC3E0892F83A}" srcOrd="0" destOrd="0" presId="urn:microsoft.com/office/officeart/2005/8/layout/vList2"/>
    <dgm:cxn modelId="{94DD1A9E-148C-455F-8AB7-3142155400CB}" type="presOf" srcId="{4F2584EF-6A9F-454D-BE33-5F4CF6C48038}" destId="{1835D6A1-99A2-45C3-A36F-26DB94D755E0}" srcOrd="0" destOrd="0" presId="urn:microsoft.com/office/officeart/2005/8/layout/vList2"/>
    <dgm:cxn modelId="{3C1278D0-22F8-46EC-9BE1-9A942FC28513}" type="presOf" srcId="{EB832BE2-B39D-4C7B-9CCC-85E70CAB7FFC}" destId="{A528632B-AF98-438E-81B2-557BC2C05ADE}" srcOrd="0" destOrd="0" presId="urn:microsoft.com/office/officeart/2005/8/layout/vList2"/>
    <dgm:cxn modelId="{DAF782B7-F268-478C-946A-0460B24B5A19}" type="presParOf" srcId="{BC19E73D-BA88-45BD-A669-25AA69287709}" destId="{A528632B-AF98-438E-81B2-557BC2C05ADE}" srcOrd="0" destOrd="0" presId="urn:microsoft.com/office/officeart/2005/8/layout/vList2"/>
    <dgm:cxn modelId="{DD035EBA-AEBB-4F57-A939-391DF535BE20}" type="presParOf" srcId="{BC19E73D-BA88-45BD-A669-25AA69287709}" destId="{50E2873F-2B6F-450F-8592-6CB798B166D9}" srcOrd="1" destOrd="0" presId="urn:microsoft.com/office/officeart/2005/8/layout/vList2"/>
    <dgm:cxn modelId="{8DCED74F-34EE-49BE-A2E2-592693D56946}" type="presParOf" srcId="{BC19E73D-BA88-45BD-A669-25AA69287709}" destId="{1835D6A1-99A2-45C3-A36F-26DB94D755E0}" srcOrd="2" destOrd="0" presId="urn:microsoft.com/office/officeart/2005/8/layout/vList2"/>
    <dgm:cxn modelId="{EBAC8040-E80F-46BF-A3B9-D838C6E421AD}" type="presParOf" srcId="{BC19E73D-BA88-45BD-A669-25AA69287709}" destId="{E0FC2B12-F293-4146-B7AA-2A523F30E03B}" srcOrd="3" destOrd="0" presId="urn:microsoft.com/office/officeart/2005/8/layout/vList2"/>
    <dgm:cxn modelId="{E932585C-80C7-4E62-8896-FA3F70EB19F3}" type="presParOf" srcId="{BC19E73D-BA88-45BD-A669-25AA69287709}" destId="{B42DE1D1-83F3-43CD-8D53-FC3E0892F83A}" srcOrd="4" destOrd="0" presId="urn:microsoft.com/office/officeart/2005/8/layout/vList2"/>
    <dgm:cxn modelId="{7A80E044-E516-435C-BB6F-09F55BDD2EAE}" type="presParOf" srcId="{BC19E73D-BA88-45BD-A669-25AA69287709}" destId="{0F66419F-701B-4537-A570-5AC2B8C78F9A}" srcOrd="5" destOrd="0" presId="urn:microsoft.com/office/officeart/2005/8/layout/vList2"/>
    <dgm:cxn modelId="{56F9E766-CE5C-4442-99BC-98FDF26886A4}" type="presParOf" srcId="{BC19E73D-BA88-45BD-A669-25AA69287709}" destId="{46282C84-148B-4BDC-8D5C-458E5677D2D2}" srcOrd="6" destOrd="0" presId="urn:microsoft.com/office/officeart/2005/8/layout/vList2"/>
    <dgm:cxn modelId="{B096D1FB-FD98-4687-A317-1BE316C73D1D}" type="presParOf" srcId="{BC19E73D-BA88-45BD-A669-25AA69287709}" destId="{468FA092-AA20-4A97-85E9-EA4F989A09E8}" srcOrd="7" destOrd="0" presId="urn:microsoft.com/office/officeart/2005/8/layout/vList2"/>
    <dgm:cxn modelId="{5A83D60D-998A-47E6-80BE-77156F454E06}" type="presParOf" srcId="{BC19E73D-BA88-45BD-A669-25AA69287709}" destId="{9D08B39D-73E5-4794-BCF9-5C62C8135CCE}" srcOrd="8"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3CCA96-5F37-46CE-AACC-9713E68C9C56}">
      <dsp:nvSpPr>
        <dsp:cNvPr id="0" name=""/>
        <dsp:cNvSpPr/>
      </dsp:nvSpPr>
      <dsp:spPr>
        <a:xfrm>
          <a:off x="930572" y="3032"/>
          <a:ext cx="2833338" cy="1700003"/>
        </a:xfrm>
        <a:prstGeom prst="rect">
          <a:avLst/>
        </a:prstGeom>
        <a:solidFill>
          <a:schemeClr val="accent5">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52400" tIns="152400" rIns="152400" bIns="152400" numCol="1" spcCol="1270" anchor="ctr" anchorCtr="0">
          <a:noAutofit/>
        </a:bodyPr>
        <a:lstStyle/>
        <a:p>
          <a:pPr marL="0" lvl="0" indent="0" algn="ctr" defTabSz="1778000">
            <a:lnSpc>
              <a:spcPct val="90000"/>
            </a:lnSpc>
            <a:spcBef>
              <a:spcPct val="0"/>
            </a:spcBef>
            <a:spcAft>
              <a:spcPct val="35000"/>
            </a:spcAft>
            <a:buNone/>
          </a:pPr>
          <a:r>
            <a:rPr lang="en-US" sz="4000" kern="1200"/>
            <a:t>Build Security</a:t>
          </a:r>
        </a:p>
      </dsp:txBody>
      <dsp:txXfrm>
        <a:off x="930572" y="3032"/>
        <a:ext cx="2833338" cy="1700003"/>
      </dsp:txXfrm>
    </dsp:sp>
    <dsp:sp modelId="{25894AB8-46EE-417C-A85F-CED486B95897}">
      <dsp:nvSpPr>
        <dsp:cNvPr id="0" name=""/>
        <dsp:cNvSpPr/>
      </dsp:nvSpPr>
      <dsp:spPr>
        <a:xfrm>
          <a:off x="4047245" y="3032"/>
          <a:ext cx="2833338" cy="1700003"/>
        </a:xfrm>
        <a:prstGeom prst="rect">
          <a:avLst/>
        </a:prstGeom>
        <a:solidFill>
          <a:schemeClr val="accent5">
            <a:hueOff val="-2430430"/>
            <a:satOff val="-165"/>
            <a:lumOff val="392"/>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52400" tIns="152400" rIns="152400" bIns="152400" numCol="1" spcCol="1270" anchor="ctr" anchorCtr="0">
          <a:noAutofit/>
        </a:bodyPr>
        <a:lstStyle/>
        <a:p>
          <a:pPr marL="0" lvl="0" indent="0" algn="ctr" defTabSz="1778000">
            <a:lnSpc>
              <a:spcPct val="90000"/>
            </a:lnSpc>
            <a:spcBef>
              <a:spcPct val="0"/>
            </a:spcBef>
            <a:spcAft>
              <a:spcPct val="35000"/>
            </a:spcAft>
            <a:buNone/>
          </a:pPr>
          <a:r>
            <a:rPr lang="en-US" sz="4000" kern="1200"/>
            <a:t>Registry Security</a:t>
          </a:r>
        </a:p>
      </dsp:txBody>
      <dsp:txXfrm>
        <a:off x="4047245" y="3032"/>
        <a:ext cx="2833338" cy="1700003"/>
      </dsp:txXfrm>
    </dsp:sp>
    <dsp:sp modelId="{27BF921C-70EB-425B-88B6-C4996B67E771}">
      <dsp:nvSpPr>
        <dsp:cNvPr id="0" name=""/>
        <dsp:cNvSpPr/>
      </dsp:nvSpPr>
      <dsp:spPr>
        <a:xfrm>
          <a:off x="7163917" y="3032"/>
          <a:ext cx="2833338" cy="1700003"/>
        </a:xfrm>
        <a:prstGeom prst="rect">
          <a:avLst/>
        </a:prstGeom>
        <a:solidFill>
          <a:schemeClr val="accent5">
            <a:hueOff val="-4860860"/>
            <a:satOff val="-330"/>
            <a:lumOff val="784"/>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52400" tIns="152400" rIns="152400" bIns="152400" numCol="1" spcCol="1270" anchor="ctr" anchorCtr="0">
          <a:noAutofit/>
        </a:bodyPr>
        <a:lstStyle/>
        <a:p>
          <a:pPr marL="0" lvl="0" indent="0" algn="ctr" defTabSz="1778000">
            <a:lnSpc>
              <a:spcPct val="90000"/>
            </a:lnSpc>
            <a:spcBef>
              <a:spcPct val="0"/>
            </a:spcBef>
            <a:spcAft>
              <a:spcPct val="35000"/>
            </a:spcAft>
            <a:buNone/>
          </a:pPr>
          <a:r>
            <a:rPr lang="en-US" sz="4000" kern="1200"/>
            <a:t>Cluster security</a:t>
          </a:r>
        </a:p>
      </dsp:txBody>
      <dsp:txXfrm>
        <a:off x="7163917" y="3032"/>
        <a:ext cx="2833338" cy="1700003"/>
      </dsp:txXfrm>
    </dsp:sp>
    <dsp:sp modelId="{619A8216-1810-43F4-9C3F-C9BA53F0C472}">
      <dsp:nvSpPr>
        <dsp:cNvPr id="0" name=""/>
        <dsp:cNvSpPr/>
      </dsp:nvSpPr>
      <dsp:spPr>
        <a:xfrm>
          <a:off x="930572" y="1986369"/>
          <a:ext cx="2833338" cy="1700003"/>
        </a:xfrm>
        <a:prstGeom prst="rect">
          <a:avLst/>
        </a:prstGeom>
        <a:solidFill>
          <a:schemeClr val="accent5">
            <a:hueOff val="-7291290"/>
            <a:satOff val="-496"/>
            <a:lumOff val="1177"/>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52400" tIns="152400" rIns="152400" bIns="152400" numCol="1" spcCol="1270" anchor="ctr" anchorCtr="0">
          <a:noAutofit/>
        </a:bodyPr>
        <a:lstStyle/>
        <a:p>
          <a:pPr marL="0" lvl="0" indent="0" algn="ctr" defTabSz="1778000">
            <a:lnSpc>
              <a:spcPct val="90000"/>
            </a:lnSpc>
            <a:spcBef>
              <a:spcPct val="0"/>
            </a:spcBef>
            <a:spcAft>
              <a:spcPct val="35000"/>
            </a:spcAft>
            <a:buNone/>
          </a:pPr>
          <a:r>
            <a:rPr lang="en-US" sz="4000" kern="1200"/>
            <a:t>Node security</a:t>
          </a:r>
        </a:p>
      </dsp:txBody>
      <dsp:txXfrm>
        <a:off x="930572" y="1986369"/>
        <a:ext cx="2833338" cy="1700003"/>
      </dsp:txXfrm>
    </dsp:sp>
    <dsp:sp modelId="{C48539CD-F23E-488E-AD2C-14DEBC35AF96}">
      <dsp:nvSpPr>
        <dsp:cNvPr id="0" name=""/>
        <dsp:cNvSpPr/>
      </dsp:nvSpPr>
      <dsp:spPr>
        <a:xfrm>
          <a:off x="4047245" y="1986369"/>
          <a:ext cx="2833338" cy="1700003"/>
        </a:xfrm>
        <a:prstGeom prst="rect">
          <a:avLst/>
        </a:prstGeom>
        <a:solidFill>
          <a:schemeClr val="accent5">
            <a:hueOff val="-9721720"/>
            <a:satOff val="-661"/>
            <a:lumOff val="1569"/>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52400" tIns="152400" rIns="152400" bIns="152400" numCol="1" spcCol="1270" anchor="ctr" anchorCtr="0">
          <a:noAutofit/>
        </a:bodyPr>
        <a:lstStyle/>
        <a:p>
          <a:pPr marL="0" lvl="0" indent="0" algn="ctr" defTabSz="1778000">
            <a:lnSpc>
              <a:spcPct val="90000"/>
            </a:lnSpc>
            <a:spcBef>
              <a:spcPct val="0"/>
            </a:spcBef>
            <a:spcAft>
              <a:spcPct val="35000"/>
            </a:spcAft>
            <a:buNone/>
          </a:pPr>
          <a:r>
            <a:rPr lang="en-US" sz="4000" kern="1200"/>
            <a:t>Network security</a:t>
          </a:r>
        </a:p>
      </dsp:txBody>
      <dsp:txXfrm>
        <a:off x="4047245" y="1986369"/>
        <a:ext cx="2833338" cy="1700003"/>
      </dsp:txXfrm>
    </dsp:sp>
    <dsp:sp modelId="{EA8E32A5-6A27-479B-BA01-99991E2427B2}">
      <dsp:nvSpPr>
        <dsp:cNvPr id="0" name=""/>
        <dsp:cNvSpPr/>
      </dsp:nvSpPr>
      <dsp:spPr>
        <a:xfrm>
          <a:off x="7163917" y="1986369"/>
          <a:ext cx="2833338" cy="1700003"/>
        </a:xfrm>
        <a:prstGeom prst="rect">
          <a:avLst/>
        </a:prstGeom>
        <a:solidFill>
          <a:schemeClr val="accent5">
            <a:hueOff val="-12152150"/>
            <a:satOff val="-826"/>
            <a:lumOff val="1961"/>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52400" tIns="152400" rIns="152400" bIns="152400" numCol="1" spcCol="1270" anchor="ctr" anchorCtr="0">
          <a:noAutofit/>
        </a:bodyPr>
        <a:lstStyle/>
        <a:p>
          <a:pPr marL="0" lvl="0" indent="0" algn="ctr" defTabSz="1778000">
            <a:lnSpc>
              <a:spcPct val="90000"/>
            </a:lnSpc>
            <a:spcBef>
              <a:spcPct val="0"/>
            </a:spcBef>
            <a:spcAft>
              <a:spcPct val="35000"/>
            </a:spcAft>
            <a:buNone/>
          </a:pPr>
          <a:r>
            <a:rPr lang="en-US" sz="4000" kern="1200"/>
            <a:t>Application Security</a:t>
          </a:r>
        </a:p>
      </dsp:txBody>
      <dsp:txXfrm>
        <a:off x="7163917" y="1986369"/>
        <a:ext cx="2833338" cy="1700003"/>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528632B-AF98-438E-81B2-557BC2C05ADE}">
      <dsp:nvSpPr>
        <dsp:cNvPr id="0" name=""/>
        <dsp:cNvSpPr/>
      </dsp:nvSpPr>
      <dsp:spPr>
        <a:xfrm>
          <a:off x="0" y="49707"/>
          <a:ext cx="6245265" cy="1038082"/>
        </a:xfrm>
        <a:prstGeom prst="roundRect">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9060" tIns="99060" rIns="99060" bIns="99060" numCol="1" spcCol="1270" anchor="ctr" anchorCtr="0">
          <a:noAutofit/>
        </a:bodyPr>
        <a:lstStyle/>
        <a:p>
          <a:pPr marL="0" lvl="0" indent="0" algn="l" defTabSz="1155700">
            <a:lnSpc>
              <a:spcPct val="90000"/>
            </a:lnSpc>
            <a:spcBef>
              <a:spcPct val="0"/>
            </a:spcBef>
            <a:spcAft>
              <a:spcPct val="35000"/>
            </a:spcAft>
            <a:buNone/>
          </a:pPr>
          <a:r>
            <a:rPr lang="en-US" sz="2600" kern="1200"/>
            <a:t>Security posture management </a:t>
          </a:r>
        </a:p>
      </dsp:txBody>
      <dsp:txXfrm>
        <a:off x="50675" y="100382"/>
        <a:ext cx="6143915" cy="936732"/>
      </dsp:txXfrm>
    </dsp:sp>
    <dsp:sp modelId="{1835D6A1-99A2-45C3-A36F-26DB94D755E0}">
      <dsp:nvSpPr>
        <dsp:cNvPr id="0" name=""/>
        <dsp:cNvSpPr/>
      </dsp:nvSpPr>
      <dsp:spPr>
        <a:xfrm>
          <a:off x="0" y="1162669"/>
          <a:ext cx="6245265" cy="1038082"/>
        </a:xfrm>
        <a:prstGeom prst="roundRect">
          <a:avLst/>
        </a:prstGeom>
        <a:solidFill>
          <a:schemeClr val="accent2">
            <a:hueOff val="1610903"/>
            <a:satOff val="-4623"/>
            <a:lumOff val="-7402"/>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9060" tIns="99060" rIns="99060" bIns="99060" numCol="1" spcCol="1270" anchor="ctr" anchorCtr="0">
          <a:noAutofit/>
        </a:bodyPr>
        <a:lstStyle/>
        <a:p>
          <a:pPr marL="0" lvl="0" indent="0" algn="l" defTabSz="1155700">
            <a:lnSpc>
              <a:spcPct val="90000"/>
            </a:lnSpc>
            <a:spcBef>
              <a:spcPct val="0"/>
            </a:spcBef>
            <a:spcAft>
              <a:spcPct val="35000"/>
            </a:spcAft>
            <a:buNone/>
          </a:pPr>
          <a:r>
            <a:rPr lang="en-US" sz="2600" kern="1200"/>
            <a:t>Vulnerability assessment </a:t>
          </a:r>
        </a:p>
      </dsp:txBody>
      <dsp:txXfrm>
        <a:off x="50675" y="1213344"/>
        <a:ext cx="6143915" cy="936732"/>
      </dsp:txXfrm>
    </dsp:sp>
    <dsp:sp modelId="{B42DE1D1-83F3-43CD-8D53-FC3E0892F83A}">
      <dsp:nvSpPr>
        <dsp:cNvPr id="0" name=""/>
        <dsp:cNvSpPr/>
      </dsp:nvSpPr>
      <dsp:spPr>
        <a:xfrm>
          <a:off x="0" y="2275632"/>
          <a:ext cx="6245265" cy="1038082"/>
        </a:xfrm>
        <a:prstGeom prst="roundRect">
          <a:avLst/>
        </a:prstGeom>
        <a:solidFill>
          <a:schemeClr val="accent2">
            <a:hueOff val="3221807"/>
            <a:satOff val="-9246"/>
            <a:lumOff val="-14805"/>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9060" tIns="99060" rIns="99060" bIns="99060" numCol="1" spcCol="1270" anchor="ctr" anchorCtr="0">
          <a:noAutofit/>
        </a:bodyPr>
        <a:lstStyle/>
        <a:p>
          <a:pPr marL="0" lvl="0" indent="0" algn="l" defTabSz="1155700">
            <a:lnSpc>
              <a:spcPct val="90000"/>
            </a:lnSpc>
            <a:spcBef>
              <a:spcPct val="0"/>
            </a:spcBef>
            <a:spcAft>
              <a:spcPct val="35000"/>
            </a:spcAft>
            <a:buNone/>
          </a:pPr>
          <a:r>
            <a:rPr lang="en-US" sz="2600" kern="1200"/>
            <a:t>Run-time threat protection</a:t>
          </a:r>
        </a:p>
      </dsp:txBody>
      <dsp:txXfrm>
        <a:off x="50675" y="2326307"/>
        <a:ext cx="6143915" cy="936732"/>
      </dsp:txXfrm>
    </dsp:sp>
    <dsp:sp modelId="{46282C84-148B-4BDC-8D5C-458E5677D2D2}">
      <dsp:nvSpPr>
        <dsp:cNvPr id="0" name=""/>
        <dsp:cNvSpPr/>
      </dsp:nvSpPr>
      <dsp:spPr>
        <a:xfrm>
          <a:off x="0" y="3388594"/>
          <a:ext cx="6245265" cy="1038082"/>
        </a:xfrm>
        <a:prstGeom prst="roundRect">
          <a:avLst/>
        </a:prstGeom>
        <a:solidFill>
          <a:schemeClr val="accent2">
            <a:hueOff val="4832710"/>
            <a:satOff val="-13870"/>
            <a:lumOff val="-22207"/>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9060" tIns="99060" rIns="99060" bIns="99060" numCol="1" spcCol="1270" anchor="ctr" anchorCtr="0">
          <a:noAutofit/>
        </a:bodyPr>
        <a:lstStyle/>
        <a:p>
          <a:pPr marL="0" lvl="0" indent="0" algn="l" defTabSz="1155700">
            <a:lnSpc>
              <a:spcPct val="90000"/>
            </a:lnSpc>
            <a:spcBef>
              <a:spcPct val="0"/>
            </a:spcBef>
            <a:spcAft>
              <a:spcPct val="35000"/>
            </a:spcAft>
            <a:buNone/>
          </a:pPr>
          <a:r>
            <a:rPr lang="en-US" sz="2600" kern="1200"/>
            <a:t>Containers software supply chain protection</a:t>
          </a:r>
        </a:p>
      </dsp:txBody>
      <dsp:txXfrm>
        <a:off x="50675" y="3439269"/>
        <a:ext cx="6143915" cy="936732"/>
      </dsp:txXfrm>
    </dsp:sp>
    <dsp:sp modelId="{9D08B39D-73E5-4794-BCF9-5C62C8135CCE}">
      <dsp:nvSpPr>
        <dsp:cNvPr id="0" name=""/>
        <dsp:cNvSpPr/>
      </dsp:nvSpPr>
      <dsp:spPr>
        <a:xfrm>
          <a:off x="0" y="4501557"/>
          <a:ext cx="6245265" cy="1038082"/>
        </a:xfrm>
        <a:prstGeom prst="roundRect">
          <a:avLst/>
        </a:prstGeom>
        <a:solidFill>
          <a:schemeClr val="accent2">
            <a:hueOff val="6443614"/>
            <a:satOff val="-18493"/>
            <a:lumOff val="-29609"/>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9060" tIns="99060" rIns="99060" bIns="99060" numCol="1" spcCol="1270" anchor="ctr" anchorCtr="0">
          <a:noAutofit/>
        </a:bodyPr>
        <a:lstStyle/>
        <a:p>
          <a:pPr marL="0" lvl="0" indent="0" algn="l" defTabSz="1155700">
            <a:lnSpc>
              <a:spcPct val="90000"/>
            </a:lnSpc>
            <a:spcBef>
              <a:spcPct val="0"/>
            </a:spcBef>
            <a:spcAft>
              <a:spcPct val="35000"/>
            </a:spcAft>
            <a:buNone/>
          </a:pPr>
          <a:r>
            <a:rPr lang="en-US" sz="2600" kern="1200"/>
            <a:t>Deployment &amp; monitoring</a:t>
          </a:r>
        </a:p>
      </dsp:txBody>
      <dsp:txXfrm>
        <a:off x="50675" y="4552232"/>
        <a:ext cx="6143915" cy="936732"/>
      </dsp:txXfrm>
    </dsp:sp>
  </dsp:spTree>
</dsp:drawing>
</file>

<file path=ppt/diagrams/layout1.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385D07E-B132-4C8F-A144-2D501431D798}" type="datetimeFigureOut">
              <a:rPr lang="en-US" smtClean="0"/>
              <a:t>10/16/2026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8A7B8A6-DC2C-4E66-899B-3FF6576B90A7}" type="slidenum">
              <a:rPr lang="en-US" smtClean="0"/>
              <a:t>‹#›</a:t>
            </a:fld>
            <a:endParaRPr lang="en-US"/>
          </a:p>
        </p:txBody>
      </p:sp>
    </p:spTree>
    <p:extLst>
      <p:ext uri="{BB962C8B-B14F-4D97-AF65-F5344CB8AC3E}">
        <p14:creationId xmlns:p14="http://schemas.microsoft.com/office/powerpoint/2010/main" val="323270622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3" Type="http://schemas.openxmlformats.org/officeDocument/2006/relationships/hyperlink" Target="https://github.com/kata-containers/kata-containers/blob/main/docs/design/architecture/history.md#kata-2x-architecture" TargetMode="External"/><Relationship Id="rId2" Type="http://schemas.openxmlformats.org/officeDocument/2006/relationships/slide" Target="../slides/slide11.xml"/><Relationship Id="rId1" Type="http://schemas.openxmlformats.org/officeDocument/2006/relationships/notesMaster" Target="../notesMasters/notesMaster1.xml"/><Relationship Id="rId5" Type="http://schemas.openxmlformats.org/officeDocument/2006/relationships/hyperlink" Target="https://github.com/containerd/ttrpc" TargetMode="External"/><Relationship Id="rId4" Type="http://schemas.openxmlformats.org/officeDocument/2006/relationships/hyperlink" Target="https://github.com/kata-containers/kata-containers/blob/main/docs/design/architecture/README.md#agent" TargetMode="Externa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3" Type="http://schemas.openxmlformats.org/officeDocument/2006/relationships/hyperlink" Target="https://learn.microsoft.com/en-us/azure/governance/policy/concepts/policy-for-kubernetes" TargetMode="External"/><Relationship Id="rId7" Type="http://schemas.openxmlformats.org/officeDocument/2006/relationships/hyperlink" Target="https://ratify.dev/docs/1.0/quickstarts/ratify-on-azure/?utm_source=chatgpt.com" TargetMode="External"/><Relationship Id="rId2" Type="http://schemas.openxmlformats.org/officeDocument/2006/relationships/slide" Target="../slides/slide34.xml"/><Relationship Id="rId1" Type="http://schemas.openxmlformats.org/officeDocument/2006/relationships/notesMaster" Target="../notesMasters/notesMaster1.xml"/><Relationship Id="rId6" Type="http://schemas.openxmlformats.org/officeDocument/2006/relationships/hyperlink" Target="https://learn.microsoft.com/en-us/azure/security/container-secure-supply-chain/articles/validating-image-signatures-using-ratify-aks?utm_source=chatgpt.com" TargetMode="External"/><Relationship Id="rId5" Type="http://schemas.openxmlformats.org/officeDocument/2006/relationships/hyperlink" Target="https://learn.microsoft.com/en-us/azure/aks/image-integrity?utm_source=chatgpt.com" TargetMode="External"/><Relationship Id="rId4" Type="http://schemas.openxmlformats.org/officeDocument/2006/relationships/hyperlink" Target="https://www.openpolicyagent.org/" TargetMode="External"/></Relationships>
</file>

<file path=ppt/notesSlides/_rels/notesSlide30.xml.rels><?xml version="1.0" encoding="UTF-8" standalone="yes"?>
<Relationships xmlns="http://schemas.openxmlformats.org/package/2006/relationships"><Relationship Id="rId3" Type="http://schemas.openxmlformats.org/officeDocument/2006/relationships/hyperlink" Target="https://learn.microsoft.com/en-us/azure/aks/image-integrity?utm_source=chatgpt.com" TargetMode="External"/><Relationship Id="rId2" Type="http://schemas.openxmlformats.org/officeDocument/2006/relationships/slide" Target="../slides/slide35.xml"/><Relationship Id="rId1" Type="http://schemas.openxmlformats.org/officeDocument/2006/relationships/notesMaster" Target="../notesMasters/notesMaster1.xml"/><Relationship Id="rId5" Type="http://schemas.openxmlformats.org/officeDocument/2006/relationships/hyperlink" Target="https://ratify.dev/docs/1.0/quickstarts/ratify-on-azure/?utm_source=chatgpt.com" TargetMode="External"/><Relationship Id="rId4" Type="http://schemas.openxmlformats.org/officeDocument/2006/relationships/hyperlink" Target="https://learn.microsoft.com/en-us/azure/security/container-secure-supply-chain/articles/validating-image-signatures-using-ratify-aks?utm_source=chatgpt.com" TargetMode="External"/></Relationships>
</file>

<file path=ppt/notesSlides/_rels/notesSlide31.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158.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160.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162.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163.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164.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165.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167.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169.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81.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184.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3" Type="http://schemas.openxmlformats.org/officeDocument/2006/relationships/hyperlink" Target="https://github.com/kubernetes-sigs/secrets-store-csi-driver" TargetMode="External"/><Relationship Id="rId2" Type="http://schemas.openxmlformats.org/officeDocument/2006/relationships/slide" Target="../slides/slide185.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3" Type="http://schemas.openxmlformats.org/officeDocument/2006/relationships/hyperlink" Target="https://github.com/kubernetes-sigs/secrets-store-csi-driver" TargetMode="External"/><Relationship Id="rId2" Type="http://schemas.openxmlformats.org/officeDocument/2006/relationships/slide" Target="../slides/slide186.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87.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88.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3" Type="http://schemas.openxmlformats.org/officeDocument/2006/relationships/hyperlink" Target="https://kubernetes.io/docs/concepts/security/pod-security-standards/" TargetMode="External"/><Relationship Id="rId2" Type="http://schemas.openxmlformats.org/officeDocument/2006/relationships/slide" Target="../slides/slide191.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3" Type="http://schemas.openxmlformats.org/officeDocument/2006/relationships/hyperlink" Target="https://kubernetes.io/docs/concepts/security/pod-security-standards/" TargetMode="External"/><Relationship Id="rId2" Type="http://schemas.openxmlformats.org/officeDocument/2006/relationships/slide" Target="../slides/slide192.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3" Type="http://schemas.openxmlformats.org/officeDocument/2006/relationships/hyperlink" Target="https://kubernetes.io/docs/concepts/security/pod-security-standards/" TargetMode="External"/><Relationship Id="rId2" Type="http://schemas.openxmlformats.org/officeDocument/2006/relationships/slide" Target="../slides/slide193.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3" Type="http://schemas.openxmlformats.org/officeDocument/2006/relationships/hyperlink" Target="https://kubernetes.io/docs/concepts/security/pod-security-standards/" TargetMode="External"/><Relationship Id="rId2" Type="http://schemas.openxmlformats.org/officeDocument/2006/relationships/slide" Target="../slides/slide194.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3" Type="http://schemas.openxmlformats.org/officeDocument/2006/relationships/hyperlink" Target="https://kubernetes.io/docs/concepts/security/pod-security-standards/" TargetMode="External"/><Relationship Id="rId2" Type="http://schemas.openxmlformats.org/officeDocument/2006/relationships/slide" Target="../slides/slide19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08A7B8A6-DC2C-4E66-899B-3FF6576B90A7}" type="slidenum">
              <a:rPr lang="en-US" smtClean="0"/>
              <a:t>2</a:t>
            </a:fld>
            <a:endParaRPr lang="en-US"/>
          </a:p>
        </p:txBody>
      </p:sp>
    </p:spTree>
    <p:extLst>
      <p:ext uri="{BB962C8B-B14F-4D97-AF65-F5344CB8AC3E}">
        <p14:creationId xmlns:p14="http://schemas.microsoft.com/office/powerpoint/2010/main" val="291075102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D965DD-AEE7-7ED4-EEAB-1821340E7B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11360E-5A98-8086-BD5B-3CC46D5A6D3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04AFF1-C753-2F20-F1C5-01FD2CDFA290}"/>
              </a:ext>
            </a:extLst>
          </p:cNvPr>
          <p:cNvSpPr>
            <a:spLocks noGrp="1"/>
          </p:cNvSpPr>
          <p:nvPr>
            <p:ph type="body" idx="1"/>
          </p:nvPr>
        </p:nvSpPr>
        <p:spPr/>
        <p:txBody>
          <a:bodyPr/>
          <a:lstStyle/>
          <a:p>
            <a:r>
              <a:rPr lang="fr-FR" dirty="0" err="1"/>
              <a:t>Explain</a:t>
            </a:r>
            <a:r>
              <a:rPr lang="fr-FR" dirty="0"/>
              <a:t> the concepts in </a:t>
            </a:r>
            <a:r>
              <a:rPr lang="en-US" dirty="0"/>
              <a:t>https://learn.microsoft.com/en-us/azure/aks/concepts-security </a:t>
            </a:r>
          </a:p>
        </p:txBody>
      </p:sp>
      <p:sp>
        <p:nvSpPr>
          <p:cNvPr id="4" name="Slide Number Placeholder 3">
            <a:extLst>
              <a:ext uri="{FF2B5EF4-FFF2-40B4-BE49-F238E27FC236}">
                <a16:creationId xmlns:a16="http://schemas.microsoft.com/office/drawing/2014/main" id="{F2B04C6C-820E-DF48-3BB0-15B496CDF5EB}"/>
              </a:ext>
            </a:extLst>
          </p:cNvPr>
          <p:cNvSpPr>
            <a:spLocks noGrp="1"/>
          </p:cNvSpPr>
          <p:nvPr>
            <p:ph type="sldNum" sz="quarter" idx="5"/>
          </p:nvPr>
        </p:nvSpPr>
        <p:spPr/>
        <p:txBody>
          <a:bodyPr/>
          <a:lstStyle/>
          <a:p>
            <a:fld id="{08A7B8A6-DC2C-4E66-899B-3FF6576B90A7}" type="slidenum">
              <a:rPr lang="en-US" smtClean="0"/>
              <a:t>3</a:t>
            </a:fld>
            <a:endParaRPr lang="en-US"/>
          </a:p>
        </p:txBody>
      </p:sp>
    </p:spTree>
    <p:extLst>
      <p:ext uri="{BB962C8B-B14F-4D97-AF65-F5344CB8AC3E}">
        <p14:creationId xmlns:p14="http://schemas.microsoft.com/office/powerpoint/2010/main" val="232361729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D595B8-67BD-ABAA-6ADB-465FDE9C067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D1AF032-D82B-B88D-0E9C-2DA60610937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209C91D-1987-341E-56A0-F127E10DF277}"/>
              </a:ext>
            </a:extLst>
          </p:cNvPr>
          <p:cNvSpPr>
            <a:spLocks noGrp="1"/>
          </p:cNvSpPr>
          <p:nvPr>
            <p:ph type="body" idx="1"/>
          </p:nvPr>
        </p:nvSpPr>
        <p:spPr/>
        <p:txBody>
          <a:bodyPr/>
          <a:lstStyle/>
          <a:p>
            <a:endParaRPr lang="fr-FR"/>
          </a:p>
          <a:p>
            <a:endParaRPr lang="en-US"/>
          </a:p>
        </p:txBody>
      </p:sp>
      <p:sp>
        <p:nvSpPr>
          <p:cNvPr id="4" name="Slide Number Placeholder 3">
            <a:extLst>
              <a:ext uri="{FF2B5EF4-FFF2-40B4-BE49-F238E27FC236}">
                <a16:creationId xmlns:a16="http://schemas.microsoft.com/office/drawing/2014/main" id="{A6C37711-D805-BC8D-C5DA-7082EBB15ED9}"/>
              </a:ext>
            </a:extLst>
          </p:cNvPr>
          <p:cNvSpPr>
            <a:spLocks noGrp="1"/>
          </p:cNvSpPr>
          <p:nvPr>
            <p:ph type="sldNum" sz="quarter" idx="5"/>
          </p:nvPr>
        </p:nvSpPr>
        <p:spPr/>
        <p:txBody>
          <a:bodyPr/>
          <a:lstStyle/>
          <a:p>
            <a:fld id="{08A7B8A6-DC2C-4E66-899B-3FF6576B90A7}" type="slidenum">
              <a:rPr lang="en-US" smtClean="0"/>
              <a:t>4</a:t>
            </a:fld>
            <a:endParaRPr lang="en-US"/>
          </a:p>
        </p:txBody>
      </p:sp>
    </p:spTree>
    <p:extLst>
      <p:ext uri="{BB962C8B-B14F-4D97-AF65-F5344CB8AC3E}">
        <p14:creationId xmlns:p14="http://schemas.microsoft.com/office/powerpoint/2010/main" val="48121578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6A087B-0507-84BB-A305-489FA9FD7B0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E0A0B10-D8AE-1425-B378-6256552E54D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B02926D-4F51-2934-602F-AAE9627C885B}"/>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D92D97DB-3E4A-6EAE-ABC9-FB73615A9406}"/>
              </a:ext>
            </a:extLst>
          </p:cNvPr>
          <p:cNvSpPr>
            <a:spLocks noGrp="1"/>
          </p:cNvSpPr>
          <p:nvPr>
            <p:ph type="sldNum" sz="quarter" idx="5"/>
          </p:nvPr>
        </p:nvSpPr>
        <p:spPr/>
        <p:txBody>
          <a:bodyPr/>
          <a:lstStyle/>
          <a:p>
            <a:fld id="{08A7B8A6-DC2C-4E66-899B-3FF6576B90A7}" type="slidenum">
              <a:rPr lang="en-US" smtClean="0"/>
              <a:t>5</a:t>
            </a:fld>
            <a:endParaRPr lang="en-US"/>
          </a:p>
        </p:txBody>
      </p:sp>
    </p:spTree>
    <p:extLst>
      <p:ext uri="{BB962C8B-B14F-4D97-AF65-F5344CB8AC3E}">
        <p14:creationId xmlns:p14="http://schemas.microsoft.com/office/powerpoint/2010/main" val="140301056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422E1A-9A36-0601-0225-1B89FBEE635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930B443-0BEA-E11E-CFAF-20C3BE27E25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F6CF078-6A4E-BB79-4A34-4BFCA960A7D7}"/>
              </a:ext>
            </a:extLst>
          </p:cNvPr>
          <p:cNvSpPr>
            <a:spLocks noGrp="1"/>
          </p:cNvSpPr>
          <p:nvPr>
            <p:ph type="body" idx="1"/>
          </p:nvPr>
        </p:nvSpPr>
        <p:spPr/>
        <p:txBody>
          <a:bodyPr/>
          <a:lstStyle/>
          <a:p>
            <a:r>
              <a:rPr lang="en-US"/>
              <a:t>Check the same title in https://learn.microsoft.com/en-us/azure/aks/concepts-vulnerability-management for the details</a:t>
            </a:r>
          </a:p>
        </p:txBody>
      </p:sp>
      <p:sp>
        <p:nvSpPr>
          <p:cNvPr id="4" name="Slide Number Placeholder 3">
            <a:extLst>
              <a:ext uri="{FF2B5EF4-FFF2-40B4-BE49-F238E27FC236}">
                <a16:creationId xmlns:a16="http://schemas.microsoft.com/office/drawing/2014/main" id="{B19DBA0D-527A-09C2-4DE2-54F3A257F8C7}"/>
              </a:ext>
            </a:extLst>
          </p:cNvPr>
          <p:cNvSpPr>
            <a:spLocks noGrp="1"/>
          </p:cNvSpPr>
          <p:nvPr>
            <p:ph type="sldNum" sz="quarter" idx="5"/>
          </p:nvPr>
        </p:nvSpPr>
        <p:spPr/>
        <p:txBody>
          <a:bodyPr/>
          <a:lstStyle/>
          <a:p>
            <a:fld id="{08A7B8A6-DC2C-4E66-899B-3FF6576B90A7}" type="slidenum">
              <a:rPr lang="en-US" smtClean="0"/>
              <a:t>6</a:t>
            </a:fld>
            <a:endParaRPr lang="en-US"/>
          </a:p>
        </p:txBody>
      </p:sp>
    </p:spTree>
    <p:extLst>
      <p:ext uri="{BB962C8B-B14F-4D97-AF65-F5344CB8AC3E}">
        <p14:creationId xmlns:p14="http://schemas.microsoft.com/office/powerpoint/2010/main" val="78456414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FA365D-11B6-C05A-FF73-000C9225990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3FE821-CB93-210E-6FC5-41C34ACF938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1A49F79-ABC0-4C0A-9062-2472ABE09932}"/>
              </a:ext>
            </a:extLst>
          </p:cNvPr>
          <p:cNvSpPr>
            <a:spLocks noGrp="1"/>
          </p:cNvSpPr>
          <p:nvPr>
            <p:ph type="body" idx="1"/>
          </p:nvPr>
        </p:nvSpPr>
        <p:spPr/>
        <p:txBody>
          <a:bodyPr/>
          <a:lstStyle/>
          <a:p>
            <a:r>
              <a:rPr lang="en-US" dirty="0"/>
              <a:t>Check https://learn.microsoft.com/en-us/azure/aks/concepts-vulnerability-management#worker-nodes for the details</a:t>
            </a:r>
          </a:p>
        </p:txBody>
      </p:sp>
      <p:sp>
        <p:nvSpPr>
          <p:cNvPr id="4" name="Slide Number Placeholder 3">
            <a:extLst>
              <a:ext uri="{FF2B5EF4-FFF2-40B4-BE49-F238E27FC236}">
                <a16:creationId xmlns:a16="http://schemas.microsoft.com/office/drawing/2014/main" id="{B6713D50-0089-01BC-96A4-9219D3BD9508}"/>
              </a:ext>
            </a:extLst>
          </p:cNvPr>
          <p:cNvSpPr>
            <a:spLocks noGrp="1"/>
          </p:cNvSpPr>
          <p:nvPr>
            <p:ph type="sldNum" sz="quarter" idx="5"/>
          </p:nvPr>
        </p:nvSpPr>
        <p:spPr/>
        <p:txBody>
          <a:bodyPr/>
          <a:lstStyle/>
          <a:p>
            <a:fld id="{08A7B8A6-DC2C-4E66-899B-3FF6576B90A7}" type="slidenum">
              <a:rPr lang="en-US" smtClean="0"/>
              <a:t>7</a:t>
            </a:fld>
            <a:endParaRPr lang="en-US"/>
          </a:p>
        </p:txBody>
      </p:sp>
    </p:spTree>
    <p:extLst>
      <p:ext uri="{BB962C8B-B14F-4D97-AF65-F5344CB8AC3E}">
        <p14:creationId xmlns:p14="http://schemas.microsoft.com/office/powerpoint/2010/main" val="167280953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C237C1-A7AE-F51C-1C13-2BA9A6994E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BE6FF46-64E2-7734-16BA-B31FBB8142D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916F860-47CF-6E66-7F16-B8489AF8E987}"/>
              </a:ext>
            </a:extLst>
          </p:cNvPr>
          <p:cNvSpPr>
            <a:spLocks noGrp="1"/>
          </p:cNvSpPr>
          <p:nvPr>
            <p:ph type="body" idx="1"/>
          </p:nvPr>
        </p:nvSpPr>
        <p:spPr/>
        <p:txBody>
          <a:bodyPr/>
          <a:lstStyle/>
          <a:p>
            <a:r>
              <a:rPr lang="en-US"/>
              <a:t>Check https://learn.microsoft.com/en-us/azure/aks/concepts-vulnerability-management#how-vulnerabilities-are-classified for the details</a:t>
            </a:r>
          </a:p>
        </p:txBody>
      </p:sp>
      <p:sp>
        <p:nvSpPr>
          <p:cNvPr id="4" name="Slide Number Placeholder 3">
            <a:extLst>
              <a:ext uri="{FF2B5EF4-FFF2-40B4-BE49-F238E27FC236}">
                <a16:creationId xmlns:a16="http://schemas.microsoft.com/office/drawing/2014/main" id="{9400A2A6-DB4A-A486-9547-6A29C3F31079}"/>
              </a:ext>
            </a:extLst>
          </p:cNvPr>
          <p:cNvSpPr>
            <a:spLocks noGrp="1"/>
          </p:cNvSpPr>
          <p:nvPr>
            <p:ph type="sldNum" sz="quarter" idx="5"/>
          </p:nvPr>
        </p:nvSpPr>
        <p:spPr/>
        <p:txBody>
          <a:bodyPr/>
          <a:lstStyle/>
          <a:p>
            <a:fld id="{08A7B8A6-DC2C-4E66-899B-3FF6576B90A7}" type="slidenum">
              <a:rPr lang="en-US" smtClean="0"/>
              <a:t>8</a:t>
            </a:fld>
            <a:endParaRPr lang="en-US"/>
          </a:p>
        </p:txBody>
      </p:sp>
    </p:spTree>
    <p:extLst>
      <p:ext uri="{BB962C8B-B14F-4D97-AF65-F5344CB8AC3E}">
        <p14:creationId xmlns:p14="http://schemas.microsoft.com/office/powerpoint/2010/main" val="102606314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85A561-B04A-E7F7-CE41-526A3A0F322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F1D6C2D-1807-56B6-0BE6-18E783D2488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B712F11-36F8-3507-9771-D61446B4345D}"/>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26DDE799-28BA-2CBE-179F-99E7F4785A5E}"/>
              </a:ext>
            </a:extLst>
          </p:cNvPr>
          <p:cNvSpPr>
            <a:spLocks noGrp="1"/>
          </p:cNvSpPr>
          <p:nvPr>
            <p:ph type="sldNum" sz="quarter" idx="5"/>
          </p:nvPr>
        </p:nvSpPr>
        <p:spPr/>
        <p:txBody>
          <a:bodyPr/>
          <a:lstStyle/>
          <a:p>
            <a:fld id="{08A7B8A6-DC2C-4E66-899B-3FF6576B90A7}" type="slidenum">
              <a:rPr lang="en-US" smtClean="0"/>
              <a:t>9</a:t>
            </a:fld>
            <a:endParaRPr lang="en-US"/>
          </a:p>
        </p:txBody>
      </p:sp>
    </p:spTree>
    <p:extLst>
      <p:ext uri="{BB962C8B-B14F-4D97-AF65-F5344CB8AC3E}">
        <p14:creationId xmlns:p14="http://schemas.microsoft.com/office/powerpoint/2010/main" val="23018973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8F61F3-D4E3-8A23-CEDC-419E0D024A3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2E3755E-DB6D-56CC-8CA7-38437FBD833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7417138-22FF-2996-A681-420970F9D3E0}"/>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29566E9F-9DC7-89D3-21FF-D003E7ED9B4C}"/>
              </a:ext>
            </a:extLst>
          </p:cNvPr>
          <p:cNvSpPr>
            <a:spLocks noGrp="1"/>
          </p:cNvSpPr>
          <p:nvPr>
            <p:ph type="sldNum" sz="quarter" idx="5"/>
          </p:nvPr>
        </p:nvSpPr>
        <p:spPr/>
        <p:txBody>
          <a:bodyPr/>
          <a:lstStyle/>
          <a:p>
            <a:fld id="{08A7B8A6-DC2C-4E66-899B-3FF6576B90A7}" type="slidenum">
              <a:rPr lang="en-US" smtClean="0"/>
              <a:t>10</a:t>
            </a:fld>
            <a:endParaRPr lang="en-US"/>
          </a:p>
        </p:txBody>
      </p:sp>
    </p:spTree>
    <p:extLst>
      <p:ext uri="{BB962C8B-B14F-4D97-AF65-F5344CB8AC3E}">
        <p14:creationId xmlns:p14="http://schemas.microsoft.com/office/powerpoint/2010/main" val="214305150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A969F3-3A96-8030-28D3-9119776D97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ED69618-0606-00F8-19CE-23B521D79D9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1861138-B890-8480-57BE-E7CAC90A6DD5}"/>
              </a:ext>
            </a:extLst>
          </p:cNvPr>
          <p:cNvSpPr>
            <a:spLocks noGrp="1"/>
          </p:cNvSpPr>
          <p:nvPr>
            <p:ph type="body" idx="1"/>
          </p:nvPr>
        </p:nvSpPr>
        <p:spPr/>
        <p:txBody>
          <a:bodyPr/>
          <a:lstStyle/>
          <a:p>
            <a:r>
              <a:rPr lang="en-US"/>
              <a:t>https://learn.microsoft.com/en-us/azure/confidential-computing/confidential-containers-aks-security-policy?toc=%2Fazure%2Faks%2Ftoc.json&amp;bc=%2Fazure%2Faks%2Fbreadcrumb%2Ftoc.json#security-policy-overview </a:t>
            </a:r>
          </a:p>
          <a:p>
            <a:endParaRPr lang="en-US"/>
          </a:p>
          <a:p>
            <a:r>
              <a:rPr lang="en-US" sz="1200" b="0" i="0" kern="1200">
                <a:solidFill>
                  <a:schemeClr val="tx1"/>
                </a:solidFill>
                <a:effectLst/>
                <a:latin typeface="+mn-lt"/>
                <a:ea typeface="+mn-ea"/>
                <a:cs typeface="+mn-cs"/>
              </a:rPr>
              <a:t>One of the main components of the </a:t>
            </a:r>
            <a:r>
              <a:rPr lang="en-US" sz="1200" b="0" i="0" u="none" strike="noStrike" kern="1200">
                <a:solidFill>
                  <a:schemeClr val="tx1"/>
                </a:solidFill>
                <a:effectLst/>
                <a:latin typeface="+mn-lt"/>
                <a:ea typeface="+mn-ea"/>
                <a:cs typeface="+mn-cs"/>
                <a:hlinkClick r:id="rId3"/>
              </a:rPr>
              <a:t>Kata Containers system architecture</a:t>
            </a:r>
            <a:r>
              <a:rPr lang="en-US" sz="1200" b="0" i="0" kern="1200">
                <a:solidFill>
                  <a:schemeClr val="tx1"/>
                </a:solidFill>
                <a:effectLst/>
                <a:latin typeface="+mn-lt"/>
                <a:ea typeface="+mn-ea"/>
                <a:cs typeface="+mn-cs"/>
              </a:rPr>
              <a:t> is the </a:t>
            </a:r>
            <a:r>
              <a:rPr lang="en-US" sz="1200" b="0" i="0" u="none" strike="noStrike" kern="1200">
                <a:solidFill>
                  <a:schemeClr val="tx1"/>
                </a:solidFill>
                <a:effectLst/>
                <a:latin typeface="+mn-lt"/>
                <a:ea typeface="+mn-ea"/>
                <a:cs typeface="+mn-cs"/>
                <a:hlinkClick r:id="rId4"/>
              </a:rPr>
              <a:t>Kata agent</a:t>
            </a:r>
            <a:r>
              <a:rPr lang="en-US" sz="1200" b="0" i="0" kern="1200">
                <a:solidFill>
                  <a:schemeClr val="tx1"/>
                </a:solidFill>
                <a:effectLst/>
                <a:latin typeface="+mn-lt"/>
                <a:ea typeface="+mn-ea"/>
                <a:cs typeface="+mn-cs"/>
              </a:rPr>
              <a:t>. </a:t>
            </a:r>
          </a:p>
          <a:p>
            <a:r>
              <a:rPr lang="en-US" sz="1200" b="0" i="0" kern="1200">
                <a:solidFill>
                  <a:schemeClr val="tx1"/>
                </a:solidFill>
                <a:effectLst/>
                <a:latin typeface="+mn-lt"/>
                <a:ea typeface="+mn-ea"/>
                <a:cs typeface="+mn-cs"/>
              </a:rPr>
              <a:t>When using Kata Containers to implement Confidential Containers, the agent is executed inside the hardware-based TEE and therefore is part of the pod's Trusted Computing Base (TCB). As shown in the diagram, the Kata agent provides a set of </a:t>
            </a:r>
            <a:r>
              <a:rPr lang="en-US" sz="1200" b="0" i="0" u="none" strike="noStrike" kern="1200" err="1">
                <a:solidFill>
                  <a:schemeClr val="tx1"/>
                </a:solidFill>
                <a:effectLst/>
                <a:latin typeface="+mn-lt"/>
                <a:ea typeface="+mn-ea"/>
                <a:cs typeface="+mn-cs"/>
                <a:hlinkClick r:id="rId5"/>
              </a:rPr>
              <a:t>ttrpc</a:t>
            </a:r>
            <a:r>
              <a:rPr lang="en-US" sz="1200" b="0" i="0" kern="1200">
                <a:solidFill>
                  <a:schemeClr val="tx1"/>
                </a:solidFill>
                <a:effectLst/>
                <a:latin typeface="+mn-lt"/>
                <a:ea typeface="+mn-ea"/>
                <a:cs typeface="+mn-cs"/>
              </a:rPr>
              <a:t> APIs allowing the system components outside of the TEE to create and manage Confidential-based Kubernetes pods. These other components (for example, the Kata Shim) aren't part of the pod's TCB. Therefore, the agent must protect itself from potentially buggy or malicious API calls.</a:t>
            </a:r>
          </a:p>
          <a:p>
            <a:endParaRPr lang="en-US"/>
          </a:p>
          <a:p>
            <a:r>
              <a:rPr lang="en-US"/>
              <a:t>In AKS Confidential Containers, the Kata agent API self-protection is implemented using a security policy (also known as the Kata Agent Policy), specified by the owners of the confidential pods. The policy document contains rules and data corresponding to each pod, using the industry standard Rego policy language. The enforcement of the policy inside the Utility VM (UVM) is implemented using the Open Policy Agent (OPA) – a graduated project of the Cloud Native Computing Foundation (CNCF).</a:t>
            </a:r>
          </a:p>
        </p:txBody>
      </p:sp>
      <p:sp>
        <p:nvSpPr>
          <p:cNvPr id="4" name="Slide Number Placeholder 3">
            <a:extLst>
              <a:ext uri="{FF2B5EF4-FFF2-40B4-BE49-F238E27FC236}">
                <a16:creationId xmlns:a16="http://schemas.microsoft.com/office/drawing/2014/main" id="{22F88BEA-3140-2653-C6D7-F00A7CF3BE45}"/>
              </a:ext>
            </a:extLst>
          </p:cNvPr>
          <p:cNvSpPr>
            <a:spLocks noGrp="1"/>
          </p:cNvSpPr>
          <p:nvPr>
            <p:ph type="sldNum" sz="quarter" idx="5"/>
          </p:nvPr>
        </p:nvSpPr>
        <p:spPr/>
        <p:txBody>
          <a:bodyPr/>
          <a:lstStyle/>
          <a:p>
            <a:fld id="{08A7B8A6-DC2C-4E66-899B-3FF6576B90A7}" type="slidenum">
              <a:rPr lang="en-US" smtClean="0"/>
              <a:t>11</a:t>
            </a:fld>
            <a:endParaRPr lang="en-US"/>
          </a:p>
        </p:txBody>
      </p:sp>
    </p:spTree>
    <p:extLst>
      <p:ext uri="{BB962C8B-B14F-4D97-AF65-F5344CB8AC3E}">
        <p14:creationId xmlns:p14="http://schemas.microsoft.com/office/powerpoint/2010/main" val="88220563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82677A-3501-FDE8-6508-AA824786E8C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94382FE-FE90-D0A0-DCAB-0BC665FA7FD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8DCE9DF-9820-8348-9EE0-F04777253F30}"/>
              </a:ext>
            </a:extLst>
          </p:cNvPr>
          <p:cNvSpPr>
            <a:spLocks noGrp="1"/>
          </p:cNvSpPr>
          <p:nvPr>
            <p:ph type="body" idx="1"/>
          </p:nvPr>
        </p:nvSpPr>
        <p:spPr/>
        <p:txBody>
          <a:bodyPr/>
          <a:lstStyle/>
          <a:p>
            <a:r>
              <a:rPr lang="en-US"/>
              <a:t>https://learn.microsoft.com/en-us/azure/confidential-computing/confidential-containers-aks-security-policy?toc=%2Fazure%2Faks%2Ftoc.json&amp;bc=%2Fazure%2Faks%2Fbreadcrumb%2Ftoc.json#policy-contents </a:t>
            </a:r>
          </a:p>
        </p:txBody>
      </p:sp>
      <p:sp>
        <p:nvSpPr>
          <p:cNvPr id="4" name="Slide Number Placeholder 3">
            <a:extLst>
              <a:ext uri="{FF2B5EF4-FFF2-40B4-BE49-F238E27FC236}">
                <a16:creationId xmlns:a16="http://schemas.microsoft.com/office/drawing/2014/main" id="{76466529-1F14-CDF2-5F97-7D5A439F1D22}"/>
              </a:ext>
            </a:extLst>
          </p:cNvPr>
          <p:cNvSpPr>
            <a:spLocks noGrp="1"/>
          </p:cNvSpPr>
          <p:nvPr>
            <p:ph type="sldNum" sz="quarter" idx="5"/>
          </p:nvPr>
        </p:nvSpPr>
        <p:spPr/>
        <p:txBody>
          <a:bodyPr/>
          <a:lstStyle/>
          <a:p>
            <a:fld id="{08A7B8A6-DC2C-4E66-899B-3FF6576B90A7}" type="slidenum">
              <a:rPr lang="en-US" smtClean="0"/>
              <a:t>12</a:t>
            </a:fld>
            <a:endParaRPr lang="en-US"/>
          </a:p>
        </p:txBody>
      </p:sp>
    </p:spTree>
    <p:extLst>
      <p:ext uri="{BB962C8B-B14F-4D97-AF65-F5344CB8AC3E}">
        <p14:creationId xmlns:p14="http://schemas.microsoft.com/office/powerpoint/2010/main" val="267353016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0D7CA7-EAC9-E7A2-A80E-9306F0301DB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276AFBE-7D95-AFAB-9324-EAE30DCD139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9C71E70-17BD-CDE7-FC0D-B40A6F3554FF}"/>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C88844A4-D8F8-E100-A7B9-7BEB12CA7EDB}"/>
              </a:ext>
            </a:extLst>
          </p:cNvPr>
          <p:cNvSpPr>
            <a:spLocks noGrp="1"/>
          </p:cNvSpPr>
          <p:nvPr>
            <p:ph type="sldNum" sz="quarter" idx="5"/>
          </p:nvPr>
        </p:nvSpPr>
        <p:spPr/>
        <p:txBody>
          <a:bodyPr/>
          <a:lstStyle/>
          <a:p>
            <a:fld id="{08A7B8A6-DC2C-4E66-899B-3FF6576B90A7}" type="slidenum">
              <a:rPr lang="en-US" smtClean="0"/>
              <a:t>14</a:t>
            </a:fld>
            <a:endParaRPr lang="en-US"/>
          </a:p>
        </p:txBody>
      </p:sp>
    </p:spTree>
    <p:extLst>
      <p:ext uri="{BB962C8B-B14F-4D97-AF65-F5344CB8AC3E}">
        <p14:creationId xmlns:p14="http://schemas.microsoft.com/office/powerpoint/2010/main" val="23869002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E371DF-42D9-41AA-7746-2A8008DF5CF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54DFCE1-D5B5-5AE5-D03D-445E7C17BB9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C634E89-753A-A6A1-4137-CDD3469C23AB}"/>
              </a:ext>
            </a:extLst>
          </p:cNvPr>
          <p:cNvSpPr>
            <a:spLocks noGrp="1"/>
          </p:cNvSpPr>
          <p:nvPr>
            <p:ph type="body" idx="1"/>
          </p:nvPr>
        </p:nvSpPr>
        <p:spPr/>
        <p:txBody>
          <a:bodyPr/>
          <a:lstStyle/>
          <a:p>
            <a:endParaRPr lang="fr-FR"/>
          </a:p>
        </p:txBody>
      </p:sp>
      <p:sp>
        <p:nvSpPr>
          <p:cNvPr id="4" name="Slide Number Placeholder 3">
            <a:extLst>
              <a:ext uri="{FF2B5EF4-FFF2-40B4-BE49-F238E27FC236}">
                <a16:creationId xmlns:a16="http://schemas.microsoft.com/office/drawing/2014/main" id="{3BB8AB60-85F0-1A40-A49A-F0101528F29B}"/>
              </a:ext>
            </a:extLst>
          </p:cNvPr>
          <p:cNvSpPr>
            <a:spLocks noGrp="1"/>
          </p:cNvSpPr>
          <p:nvPr>
            <p:ph type="sldNum" sz="quarter" idx="5"/>
          </p:nvPr>
        </p:nvSpPr>
        <p:spPr/>
        <p:txBody>
          <a:bodyPr/>
          <a:lstStyle/>
          <a:p>
            <a:fld id="{08A7B8A6-DC2C-4E66-899B-3FF6576B90A7}" type="slidenum">
              <a:rPr lang="en-US" smtClean="0"/>
              <a:t>16</a:t>
            </a:fld>
            <a:endParaRPr lang="en-US"/>
          </a:p>
        </p:txBody>
      </p:sp>
    </p:spTree>
    <p:extLst>
      <p:ext uri="{BB962C8B-B14F-4D97-AF65-F5344CB8AC3E}">
        <p14:creationId xmlns:p14="http://schemas.microsoft.com/office/powerpoint/2010/main" val="109998377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6962F0-86B7-0343-B325-875E774811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4A4E4BE-4DE3-8DFB-066D-11102DA42FB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0DA85DE-46AA-7F7E-DFCB-22FF74FDBD8F}"/>
              </a:ext>
            </a:extLst>
          </p:cNvPr>
          <p:cNvSpPr>
            <a:spLocks noGrp="1"/>
          </p:cNvSpPr>
          <p:nvPr>
            <p:ph type="body" idx="1"/>
          </p:nvPr>
        </p:nvSpPr>
        <p:spPr/>
        <p:txBody>
          <a:bodyPr/>
          <a:lstStyle/>
          <a:p>
            <a:r>
              <a:rPr lang="en-US"/>
              <a:t>Explain the content in https://learn.microsoft.com/en-us/azure/defender-for-cloud/defender-for-containers-introduction </a:t>
            </a:r>
          </a:p>
          <a:p>
            <a:r>
              <a:rPr lang="fr-FR"/>
              <a:t>https://learn.microsoft.com/en-us/azure/defender-for-cloud/defender-for-containers-introduction?toc=%2Fazure%2Faks%2Ftoc.json&amp;bc=%2Fazure%2Faks%2Fbreadcrumb%2Ftoc.json</a:t>
            </a:r>
          </a:p>
        </p:txBody>
      </p:sp>
      <p:sp>
        <p:nvSpPr>
          <p:cNvPr id="4" name="Slide Number Placeholder 3">
            <a:extLst>
              <a:ext uri="{FF2B5EF4-FFF2-40B4-BE49-F238E27FC236}">
                <a16:creationId xmlns:a16="http://schemas.microsoft.com/office/drawing/2014/main" id="{E262DB42-FF2F-4395-A3B9-F1FE16EE3226}"/>
              </a:ext>
            </a:extLst>
          </p:cNvPr>
          <p:cNvSpPr>
            <a:spLocks noGrp="1"/>
          </p:cNvSpPr>
          <p:nvPr>
            <p:ph type="sldNum" sz="quarter" idx="5"/>
          </p:nvPr>
        </p:nvSpPr>
        <p:spPr/>
        <p:txBody>
          <a:bodyPr/>
          <a:lstStyle/>
          <a:p>
            <a:fld id="{08A7B8A6-DC2C-4E66-899B-3FF6576B90A7}" type="slidenum">
              <a:rPr lang="en-US" smtClean="0"/>
              <a:t>17</a:t>
            </a:fld>
            <a:endParaRPr lang="en-US"/>
          </a:p>
        </p:txBody>
      </p:sp>
    </p:spTree>
    <p:extLst>
      <p:ext uri="{BB962C8B-B14F-4D97-AF65-F5344CB8AC3E}">
        <p14:creationId xmlns:p14="http://schemas.microsoft.com/office/powerpoint/2010/main" val="71273299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Manually setup Defender for AKS via Azure Portal</a:t>
            </a:r>
          </a:p>
          <a:p>
            <a:r>
              <a:rPr lang="en-US"/>
              <a:t>AKSDeepDive\src\DDSecurity\ContainerSecurity\checkDefenderSetup.sh</a:t>
            </a:r>
          </a:p>
          <a:p>
            <a:r>
              <a:rPr lang="en-US"/>
              <a:t>AKSDeepDive\src\DDSecurity\KubernetesAlertSimulator\simulate.sh</a:t>
            </a:r>
          </a:p>
          <a:p>
            <a:endParaRPr lang="en-US"/>
          </a:p>
          <a:p>
            <a:r>
              <a:rPr lang="en-US"/>
              <a:t>https://learn.microsoft.com/en-us/azure/defender-for-cloud/alerts-containers#install-the-simulation-tool</a:t>
            </a:r>
          </a:p>
          <a:p>
            <a:endParaRPr lang="en-US"/>
          </a:p>
        </p:txBody>
      </p:sp>
      <p:sp>
        <p:nvSpPr>
          <p:cNvPr id="4" name="Slide Number Placeholder 3"/>
          <p:cNvSpPr>
            <a:spLocks noGrp="1"/>
          </p:cNvSpPr>
          <p:nvPr>
            <p:ph type="sldNum" sz="quarter" idx="5"/>
          </p:nvPr>
        </p:nvSpPr>
        <p:spPr/>
        <p:txBody>
          <a:bodyPr/>
          <a:lstStyle/>
          <a:p>
            <a:fld id="{08A7B8A6-DC2C-4E66-899B-3FF6576B90A7}" type="slidenum">
              <a:rPr lang="en-US" smtClean="0"/>
              <a:t>18</a:t>
            </a:fld>
            <a:endParaRPr lang="en-US"/>
          </a:p>
        </p:txBody>
      </p:sp>
    </p:spTree>
    <p:extLst>
      <p:ext uri="{BB962C8B-B14F-4D97-AF65-F5344CB8AC3E}">
        <p14:creationId xmlns:p14="http://schemas.microsoft.com/office/powerpoint/2010/main" val="3661119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891580-8E57-7C57-5AC2-4644B344F51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8E4F48F-4FD0-30C9-BDBF-67FC232BDDA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2B2B14D-4582-AC0F-019E-F099363051F1}"/>
              </a:ext>
            </a:extLst>
          </p:cNvPr>
          <p:cNvSpPr>
            <a:spLocks noGrp="1"/>
          </p:cNvSpPr>
          <p:nvPr>
            <p:ph type="body" idx="1"/>
          </p:nvPr>
        </p:nvSpPr>
        <p:spPr/>
        <p:txBody>
          <a:bodyPr/>
          <a:lstStyle/>
          <a:p>
            <a:r>
              <a:rPr lang="en-US"/>
              <a:t>https://learn.microsoft.com/en-us/azure/confidential-computing/confidential-node-pool-aks </a:t>
            </a:r>
          </a:p>
          <a:p>
            <a:r>
              <a:rPr lang="en-US"/>
              <a:t>https://techcommunity.microsoft.com/blog/azureconfidentialcomputingblog/amd-sev-snp-confidential-vm-nodes-are-now-generally-available-in-aks/3649065 </a:t>
            </a:r>
          </a:p>
          <a:p>
            <a:r>
              <a:rPr lang="en-US"/>
              <a:t>https://github.com/Azure/confidential-computing-cvm-guest-attestation/blob/main/aks-linux-sample/README.md </a:t>
            </a:r>
          </a:p>
          <a:p>
            <a:r>
              <a:rPr lang="en-US"/>
              <a:t>https://youtu.be/mkCSGGNtwmc </a:t>
            </a:r>
          </a:p>
          <a:p>
            <a:endParaRPr lang="en-US"/>
          </a:p>
          <a:p>
            <a:r>
              <a:rPr lang="en-US"/>
              <a:t>In the context of a </a:t>
            </a:r>
            <a:r>
              <a:rPr lang="en-US" b="1"/>
              <a:t>Trusted Execution Environment (TEE)</a:t>
            </a:r>
            <a:r>
              <a:rPr lang="en-US"/>
              <a:t>, </a:t>
            </a:r>
            <a:r>
              <a:rPr lang="en-US" b="1"/>
              <a:t>attest</a:t>
            </a:r>
            <a:r>
              <a:rPr lang="en-US"/>
              <a:t> means:</a:t>
            </a:r>
          </a:p>
          <a:p>
            <a:r>
              <a:rPr lang="en-US" b="1"/>
              <a:t>To cryptographically prove that a piece of code is running inside a genuine, untampered secure environment.</a:t>
            </a:r>
            <a:endParaRPr lang="en-US"/>
          </a:p>
          <a:p>
            <a:r>
              <a:rPr lang="en-US"/>
              <a:t>It is essentially a </a:t>
            </a:r>
            <a:r>
              <a:rPr lang="en-US" b="1"/>
              <a:t>verifiable proof of trust</a:t>
            </a:r>
            <a:r>
              <a:rPr lang="en-US"/>
              <a:t>.</a:t>
            </a:r>
          </a:p>
          <a:p>
            <a:br>
              <a:rPr lang="en-US"/>
            </a:br>
            <a:endParaRPr lang="en-US"/>
          </a:p>
          <a:p>
            <a:r>
              <a:rPr lang="en-US" b="1"/>
              <a:t>🔐 What Is a Trusted Execution Environment (TEE)?</a:t>
            </a:r>
          </a:p>
          <a:p>
            <a:r>
              <a:rPr lang="en-US"/>
              <a:t>A TEE is a secure area of a processor that:</a:t>
            </a:r>
          </a:p>
          <a:p>
            <a:r>
              <a:rPr lang="en-US"/>
              <a:t>Isolated from the normal OS</a:t>
            </a:r>
          </a:p>
          <a:p>
            <a:r>
              <a:rPr lang="en-US"/>
              <a:t>Protects code and data from the host system</a:t>
            </a:r>
          </a:p>
          <a:p>
            <a:r>
              <a:rPr lang="en-US"/>
              <a:t>Prevents tampering—even by admins or hypervisors</a:t>
            </a:r>
          </a:p>
          <a:p>
            <a:r>
              <a:rPr lang="en-US"/>
              <a:t>Examples:</a:t>
            </a:r>
          </a:p>
          <a:p>
            <a:r>
              <a:rPr lang="en-US"/>
              <a:t>Intel SGX</a:t>
            </a:r>
          </a:p>
          <a:p>
            <a:r>
              <a:rPr lang="en-US"/>
              <a:t>AMD SEV-SNP</a:t>
            </a:r>
          </a:p>
          <a:p>
            <a:r>
              <a:rPr lang="en-US"/>
              <a:t>ARM </a:t>
            </a:r>
            <a:r>
              <a:rPr lang="en-US" err="1"/>
              <a:t>TrustZone</a:t>
            </a:r>
            <a:endParaRPr lang="en-US"/>
          </a:p>
          <a:p>
            <a:r>
              <a:rPr lang="en-US"/>
              <a:t>Azure Confidential Computing</a:t>
            </a:r>
          </a:p>
          <a:p>
            <a:br>
              <a:rPr lang="en-US"/>
            </a:br>
            <a:endParaRPr lang="en-US"/>
          </a:p>
          <a:p>
            <a:r>
              <a:rPr lang="en-US" b="1"/>
              <a:t>🧠 What “Attestation” Actually Means</a:t>
            </a:r>
          </a:p>
          <a:p>
            <a:r>
              <a:rPr lang="en-US"/>
              <a:t>Attestation answers this question:</a:t>
            </a:r>
          </a:p>
          <a:p>
            <a:r>
              <a:rPr lang="en-US"/>
              <a:t>"How do I know this code is really running inside a secure enclave and hasn't been modified?"</a:t>
            </a:r>
          </a:p>
          <a:p>
            <a:r>
              <a:rPr lang="en-US"/>
              <a:t>It works using:</a:t>
            </a:r>
          </a:p>
          <a:p>
            <a:r>
              <a:rPr lang="en-US" b="1"/>
              <a:t>Measurement</a:t>
            </a:r>
            <a:r>
              <a:rPr lang="en-US"/>
              <a:t> (hash of code + configuration)</a:t>
            </a:r>
          </a:p>
          <a:p>
            <a:r>
              <a:rPr lang="en-US" b="1"/>
              <a:t>Signing</a:t>
            </a:r>
            <a:r>
              <a:rPr lang="en-US"/>
              <a:t> by hardware root of trust</a:t>
            </a:r>
          </a:p>
          <a:p>
            <a:r>
              <a:rPr lang="en-US" b="1"/>
              <a:t>Verification</a:t>
            </a:r>
            <a:r>
              <a:rPr lang="en-US"/>
              <a:t> by a remote party</a:t>
            </a:r>
          </a:p>
          <a:p>
            <a:br>
              <a:rPr lang="en-US"/>
            </a:br>
            <a:endParaRPr lang="en-US"/>
          </a:p>
          <a:p>
            <a:r>
              <a:rPr lang="en-US" b="1"/>
              <a:t>🔎 Two Types of Attestation</a:t>
            </a:r>
          </a:p>
          <a:p>
            <a:r>
              <a:rPr lang="en-US" b="1"/>
              <a:t>1️⃣ Local Attestation</a:t>
            </a:r>
          </a:p>
          <a:p>
            <a:r>
              <a:rPr lang="en-US"/>
              <a:t>One enclave verifies another enclave on the same machine</a:t>
            </a:r>
          </a:p>
          <a:p>
            <a:r>
              <a:rPr lang="en-US" b="1"/>
              <a:t>2️⃣ Remote Attestation (Most Important in Cloud)</a:t>
            </a:r>
          </a:p>
          <a:p>
            <a:r>
              <a:rPr lang="en-US"/>
              <a:t>A remote service verifies the TEE</a:t>
            </a:r>
          </a:p>
          <a:p>
            <a:r>
              <a:rPr lang="en-US"/>
              <a:t>Used heavily in cloud confidential computing</a:t>
            </a:r>
          </a:p>
          <a:p>
            <a:br>
              <a:rPr lang="en-US"/>
            </a:br>
            <a:endParaRPr lang="en-US"/>
          </a:p>
          <a:p>
            <a:r>
              <a:rPr lang="en-US" b="1"/>
              <a:t>🔄 Simplified Remote Attestation Flow</a:t>
            </a:r>
          </a:p>
          <a:p>
            <a:r>
              <a:rPr lang="en-US"/>
              <a:t>Workload starts inside TEE</a:t>
            </a:r>
          </a:p>
          <a:p>
            <a:r>
              <a:rPr lang="en-US"/>
              <a:t>Hardware calculates cryptographic measurement</a:t>
            </a:r>
          </a:p>
          <a:p>
            <a:r>
              <a:rPr lang="en-US"/>
              <a:t>Hardware signs it</a:t>
            </a:r>
          </a:p>
          <a:p>
            <a:r>
              <a:rPr lang="en-US"/>
              <a:t>Proof (attestation report) is sent to verifier</a:t>
            </a:r>
          </a:p>
          <a:p>
            <a:r>
              <a:rPr lang="en-US"/>
              <a:t>Verifier checks signature + measurement</a:t>
            </a:r>
          </a:p>
          <a:p>
            <a:r>
              <a:rPr lang="en-US"/>
              <a:t>If valid → secrets are released</a:t>
            </a:r>
          </a:p>
          <a:p>
            <a:r>
              <a:rPr lang="en-US"/>
              <a:t>No valid attestation → </a:t>
            </a:r>
            <a:r>
              <a:rPr lang="en-US" b="1"/>
              <a:t>no secrets</a:t>
            </a:r>
            <a:r>
              <a:rPr lang="en-US"/>
              <a:t>.</a:t>
            </a:r>
          </a:p>
          <a:p>
            <a:br>
              <a:rPr lang="en-US"/>
            </a:br>
            <a:endParaRPr lang="en-US"/>
          </a:p>
          <a:p>
            <a:r>
              <a:rPr lang="en-US" b="1"/>
              <a:t>🏗 Why This Matters (Especially in Cloud / AKS Context)</a:t>
            </a:r>
          </a:p>
          <a:p>
            <a:r>
              <a:rPr lang="en-US"/>
              <a:t>Since you're working with Azure, AKS, and secure workloads:</a:t>
            </a:r>
          </a:p>
          <a:p>
            <a:r>
              <a:rPr lang="en-US"/>
              <a:t>Attestation is critical for:</a:t>
            </a:r>
          </a:p>
          <a:p>
            <a:r>
              <a:rPr lang="en-US"/>
              <a:t>Confidential Containers</a:t>
            </a:r>
          </a:p>
          <a:p>
            <a:r>
              <a:rPr lang="en-US"/>
              <a:t>Protecting AI models</a:t>
            </a:r>
          </a:p>
          <a:p>
            <a:r>
              <a:rPr lang="en-US"/>
              <a:t>Secure key release</a:t>
            </a:r>
          </a:p>
          <a:p>
            <a:r>
              <a:rPr lang="en-US"/>
              <a:t>Zero-trust compute</a:t>
            </a:r>
          </a:p>
          <a:p>
            <a:r>
              <a:rPr lang="en-US"/>
              <a:t>Preventing host compromise attacks</a:t>
            </a:r>
          </a:p>
          <a:p>
            <a:r>
              <a:rPr lang="en-US"/>
              <a:t>For example:</a:t>
            </a:r>
          </a:p>
          <a:p>
            <a:r>
              <a:rPr lang="en-US"/>
              <a:t>Microsoft Azure Attestation verifies TEE claims.</a:t>
            </a:r>
          </a:p>
          <a:p>
            <a:r>
              <a:rPr lang="en-US"/>
              <a:t>Confidential Containers use attestation before injecting secrets.</a:t>
            </a:r>
          </a:p>
          <a:p>
            <a:br>
              <a:rPr lang="en-US"/>
            </a:br>
            <a:endParaRPr lang="en-US"/>
          </a:p>
          <a:p>
            <a:r>
              <a:rPr lang="en-US" b="1"/>
              <a:t>🔐 Real-World Example</a:t>
            </a:r>
          </a:p>
          <a:p>
            <a:r>
              <a:rPr lang="en-US"/>
              <a:t>Imagine:</a:t>
            </a:r>
          </a:p>
          <a:p>
            <a:r>
              <a:rPr lang="en-US"/>
              <a:t>You deploy a sensitive AI model to a confidential VM.</a:t>
            </a:r>
          </a:p>
          <a:p>
            <a:r>
              <a:rPr lang="en-US"/>
              <a:t>Before sending the model encryption key:</a:t>
            </a:r>
          </a:p>
          <a:p>
            <a:r>
              <a:rPr lang="en-US"/>
              <a:t>You require attestation proof</a:t>
            </a:r>
          </a:p>
          <a:p>
            <a:r>
              <a:rPr lang="en-US"/>
              <a:t>You verify the measurement</a:t>
            </a:r>
          </a:p>
          <a:p>
            <a:r>
              <a:rPr lang="en-US"/>
              <a:t>Only then release the key</a:t>
            </a:r>
          </a:p>
          <a:p>
            <a:r>
              <a:rPr lang="en-US"/>
              <a:t>This ensures:</a:t>
            </a:r>
          </a:p>
          <a:p>
            <a:r>
              <a:rPr lang="en-US"/>
              <a:t>Cloud provider admins cannot inspect it</a:t>
            </a:r>
          </a:p>
          <a:p>
            <a:r>
              <a:rPr lang="en-US"/>
              <a:t>Hypervisor compromise cannot access it</a:t>
            </a:r>
          </a:p>
          <a:p>
            <a:r>
              <a:rPr lang="en-US"/>
              <a:t>Root access on host cannot dump memory</a:t>
            </a:r>
          </a:p>
          <a:p>
            <a:br>
              <a:rPr lang="en-US"/>
            </a:br>
            <a:endParaRPr lang="en-US"/>
          </a:p>
          <a:p>
            <a:r>
              <a:rPr lang="en-US" b="1"/>
              <a:t>🧩 In One Sentence</a:t>
            </a:r>
          </a:p>
          <a:p>
            <a:r>
              <a:rPr lang="en-US" b="1"/>
              <a:t>Attestation is the cryptographic proof that code is running in a genuine, untampered Trusted Execution Environment.</a:t>
            </a:r>
            <a:endParaRPr lang="en-US"/>
          </a:p>
          <a:p>
            <a:br>
              <a:rPr lang="en-US"/>
            </a:br>
            <a:endParaRPr lang="en-US"/>
          </a:p>
          <a:p>
            <a:endParaRPr lang="en-US"/>
          </a:p>
        </p:txBody>
      </p:sp>
      <p:sp>
        <p:nvSpPr>
          <p:cNvPr id="4" name="Slide Number Placeholder 3">
            <a:extLst>
              <a:ext uri="{FF2B5EF4-FFF2-40B4-BE49-F238E27FC236}">
                <a16:creationId xmlns:a16="http://schemas.microsoft.com/office/drawing/2014/main" id="{B80D8B55-A055-467F-4636-356D88D43707}"/>
              </a:ext>
            </a:extLst>
          </p:cNvPr>
          <p:cNvSpPr>
            <a:spLocks noGrp="1"/>
          </p:cNvSpPr>
          <p:nvPr>
            <p:ph type="sldNum" sz="quarter" idx="5"/>
          </p:nvPr>
        </p:nvSpPr>
        <p:spPr/>
        <p:txBody>
          <a:bodyPr/>
          <a:lstStyle/>
          <a:p>
            <a:fld id="{08A7B8A6-DC2C-4E66-899B-3FF6576B90A7}" type="slidenum">
              <a:rPr lang="en-US" smtClean="0"/>
              <a:t>19</a:t>
            </a:fld>
            <a:endParaRPr lang="en-US"/>
          </a:p>
        </p:txBody>
      </p:sp>
    </p:spTree>
    <p:extLst>
      <p:ext uri="{BB962C8B-B14F-4D97-AF65-F5344CB8AC3E}">
        <p14:creationId xmlns:p14="http://schemas.microsoft.com/office/powerpoint/2010/main" val="103984898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52F8E1-7813-9C74-30BF-20D151631C7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1AC9392-5BF5-AB2F-B7D8-7149878E9E1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2068D0C-F236-3B2A-9601-FE637500C05D}"/>
              </a:ext>
            </a:extLst>
          </p:cNvPr>
          <p:cNvSpPr>
            <a:spLocks noGrp="1"/>
          </p:cNvSpPr>
          <p:nvPr>
            <p:ph type="body" idx="1"/>
          </p:nvPr>
        </p:nvSpPr>
        <p:spPr/>
        <p:txBody>
          <a:bodyPr/>
          <a:lstStyle/>
          <a:p>
            <a:r>
              <a:rPr lang="en-US"/>
              <a:t>https://learn.microsoft.com/en-us/azure/confidential-computing/confidential-node-pool-aks </a:t>
            </a:r>
          </a:p>
          <a:p>
            <a:r>
              <a:rPr lang="en-US"/>
              <a:t>https://techcommunity.microsoft.com/blog/azureconfidentialcomputingblog/amd-sev-snp-confidential-vm-nodes-are-now-generally-available-in-aks/3649065 </a:t>
            </a:r>
          </a:p>
          <a:p>
            <a:r>
              <a:rPr lang="en-US"/>
              <a:t>https://github.com/Azure/confidential-computing-cvm-guest-attestation/blob/main/aks-linux-sample/README.md </a:t>
            </a:r>
          </a:p>
          <a:p>
            <a:r>
              <a:rPr lang="en-US"/>
              <a:t>https://youtu.be/mkCSGGNtwmc </a:t>
            </a:r>
          </a:p>
          <a:p>
            <a:endParaRPr lang="en-US"/>
          </a:p>
          <a:p>
            <a:r>
              <a:rPr lang="en-US"/>
              <a:t>In the context of a </a:t>
            </a:r>
            <a:r>
              <a:rPr lang="en-US" b="1"/>
              <a:t>Trusted Execution Environment (TEE)</a:t>
            </a:r>
            <a:r>
              <a:rPr lang="en-US"/>
              <a:t>, </a:t>
            </a:r>
            <a:r>
              <a:rPr lang="en-US" b="1"/>
              <a:t>attest</a:t>
            </a:r>
            <a:r>
              <a:rPr lang="en-US"/>
              <a:t> means:</a:t>
            </a:r>
          </a:p>
          <a:p>
            <a:r>
              <a:rPr lang="en-US" b="1"/>
              <a:t>To cryptographically prove that a piece of code is running inside a genuine, untampered secure environment.</a:t>
            </a:r>
            <a:endParaRPr lang="en-US"/>
          </a:p>
          <a:p>
            <a:r>
              <a:rPr lang="en-US"/>
              <a:t>It is essentially a </a:t>
            </a:r>
            <a:r>
              <a:rPr lang="en-US" b="1"/>
              <a:t>verifiable proof of trust</a:t>
            </a:r>
            <a:r>
              <a:rPr lang="en-US"/>
              <a:t>.</a:t>
            </a:r>
          </a:p>
          <a:p>
            <a:br>
              <a:rPr lang="en-US"/>
            </a:br>
            <a:endParaRPr lang="en-US"/>
          </a:p>
          <a:p>
            <a:r>
              <a:rPr lang="en-US" b="1"/>
              <a:t>🔐 What Is a Trusted Execution Environment (TEE)?</a:t>
            </a:r>
          </a:p>
          <a:p>
            <a:r>
              <a:rPr lang="en-US"/>
              <a:t>A TEE is a secure area of a processor that:</a:t>
            </a:r>
          </a:p>
          <a:p>
            <a:r>
              <a:rPr lang="en-US"/>
              <a:t>Isolated from the normal OS</a:t>
            </a:r>
          </a:p>
          <a:p>
            <a:r>
              <a:rPr lang="en-US"/>
              <a:t>Protects code and data from the host system</a:t>
            </a:r>
          </a:p>
          <a:p>
            <a:r>
              <a:rPr lang="en-US"/>
              <a:t>Prevents tampering—even by admins or hypervisors</a:t>
            </a:r>
          </a:p>
          <a:p>
            <a:r>
              <a:rPr lang="en-US"/>
              <a:t>Examples:</a:t>
            </a:r>
          </a:p>
          <a:p>
            <a:r>
              <a:rPr lang="en-US"/>
              <a:t>Intel SGX</a:t>
            </a:r>
          </a:p>
          <a:p>
            <a:r>
              <a:rPr lang="en-US"/>
              <a:t>AMD SEV-SNP</a:t>
            </a:r>
          </a:p>
          <a:p>
            <a:r>
              <a:rPr lang="en-US"/>
              <a:t>ARM </a:t>
            </a:r>
            <a:r>
              <a:rPr lang="en-US" err="1"/>
              <a:t>TrustZone</a:t>
            </a:r>
            <a:endParaRPr lang="en-US"/>
          </a:p>
          <a:p>
            <a:r>
              <a:rPr lang="en-US"/>
              <a:t>Azure Confidential Computing</a:t>
            </a:r>
          </a:p>
          <a:p>
            <a:br>
              <a:rPr lang="en-US"/>
            </a:br>
            <a:endParaRPr lang="en-US"/>
          </a:p>
          <a:p>
            <a:r>
              <a:rPr lang="en-US" b="1"/>
              <a:t>🧠 What “Attestation” Actually Means</a:t>
            </a:r>
          </a:p>
          <a:p>
            <a:r>
              <a:rPr lang="en-US"/>
              <a:t>Attestation answers this question:</a:t>
            </a:r>
          </a:p>
          <a:p>
            <a:r>
              <a:rPr lang="en-US"/>
              <a:t>"How do I know this code is really running inside a secure enclave and hasn't been modified?"</a:t>
            </a:r>
          </a:p>
          <a:p>
            <a:r>
              <a:rPr lang="en-US"/>
              <a:t>It works using:</a:t>
            </a:r>
          </a:p>
          <a:p>
            <a:r>
              <a:rPr lang="en-US" b="1"/>
              <a:t>Measurement</a:t>
            </a:r>
            <a:r>
              <a:rPr lang="en-US"/>
              <a:t> (hash of code + configuration)</a:t>
            </a:r>
          </a:p>
          <a:p>
            <a:r>
              <a:rPr lang="en-US" b="1"/>
              <a:t>Signing</a:t>
            </a:r>
            <a:r>
              <a:rPr lang="en-US"/>
              <a:t> by hardware root of trust</a:t>
            </a:r>
          </a:p>
          <a:p>
            <a:r>
              <a:rPr lang="en-US" b="1"/>
              <a:t>Verification</a:t>
            </a:r>
            <a:r>
              <a:rPr lang="en-US"/>
              <a:t> by a remote party</a:t>
            </a:r>
          </a:p>
          <a:p>
            <a:br>
              <a:rPr lang="en-US"/>
            </a:br>
            <a:endParaRPr lang="en-US"/>
          </a:p>
          <a:p>
            <a:r>
              <a:rPr lang="en-US" b="1"/>
              <a:t>🔎 Two Types of Attestation</a:t>
            </a:r>
          </a:p>
          <a:p>
            <a:r>
              <a:rPr lang="en-US" b="1"/>
              <a:t>1️⃣ Local Attestation</a:t>
            </a:r>
          </a:p>
          <a:p>
            <a:r>
              <a:rPr lang="en-US"/>
              <a:t>One enclave verifies another enclave on the same machine</a:t>
            </a:r>
          </a:p>
          <a:p>
            <a:r>
              <a:rPr lang="en-US" b="1"/>
              <a:t>2️⃣ Remote Attestation (Most Important in Cloud)</a:t>
            </a:r>
          </a:p>
          <a:p>
            <a:r>
              <a:rPr lang="en-US"/>
              <a:t>A remote service verifies the TEE</a:t>
            </a:r>
          </a:p>
          <a:p>
            <a:r>
              <a:rPr lang="en-US"/>
              <a:t>Used heavily in cloud confidential computing</a:t>
            </a:r>
          </a:p>
          <a:p>
            <a:br>
              <a:rPr lang="en-US"/>
            </a:br>
            <a:endParaRPr lang="en-US"/>
          </a:p>
          <a:p>
            <a:r>
              <a:rPr lang="en-US" b="1"/>
              <a:t>🔄 Simplified Remote Attestation Flow</a:t>
            </a:r>
          </a:p>
          <a:p>
            <a:r>
              <a:rPr lang="en-US"/>
              <a:t>Workload starts inside TEE</a:t>
            </a:r>
          </a:p>
          <a:p>
            <a:r>
              <a:rPr lang="en-US"/>
              <a:t>Hardware calculates cryptographic measurement</a:t>
            </a:r>
          </a:p>
          <a:p>
            <a:r>
              <a:rPr lang="en-US"/>
              <a:t>Hardware signs it</a:t>
            </a:r>
          </a:p>
          <a:p>
            <a:r>
              <a:rPr lang="en-US"/>
              <a:t>Proof (attestation report) is sent to verifier</a:t>
            </a:r>
          </a:p>
          <a:p>
            <a:r>
              <a:rPr lang="en-US"/>
              <a:t>Verifier checks signature + measurement</a:t>
            </a:r>
          </a:p>
          <a:p>
            <a:r>
              <a:rPr lang="en-US"/>
              <a:t>If valid → secrets are released</a:t>
            </a:r>
          </a:p>
          <a:p>
            <a:r>
              <a:rPr lang="en-US"/>
              <a:t>No valid attestation → </a:t>
            </a:r>
            <a:r>
              <a:rPr lang="en-US" b="1"/>
              <a:t>no secrets</a:t>
            </a:r>
            <a:r>
              <a:rPr lang="en-US"/>
              <a:t>.</a:t>
            </a:r>
          </a:p>
          <a:p>
            <a:br>
              <a:rPr lang="en-US"/>
            </a:br>
            <a:endParaRPr lang="en-US"/>
          </a:p>
          <a:p>
            <a:r>
              <a:rPr lang="en-US" b="1"/>
              <a:t>🏗 Why This Matters (Especially in Cloud / AKS Context)</a:t>
            </a:r>
          </a:p>
          <a:p>
            <a:r>
              <a:rPr lang="en-US"/>
              <a:t>Since you're working with Azure, AKS, and secure workloads:</a:t>
            </a:r>
          </a:p>
          <a:p>
            <a:r>
              <a:rPr lang="en-US"/>
              <a:t>Attestation is critical for:</a:t>
            </a:r>
          </a:p>
          <a:p>
            <a:r>
              <a:rPr lang="en-US"/>
              <a:t>Confidential Containers</a:t>
            </a:r>
          </a:p>
          <a:p>
            <a:r>
              <a:rPr lang="en-US"/>
              <a:t>Protecting AI models</a:t>
            </a:r>
          </a:p>
          <a:p>
            <a:r>
              <a:rPr lang="en-US"/>
              <a:t>Secure key release</a:t>
            </a:r>
          </a:p>
          <a:p>
            <a:r>
              <a:rPr lang="en-US"/>
              <a:t>Zero-trust compute</a:t>
            </a:r>
          </a:p>
          <a:p>
            <a:r>
              <a:rPr lang="en-US"/>
              <a:t>Preventing host compromise attacks</a:t>
            </a:r>
          </a:p>
          <a:p>
            <a:r>
              <a:rPr lang="en-US"/>
              <a:t>For example:</a:t>
            </a:r>
          </a:p>
          <a:p>
            <a:r>
              <a:rPr lang="en-US"/>
              <a:t>Microsoft Azure Attestation verifies TEE claims.</a:t>
            </a:r>
          </a:p>
          <a:p>
            <a:r>
              <a:rPr lang="en-US"/>
              <a:t>Confidential Containers use attestation before injecting secrets.</a:t>
            </a:r>
          </a:p>
          <a:p>
            <a:br>
              <a:rPr lang="en-US"/>
            </a:br>
            <a:endParaRPr lang="en-US"/>
          </a:p>
          <a:p>
            <a:r>
              <a:rPr lang="en-US" b="1"/>
              <a:t>🔐 Real-World Example</a:t>
            </a:r>
          </a:p>
          <a:p>
            <a:r>
              <a:rPr lang="en-US"/>
              <a:t>Imagine:</a:t>
            </a:r>
          </a:p>
          <a:p>
            <a:r>
              <a:rPr lang="en-US"/>
              <a:t>You deploy a sensitive AI model to a confidential VM.</a:t>
            </a:r>
          </a:p>
          <a:p>
            <a:r>
              <a:rPr lang="en-US"/>
              <a:t>Before sending the model encryption key:</a:t>
            </a:r>
          </a:p>
          <a:p>
            <a:r>
              <a:rPr lang="en-US"/>
              <a:t>You require attestation proof</a:t>
            </a:r>
          </a:p>
          <a:p>
            <a:r>
              <a:rPr lang="en-US"/>
              <a:t>You verify the measurement</a:t>
            </a:r>
          </a:p>
          <a:p>
            <a:r>
              <a:rPr lang="en-US"/>
              <a:t>Only then release the key</a:t>
            </a:r>
          </a:p>
          <a:p>
            <a:r>
              <a:rPr lang="en-US"/>
              <a:t>This ensures:</a:t>
            </a:r>
          </a:p>
          <a:p>
            <a:r>
              <a:rPr lang="en-US"/>
              <a:t>Cloud provider admins cannot inspect it</a:t>
            </a:r>
          </a:p>
          <a:p>
            <a:r>
              <a:rPr lang="en-US"/>
              <a:t>Hypervisor compromise cannot access it</a:t>
            </a:r>
          </a:p>
          <a:p>
            <a:r>
              <a:rPr lang="en-US"/>
              <a:t>Root access on host cannot dump memory</a:t>
            </a:r>
          </a:p>
          <a:p>
            <a:br>
              <a:rPr lang="en-US"/>
            </a:br>
            <a:endParaRPr lang="en-US"/>
          </a:p>
          <a:p>
            <a:r>
              <a:rPr lang="en-US" b="1"/>
              <a:t>🧩 In One Sentence</a:t>
            </a:r>
          </a:p>
          <a:p>
            <a:r>
              <a:rPr lang="en-US" b="1"/>
              <a:t>Attestation is the cryptographic proof that code is running in a genuine, untampered Trusted Execution Environment.</a:t>
            </a:r>
            <a:endParaRPr lang="en-US"/>
          </a:p>
          <a:p>
            <a:br>
              <a:rPr lang="en-US"/>
            </a:br>
            <a:endParaRPr lang="en-US"/>
          </a:p>
          <a:p>
            <a:endParaRPr lang="en-US"/>
          </a:p>
        </p:txBody>
      </p:sp>
      <p:sp>
        <p:nvSpPr>
          <p:cNvPr id="4" name="Slide Number Placeholder 3">
            <a:extLst>
              <a:ext uri="{FF2B5EF4-FFF2-40B4-BE49-F238E27FC236}">
                <a16:creationId xmlns:a16="http://schemas.microsoft.com/office/drawing/2014/main" id="{7E8ACDED-1CC7-D977-A2BA-10AF76B4F828}"/>
              </a:ext>
            </a:extLst>
          </p:cNvPr>
          <p:cNvSpPr>
            <a:spLocks noGrp="1"/>
          </p:cNvSpPr>
          <p:nvPr>
            <p:ph type="sldNum" sz="quarter" idx="5"/>
          </p:nvPr>
        </p:nvSpPr>
        <p:spPr/>
        <p:txBody>
          <a:bodyPr/>
          <a:lstStyle/>
          <a:p>
            <a:fld id="{08A7B8A6-DC2C-4E66-899B-3FF6576B90A7}" type="slidenum">
              <a:rPr lang="en-US" smtClean="0"/>
              <a:t>20</a:t>
            </a:fld>
            <a:endParaRPr lang="en-US"/>
          </a:p>
        </p:txBody>
      </p:sp>
    </p:spTree>
    <p:extLst>
      <p:ext uri="{BB962C8B-B14F-4D97-AF65-F5344CB8AC3E}">
        <p14:creationId xmlns:p14="http://schemas.microsoft.com/office/powerpoint/2010/main" val="206835278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68A538-3A86-28B7-B8BD-10FC76D498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4029897-EC76-14F6-A678-12A6C1A9167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66A9E19-3B49-B371-38A1-E206A40441B6}"/>
              </a:ext>
            </a:extLst>
          </p:cNvPr>
          <p:cNvSpPr>
            <a:spLocks noGrp="1"/>
          </p:cNvSpPr>
          <p:nvPr>
            <p:ph type="body" idx="1"/>
          </p:nvPr>
        </p:nvSpPr>
        <p:spPr/>
        <p:txBody>
          <a:bodyPr/>
          <a:lstStyle/>
          <a:p>
            <a:r>
              <a:rPr lang="en-US"/>
              <a:t>https://learn.microsoft.com/en-us/azure/confidential-computing/confidential-node-pool-aks </a:t>
            </a:r>
          </a:p>
          <a:p>
            <a:r>
              <a:rPr lang="en-US"/>
              <a:t>https://techcommunity.microsoft.com/blog/azureconfidentialcomputingblog/amd-sev-snp-confidential-vm-nodes-are-now-generally-available-in-aks/3649065 </a:t>
            </a:r>
          </a:p>
          <a:p>
            <a:r>
              <a:rPr lang="en-US"/>
              <a:t>https://github.com/Azure/confidential-computing-cvm-guest-attestation/blob/main/aks-linux-sample/README.md </a:t>
            </a:r>
          </a:p>
          <a:p>
            <a:r>
              <a:rPr lang="en-US"/>
              <a:t>https://youtu.be/mkCSGGNtwmc </a:t>
            </a:r>
          </a:p>
          <a:p>
            <a:endParaRPr lang="en-US"/>
          </a:p>
          <a:p>
            <a:r>
              <a:rPr lang="en-US"/>
              <a:t>In the context of a </a:t>
            </a:r>
            <a:r>
              <a:rPr lang="en-US" b="1"/>
              <a:t>Trusted Execution Environment (TEE)</a:t>
            </a:r>
            <a:r>
              <a:rPr lang="en-US"/>
              <a:t>, </a:t>
            </a:r>
            <a:r>
              <a:rPr lang="en-US" b="1"/>
              <a:t>attest</a:t>
            </a:r>
            <a:r>
              <a:rPr lang="en-US"/>
              <a:t> means:</a:t>
            </a:r>
          </a:p>
          <a:p>
            <a:r>
              <a:rPr lang="en-US" b="1"/>
              <a:t>To cryptographically prove that a piece of code is running inside a genuine, untampered secure environment.</a:t>
            </a:r>
            <a:endParaRPr lang="en-US"/>
          </a:p>
          <a:p>
            <a:r>
              <a:rPr lang="en-US"/>
              <a:t>It is essentially a </a:t>
            </a:r>
            <a:r>
              <a:rPr lang="en-US" b="1"/>
              <a:t>verifiable proof of trust</a:t>
            </a:r>
            <a:r>
              <a:rPr lang="en-US"/>
              <a:t>.</a:t>
            </a:r>
          </a:p>
          <a:p>
            <a:br>
              <a:rPr lang="en-US"/>
            </a:br>
            <a:endParaRPr lang="en-US"/>
          </a:p>
          <a:p>
            <a:r>
              <a:rPr lang="en-US" b="1"/>
              <a:t>🔐 What Is a Trusted Execution Environment (TEE)?</a:t>
            </a:r>
          </a:p>
          <a:p>
            <a:r>
              <a:rPr lang="en-US"/>
              <a:t>A TEE is a secure area of a processor that:</a:t>
            </a:r>
          </a:p>
          <a:p>
            <a:r>
              <a:rPr lang="en-US"/>
              <a:t>Isolated from the normal OS</a:t>
            </a:r>
          </a:p>
          <a:p>
            <a:r>
              <a:rPr lang="en-US"/>
              <a:t>Protects code and data from the host system</a:t>
            </a:r>
          </a:p>
          <a:p>
            <a:r>
              <a:rPr lang="en-US"/>
              <a:t>Prevents tampering—even by admins or hypervisors</a:t>
            </a:r>
          </a:p>
          <a:p>
            <a:r>
              <a:rPr lang="en-US"/>
              <a:t>Examples:</a:t>
            </a:r>
          </a:p>
          <a:p>
            <a:r>
              <a:rPr lang="en-US"/>
              <a:t>Intel SGX</a:t>
            </a:r>
          </a:p>
          <a:p>
            <a:r>
              <a:rPr lang="en-US"/>
              <a:t>AMD SEV-SNP</a:t>
            </a:r>
          </a:p>
          <a:p>
            <a:r>
              <a:rPr lang="en-US"/>
              <a:t>ARM </a:t>
            </a:r>
            <a:r>
              <a:rPr lang="en-US" err="1"/>
              <a:t>TrustZone</a:t>
            </a:r>
            <a:endParaRPr lang="en-US"/>
          </a:p>
          <a:p>
            <a:r>
              <a:rPr lang="en-US"/>
              <a:t>Azure Confidential Computing</a:t>
            </a:r>
          </a:p>
          <a:p>
            <a:br>
              <a:rPr lang="en-US"/>
            </a:br>
            <a:endParaRPr lang="en-US"/>
          </a:p>
          <a:p>
            <a:r>
              <a:rPr lang="en-US" b="1"/>
              <a:t>🧠 What “Attestation” Actually Means</a:t>
            </a:r>
          </a:p>
          <a:p>
            <a:r>
              <a:rPr lang="en-US"/>
              <a:t>Attestation answers this question:</a:t>
            </a:r>
          </a:p>
          <a:p>
            <a:r>
              <a:rPr lang="en-US"/>
              <a:t>"How do I know this code is really running inside a secure enclave and hasn't been modified?"</a:t>
            </a:r>
          </a:p>
          <a:p>
            <a:r>
              <a:rPr lang="en-US"/>
              <a:t>It works using:</a:t>
            </a:r>
          </a:p>
          <a:p>
            <a:r>
              <a:rPr lang="en-US" b="1"/>
              <a:t>Measurement</a:t>
            </a:r>
            <a:r>
              <a:rPr lang="en-US"/>
              <a:t> (hash of code + configuration)</a:t>
            </a:r>
          </a:p>
          <a:p>
            <a:r>
              <a:rPr lang="en-US" b="1"/>
              <a:t>Signing</a:t>
            </a:r>
            <a:r>
              <a:rPr lang="en-US"/>
              <a:t> by hardware root of trust</a:t>
            </a:r>
          </a:p>
          <a:p>
            <a:r>
              <a:rPr lang="en-US" b="1"/>
              <a:t>Verification</a:t>
            </a:r>
            <a:r>
              <a:rPr lang="en-US"/>
              <a:t> by a remote party</a:t>
            </a:r>
          </a:p>
          <a:p>
            <a:br>
              <a:rPr lang="en-US"/>
            </a:br>
            <a:endParaRPr lang="en-US"/>
          </a:p>
          <a:p>
            <a:r>
              <a:rPr lang="en-US" b="1"/>
              <a:t>🔎 Two Types of Attestation</a:t>
            </a:r>
          </a:p>
          <a:p>
            <a:r>
              <a:rPr lang="en-US" b="1"/>
              <a:t>1️⃣ Local Attestation</a:t>
            </a:r>
          </a:p>
          <a:p>
            <a:r>
              <a:rPr lang="en-US"/>
              <a:t>One enclave verifies another enclave on the same machine</a:t>
            </a:r>
          </a:p>
          <a:p>
            <a:r>
              <a:rPr lang="en-US" b="1"/>
              <a:t>2️⃣ Remote Attestation (Most Important in Cloud)</a:t>
            </a:r>
          </a:p>
          <a:p>
            <a:r>
              <a:rPr lang="en-US"/>
              <a:t>A remote service verifies the TEE</a:t>
            </a:r>
          </a:p>
          <a:p>
            <a:r>
              <a:rPr lang="en-US"/>
              <a:t>Used heavily in cloud confidential computing</a:t>
            </a:r>
          </a:p>
          <a:p>
            <a:br>
              <a:rPr lang="en-US"/>
            </a:br>
            <a:endParaRPr lang="en-US"/>
          </a:p>
          <a:p>
            <a:r>
              <a:rPr lang="en-US" b="1"/>
              <a:t>🔄 Simplified Remote Attestation Flow</a:t>
            </a:r>
          </a:p>
          <a:p>
            <a:r>
              <a:rPr lang="en-US"/>
              <a:t>Workload starts inside TEE</a:t>
            </a:r>
          </a:p>
          <a:p>
            <a:r>
              <a:rPr lang="en-US"/>
              <a:t>Hardware calculates cryptographic measurement</a:t>
            </a:r>
          </a:p>
          <a:p>
            <a:r>
              <a:rPr lang="en-US"/>
              <a:t>Hardware signs it</a:t>
            </a:r>
          </a:p>
          <a:p>
            <a:r>
              <a:rPr lang="en-US"/>
              <a:t>Proof (attestation report) is sent to verifier</a:t>
            </a:r>
          </a:p>
          <a:p>
            <a:r>
              <a:rPr lang="en-US"/>
              <a:t>Verifier checks signature + measurement</a:t>
            </a:r>
          </a:p>
          <a:p>
            <a:r>
              <a:rPr lang="en-US"/>
              <a:t>If valid → secrets are released</a:t>
            </a:r>
          </a:p>
          <a:p>
            <a:r>
              <a:rPr lang="en-US"/>
              <a:t>No valid attestation → </a:t>
            </a:r>
            <a:r>
              <a:rPr lang="en-US" b="1"/>
              <a:t>no secrets</a:t>
            </a:r>
            <a:r>
              <a:rPr lang="en-US"/>
              <a:t>.</a:t>
            </a:r>
          </a:p>
          <a:p>
            <a:br>
              <a:rPr lang="en-US"/>
            </a:br>
            <a:endParaRPr lang="en-US"/>
          </a:p>
          <a:p>
            <a:r>
              <a:rPr lang="en-US" b="1"/>
              <a:t>🏗 Why This Matters (Especially in Cloud / AKS Context)</a:t>
            </a:r>
          </a:p>
          <a:p>
            <a:r>
              <a:rPr lang="en-US"/>
              <a:t>Since you're working with Azure, AKS, and secure workloads:</a:t>
            </a:r>
          </a:p>
          <a:p>
            <a:r>
              <a:rPr lang="en-US"/>
              <a:t>Attestation is critical for:</a:t>
            </a:r>
          </a:p>
          <a:p>
            <a:r>
              <a:rPr lang="en-US"/>
              <a:t>Confidential Containers</a:t>
            </a:r>
          </a:p>
          <a:p>
            <a:r>
              <a:rPr lang="en-US"/>
              <a:t>Protecting AI models</a:t>
            </a:r>
          </a:p>
          <a:p>
            <a:r>
              <a:rPr lang="en-US"/>
              <a:t>Secure key release</a:t>
            </a:r>
          </a:p>
          <a:p>
            <a:r>
              <a:rPr lang="en-US"/>
              <a:t>Zero-trust compute</a:t>
            </a:r>
          </a:p>
          <a:p>
            <a:r>
              <a:rPr lang="en-US"/>
              <a:t>Preventing host compromise attacks</a:t>
            </a:r>
          </a:p>
          <a:p>
            <a:r>
              <a:rPr lang="en-US"/>
              <a:t>For example:</a:t>
            </a:r>
          </a:p>
          <a:p>
            <a:r>
              <a:rPr lang="en-US"/>
              <a:t>Microsoft Azure Attestation verifies TEE claims.</a:t>
            </a:r>
          </a:p>
          <a:p>
            <a:r>
              <a:rPr lang="en-US"/>
              <a:t>Confidential Containers use attestation before injecting secrets.</a:t>
            </a:r>
          </a:p>
          <a:p>
            <a:br>
              <a:rPr lang="en-US"/>
            </a:br>
            <a:endParaRPr lang="en-US"/>
          </a:p>
          <a:p>
            <a:r>
              <a:rPr lang="en-US" b="1"/>
              <a:t>🔐 Real-World Example</a:t>
            </a:r>
          </a:p>
          <a:p>
            <a:r>
              <a:rPr lang="en-US"/>
              <a:t>Imagine:</a:t>
            </a:r>
          </a:p>
          <a:p>
            <a:r>
              <a:rPr lang="en-US"/>
              <a:t>You deploy a sensitive AI model to a confidential VM.</a:t>
            </a:r>
          </a:p>
          <a:p>
            <a:r>
              <a:rPr lang="en-US"/>
              <a:t>Before sending the model encryption key:</a:t>
            </a:r>
          </a:p>
          <a:p>
            <a:r>
              <a:rPr lang="en-US"/>
              <a:t>You require attestation proof</a:t>
            </a:r>
          </a:p>
          <a:p>
            <a:r>
              <a:rPr lang="en-US"/>
              <a:t>You verify the measurement</a:t>
            </a:r>
          </a:p>
          <a:p>
            <a:r>
              <a:rPr lang="en-US"/>
              <a:t>Only then release the key</a:t>
            </a:r>
          </a:p>
          <a:p>
            <a:r>
              <a:rPr lang="en-US"/>
              <a:t>This ensures:</a:t>
            </a:r>
          </a:p>
          <a:p>
            <a:r>
              <a:rPr lang="en-US"/>
              <a:t>Cloud provider admins cannot inspect it</a:t>
            </a:r>
          </a:p>
          <a:p>
            <a:r>
              <a:rPr lang="en-US"/>
              <a:t>Hypervisor compromise cannot access it</a:t>
            </a:r>
          </a:p>
          <a:p>
            <a:r>
              <a:rPr lang="en-US"/>
              <a:t>Root access on host cannot dump memory</a:t>
            </a:r>
          </a:p>
          <a:p>
            <a:br>
              <a:rPr lang="en-US"/>
            </a:br>
            <a:endParaRPr lang="en-US"/>
          </a:p>
          <a:p>
            <a:r>
              <a:rPr lang="en-US" b="1"/>
              <a:t>🧩 In One Sentence</a:t>
            </a:r>
          </a:p>
          <a:p>
            <a:r>
              <a:rPr lang="en-US" b="1"/>
              <a:t>Attestation is the cryptographic proof that code is running in a genuine, untampered Trusted Execution Environment.</a:t>
            </a:r>
            <a:endParaRPr lang="en-US"/>
          </a:p>
          <a:p>
            <a:br>
              <a:rPr lang="en-US"/>
            </a:br>
            <a:endParaRPr lang="en-US"/>
          </a:p>
          <a:p>
            <a:endParaRPr lang="en-US"/>
          </a:p>
        </p:txBody>
      </p:sp>
      <p:sp>
        <p:nvSpPr>
          <p:cNvPr id="4" name="Slide Number Placeholder 3">
            <a:extLst>
              <a:ext uri="{FF2B5EF4-FFF2-40B4-BE49-F238E27FC236}">
                <a16:creationId xmlns:a16="http://schemas.microsoft.com/office/drawing/2014/main" id="{BCA7DFB9-1400-AC94-53DF-1F163051CBFD}"/>
              </a:ext>
            </a:extLst>
          </p:cNvPr>
          <p:cNvSpPr>
            <a:spLocks noGrp="1"/>
          </p:cNvSpPr>
          <p:nvPr>
            <p:ph type="sldNum" sz="quarter" idx="5"/>
          </p:nvPr>
        </p:nvSpPr>
        <p:spPr/>
        <p:txBody>
          <a:bodyPr/>
          <a:lstStyle/>
          <a:p>
            <a:fld id="{08A7B8A6-DC2C-4E66-899B-3FF6576B90A7}" type="slidenum">
              <a:rPr lang="en-US" smtClean="0"/>
              <a:t>22</a:t>
            </a:fld>
            <a:endParaRPr lang="en-US"/>
          </a:p>
        </p:txBody>
      </p:sp>
    </p:spTree>
    <p:extLst>
      <p:ext uri="{BB962C8B-B14F-4D97-AF65-F5344CB8AC3E}">
        <p14:creationId xmlns:p14="http://schemas.microsoft.com/office/powerpoint/2010/main" val="51552280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D9F1DC-7108-0A1B-87B4-92B5F460EBE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FCFE99D-F87B-AFE1-4C2B-67D48809F54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346CEF9-8D8D-96B7-3EB4-61024A6AB852}"/>
              </a:ext>
            </a:extLst>
          </p:cNvPr>
          <p:cNvSpPr>
            <a:spLocks noGrp="1"/>
          </p:cNvSpPr>
          <p:nvPr>
            <p:ph type="body" idx="1"/>
          </p:nvPr>
        </p:nvSpPr>
        <p:spPr/>
        <p:txBody>
          <a:bodyPr/>
          <a:lstStyle/>
          <a:p>
            <a:r>
              <a:rPr lang="en-US"/>
              <a:t>https://www.youtube.com/watch?v=FYZxtHI_Or0 </a:t>
            </a:r>
          </a:p>
          <a:p>
            <a:r>
              <a:rPr lang="en-US"/>
              <a:t>https://learn.microsoft.com/en-us/azure/confidential-computing/confidential-nodes-aks-overview</a:t>
            </a:r>
          </a:p>
        </p:txBody>
      </p:sp>
      <p:sp>
        <p:nvSpPr>
          <p:cNvPr id="4" name="Slide Number Placeholder 3">
            <a:extLst>
              <a:ext uri="{FF2B5EF4-FFF2-40B4-BE49-F238E27FC236}">
                <a16:creationId xmlns:a16="http://schemas.microsoft.com/office/drawing/2014/main" id="{051FC85D-7632-73EE-F81D-42FBD64CC0D9}"/>
              </a:ext>
            </a:extLst>
          </p:cNvPr>
          <p:cNvSpPr>
            <a:spLocks noGrp="1"/>
          </p:cNvSpPr>
          <p:nvPr>
            <p:ph type="sldNum" sz="quarter" idx="5"/>
          </p:nvPr>
        </p:nvSpPr>
        <p:spPr/>
        <p:txBody>
          <a:bodyPr/>
          <a:lstStyle/>
          <a:p>
            <a:fld id="{08A7B8A6-DC2C-4E66-899B-3FF6576B90A7}" type="slidenum">
              <a:rPr lang="en-US" smtClean="0"/>
              <a:t>23</a:t>
            </a:fld>
            <a:endParaRPr lang="en-US"/>
          </a:p>
        </p:txBody>
      </p:sp>
    </p:spTree>
    <p:extLst>
      <p:ext uri="{BB962C8B-B14F-4D97-AF65-F5344CB8AC3E}">
        <p14:creationId xmlns:p14="http://schemas.microsoft.com/office/powerpoint/2010/main" val="409798229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E2A306-B44E-F5AD-A441-9D4F583FA60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B66CFF9-2661-0189-16F3-D29E9E452C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9832D3F-5D51-C266-A203-605CCC2D9BDB}"/>
              </a:ext>
            </a:extLst>
          </p:cNvPr>
          <p:cNvSpPr>
            <a:spLocks noGrp="1"/>
          </p:cNvSpPr>
          <p:nvPr>
            <p:ph type="body" idx="1"/>
          </p:nvPr>
        </p:nvSpPr>
        <p:spPr/>
        <p:txBody>
          <a:bodyPr/>
          <a:lstStyle/>
          <a:p>
            <a:r>
              <a:rPr lang="en-US"/>
              <a:t>https://www.youtube.com/watch?v=FYZxtHI_Or0 </a:t>
            </a:r>
          </a:p>
          <a:p>
            <a:r>
              <a:rPr lang="en-US"/>
              <a:t>https://learn.microsoft.com/en-us/azure/confidential-computing/confidential-nodes-aks-overview</a:t>
            </a:r>
          </a:p>
        </p:txBody>
      </p:sp>
      <p:sp>
        <p:nvSpPr>
          <p:cNvPr id="4" name="Slide Number Placeholder 3">
            <a:extLst>
              <a:ext uri="{FF2B5EF4-FFF2-40B4-BE49-F238E27FC236}">
                <a16:creationId xmlns:a16="http://schemas.microsoft.com/office/drawing/2014/main" id="{BBA86D27-9B3A-3D9C-CFA0-A95A68DA11D9}"/>
              </a:ext>
            </a:extLst>
          </p:cNvPr>
          <p:cNvSpPr>
            <a:spLocks noGrp="1"/>
          </p:cNvSpPr>
          <p:nvPr>
            <p:ph type="sldNum" sz="quarter" idx="5"/>
          </p:nvPr>
        </p:nvSpPr>
        <p:spPr/>
        <p:txBody>
          <a:bodyPr/>
          <a:lstStyle/>
          <a:p>
            <a:fld id="{08A7B8A6-DC2C-4E66-899B-3FF6576B90A7}" type="slidenum">
              <a:rPr lang="en-US" smtClean="0"/>
              <a:t>24</a:t>
            </a:fld>
            <a:endParaRPr lang="en-US"/>
          </a:p>
        </p:txBody>
      </p:sp>
    </p:spTree>
    <p:extLst>
      <p:ext uri="{BB962C8B-B14F-4D97-AF65-F5344CB8AC3E}">
        <p14:creationId xmlns:p14="http://schemas.microsoft.com/office/powerpoint/2010/main" val="350669662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2CAC01-E7CC-88BB-C2F9-9806FD28D4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71E96B9-2FAD-D46B-3073-74FEB0815BF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B5D312F-3D01-FDB1-FA60-D9081684E0A7}"/>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C4CDA8BF-135F-2FE3-A3FA-56DA51CBA852}"/>
              </a:ext>
            </a:extLst>
          </p:cNvPr>
          <p:cNvSpPr>
            <a:spLocks noGrp="1"/>
          </p:cNvSpPr>
          <p:nvPr>
            <p:ph type="sldNum" sz="quarter" idx="5"/>
          </p:nvPr>
        </p:nvSpPr>
        <p:spPr/>
        <p:txBody>
          <a:bodyPr/>
          <a:lstStyle/>
          <a:p>
            <a:fld id="{08A7B8A6-DC2C-4E66-899B-3FF6576B90A7}" type="slidenum">
              <a:rPr lang="en-US" smtClean="0"/>
              <a:t>25</a:t>
            </a:fld>
            <a:endParaRPr lang="en-US"/>
          </a:p>
        </p:txBody>
      </p:sp>
    </p:spTree>
    <p:extLst>
      <p:ext uri="{BB962C8B-B14F-4D97-AF65-F5344CB8AC3E}">
        <p14:creationId xmlns:p14="http://schemas.microsoft.com/office/powerpoint/2010/main" val="260854121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76B6DE-C4C4-DA8A-ECED-56A7C9DC40C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B2F23F0-DFBE-D185-1DAF-3F7CE9FBAFB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814B3D6-4D4E-A8C3-BEDF-E863D11B7962}"/>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F554C6CC-8386-48E7-0D99-AE0A32FCB028}"/>
              </a:ext>
            </a:extLst>
          </p:cNvPr>
          <p:cNvSpPr>
            <a:spLocks noGrp="1"/>
          </p:cNvSpPr>
          <p:nvPr>
            <p:ph type="sldNum" sz="quarter" idx="5"/>
          </p:nvPr>
        </p:nvSpPr>
        <p:spPr/>
        <p:txBody>
          <a:bodyPr/>
          <a:lstStyle/>
          <a:p>
            <a:fld id="{08A7B8A6-DC2C-4E66-899B-3FF6576B90A7}" type="slidenum">
              <a:rPr lang="en-US" smtClean="0"/>
              <a:t>26</a:t>
            </a:fld>
            <a:endParaRPr lang="en-US"/>
          </a:p>
        </p:txBody>
      </p:sp>
    </p:spTree>
    <p:extLst>
      <p:ext uri="{BB962C8B-B14F-4D97-AF65-F5344CB8AC3E}">
        <p14:creationId xmlns:p14="http://schemas.microsoft.com/office/powerpoint/2010/main" val="174204877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E026E5-945E-A14C-4D58-544A8528F84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7F4DF11-325C-CA75-E469-D4A642B784A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9B1241-BA3B-981D-E6C4-4EB7A40698CB}"/>
              </a:ext>
            </a:extLst>
          </p:cNvPr>
          <p:cNvSpPr>
            <a:spLocks noGrp="1"/>
          </p:cNvSpPr>
          <p:nvPr>
            <p:ph type="body" idx="1"/>
          </p:nvPr>
        </p:nvSpPr>
        <p:spPr/>
        <p:txBody>
          <a:bodyPr/>
          <a:lstStyle/>
          <a:p>
            <a:r>
              <a:rPr lang="en-US"/>
              <a:t>https://learn.microsoft.com/en-us/azure/aks/operator-best-practices-container-image-management </a:t>
            </a:r>
          </a:p>
        </p:txBody>
      </p:sp>
      <p:sp>
        <p:nvSpPr>
          <p:cNvPr id="4" name="Slide Number Placeholder 3">
            <a:extLst>
              <a:ext uri="{FF2B5EF4-FFF2-40B4-BE49-F238E27FC236}">
                <a16:creationId xmlns:a16="http://schemas.microsoft.com/office/drawing/2014/main" id="{F24ABB34-D3F6-B65D-8287-370EF31FEFAE}"/>
              </a:ext>
            </a:extLst>
          </p:cNvPr>
          <p:cNvSpPr>
            <a:spLocks noGrp="1"/>
          </p:cNvSpPr>
          <p:nvPr>
            <p:ph type="sldNum" sz="quarter" idx="5"/>
          </p:nvPr>
        </p:nvSpPr>
        <p:spPr/>
        <p:txBody>
          <a:bodyPr/>
          <a:lstStyle/>
          <a:p>
            <a:fld id="{08A7B8A6-DC2C-4E66-899B-3FF6576B90A7}" type="slidenum">
              <a:rPr lang="en-US" smtClean="0"/>
              <a:t>28</a:t>
            </a:fld>
            <a:endParaRPr lang="en-US"/>
          </a:p>
        </p:txBody>
      </p:sp>
    </p:spTree>
    <p:extLst>
      <p:ext uri="{BB962C8B-B14F-4D97-AF65-F5344CB8AC3E}">
        <p14:creationId xmlns:p14="http://schemas.microsoft.com/office/powerpoint/2010/main" val="321443657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CA324E-343A-52C8-BFB0-0F41434AD8C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C1028F-186B-072A-AC8D-5564B2CB496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220B759-9602-5B01-6317-1191F1EE2831}"/>
              </a:ext>
            </a:extLst>
          </p:cNvPr>
          <p:cNvSpPr>
            <a:spLocks noGrp="1"/>
          </p:cNvSpPr>
          <p:nvPr>
            <p:ph type="body" idx="1"/>
          </p:nvPr>
        </p:nvSpPr>
        <p:spPr/>
        <p:txBody>
          <a:bodyPr/>
          <a:lstStyle/>
          <a:p>
            <a:r>
              <a:rPr lang="en-US"/>
              <a:t>https://learn.microsoft.com/en-us/azure/aks/operator-best-practices-container-image-management </a:t>
            </a:r>
          </a:p>
        </p:txBody>
      </p:sp>
      <p:sp>
        <p:nvSpPr>
          <p:cNvPr id="4" name="Slide Number Placeholder 3">
            <a:extLst>
              <a:ext uri="{FF2B5EF4-FFF2-40B4-BE49-F238E27FC236}">
                <a16:creationId xmlns:a16="http://schemas.microsoft.com/office/drawing/2014/main" id="{06BD9904-D559-735E-E4EB-588464DF87F7}"/>
              </a:ext>
            </a:extLst>
          </p:cNvPr>
          <p:cNvSpPr>
            <a:spLocks noGrp="1"/>
          </p:cNvSpPr>
          <p:nvPr>
            <p:ph type="sldNum" sz="quarter" idx="5"/>
          </p:nvPr>
        </p:nvSpPr>
        <p:spPr/>
        <p:txBody>
          <a:bodyPr/>
          <a:lstStyle/>
          <a:p>
            <a:fld id="{08A7B8A6-DC2C-4E66-899B-3FF6576B90A7}" type="slidenum">
              <a:rPr lang="en-US" smtClean="0"/>
              <a:t>29</a:t>
            </a:fld>
            <a:endParaRPr lang="en-US"/>
          </a:p>
        </p:txBody>
      </p:sp>
    </p:spTree>
    <p:extLst>
      <p:ext uri="{BB962C8B-B14F-4D97-AF65-F5344CB8AC3E}">
        <p14:creationId xmlns:p14="http://schemas.microsoft.com/office/powerpoint/2010/main" val="254437646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495B66-E41D-4C74-6F28-925AEBC0022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E58B07A-4616-0437-C3C8-F04FE853CC0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385F98D-E7D8-18F3-59E8-E52079A6CF4F}"/>
              </a:ext>
            </a:extLst>
          </p:cNvPr>
          <p:cNvSpPr>
            <a:spLocks noGrp="1"/>
          </p:cNvSpPr>
          <p:nvPr>
            <p:ph type="body" idx="1"/>
          </p:nvPr>
        </p:nvSpPr>
        <p:spPr/>
        <p:txBody>
          <a:bodyPr/>
          <a:lstStyle/>
          <a:p>
            <a:r>
              <a:rPr lang="en-US"/>
              <a:t>https://learn.microsoft.com/en-us/azure/aks/operator-best-practices-container-image-management </a:t>
            </a:r>
          </a:p>
        </p:txBody>
      </p:sp>
      <p:sp>
        <p:nvSpPr>
          <p:cNvPr id="4" name="Slide Number Placeholder 3">
            <a:extLst>
              <a:ext uri="{FF2B5EF4-FFF2-40B4-BE49-F238E27FC236}">
                <a16:creationId xmlns:a16="http://schemas.microsoft.com/office/drawing/2014/main" id="{C8391910-6E20-FF7B-EDD6-819F9C9F5611}"/>
              </a:ext>
            </a:extLst>
          </p:cNvPr>
          <p:cNvSpPr>
            <a:spLocks noGrp="1"/>
          </p:cNvSpPr>
          <p:nvPr>
            <p:ph type="sldNum" sz="quarter" idx="5"/>
          </p:nvPr>
        </p:nvSpPr>
        <p:spPr/>
        <p:txBody>
          <a:bodyPr/>
          <a:lstStyle/>
          <a:p>
            <a:fld id="{08A7B8A6-DC2C-4E66-899B-3FF6576B90A7}" type="slidenum">
              <a:rPr lang="en-US" smtClean="0"/>
              <a:t>30</a:t>
            </a:fld>
            <a:endParaRPr lang="en-US"/>
          </a:p>
        </p:txBody>
      </p:sp>
    </p:spTree>
    <p:extLst>
      <p:ext uri="{BB962C8B-B14F-4D97-AF65-F5344CB8AC3E}">
        <p14:creationId xmlns:p14="http://schemas.microsoft.com/office/powerpoint/2010/main" val="297089268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F87D2E-9DBB-87E1-A80D-CAB3D8DF326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D925EE0-281C-9F68-9EEE-3A088ED0B17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E35D8C4-EF66-C9A9-02B0-95AA34082333}"/>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A5833DE9-7F2B-272A-E342-18E15B0C2214}"/>
              </a:ext>
            </a:extLst>
          </p:cNvPr>
          <p:cNvSpPr>
            <a:spLocks noGrp="1"/>
          </p:cNvSpPr>
          <p:nvPr>
            <p:ph type="sldNum" sz="quarter" idx="5"/>
          </p:nvPr>
        </p:nvSpPr>
        <p:spPr/>
        <p:txBody>
          <a:bodyPr/>
          <a:lstStyle/>
          <a:p>
            <a:fld id="{08A7B8A6-DC2C-4E66-899B-3FF6576B90A7}" type="slidenum">
              <a:rPr lang="en-US" smtClean="0"/>
              <a:t>31</a:t>
            </a:fld>
            <a:endParaRPr lang="en-US"/>
          </a:p>
        </p:txBody>
      </p:sp>
    </p:spTree>
    <p:extLst>
      <p:ext uri="{BB962C8B-B14F-4D97-AF65-F5344CB8AC3E}">
        <p14:creationId xmlns:p14="http://schemas.microsoft.com/office/powerpoint/2010/main" val="19781744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CA2152-3F71-00BB-80FD-AD98FB8013A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6DB9B9F-3616-EDFC-45A2-74328C54C7C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1E74762-127C-CED8-0413-BFEE6DC09692}"/>
              </a:ext>
            </a:extLst>
          </p:cNvPr>
          <p:cNvSpPr>
            <a:spLocks noGrp="1"/>
          </p:cNvSpPr>
          <p:nvPr>
            <p:ph type="body" idx="1"/>
          </p:nvPr>
        </p:nvSpPr>
        <p:spPr/>
        <p:txBody>
          <a:bodyPr/>
          <a:lstStyle/>
          <a:p>
            <a:r>
              <a:rPr lang="en-US"/>
              <a:t>https://learn.microsoft.com/en-us/azure/aks/image-integrity?tabs=azure-cli </a:t>
            </a:r>
          </a:p>
          <a:p>
            <a:endParaRPr lang="en-US"/>
          </a:p>
        </p:txBody>
      </p:sp>
      <p:sp>
        <p:nvSpPr>
          <p:cNvPr id="4" name="Slide Number Placeholder 3">
            <a:extLst>
              <a:ext uri="{FF2B5EF4-FFF2-40B4-BE49-F238E27FC236}">
                <a16:creationId xmlns:a16="http://schemas.microsoft.com/office/drawing/2014/main" id="{9B9FEE5A-0760-6805-62F0-05A651A051AA}"/>
              </a:ext>
            </a:extLst>
          </p:cNvPr>
          <p:cNvSpPr>
            <a:spLocks noGrp="1"/>
          </p:cNvSpPr>
          <p:nvPr>
            <p:ph type="sldNum" sz="quarter" idx="5"/>
          </p:nvPr>
        </p:nvSpPr>
        <p:spPr/>
        <p:txBody>
          <a:bodyPr/>
          <a:lstStyle/>
          <a:p>
            <a:fld id="{08A7B8A6-DC2C-4E66-899B-3FF6576B90A7}" type="slidenum">
              <a:rPr lang="en-US" smtClean="0"/>
              <a:t>32</a:t>
            </a:fld>
            <a:endParaRPr lang="en-US"/>
          </a:p>
        </p:txBody>
      </p:sp>
    </p:spTree>
    <p:extLst>
      <p:ext uri="{BB962C8B-B14F-4D97-AF65-F5344CB8AC3E}">
        <p14:creationId xmlns:p14="http://schemas.microsoft.com/office/powerpoint/2010/main" val="235709974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D323E1-9C4E-473E-1C1A-17E60BA7CF3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D5C54C-1A9A-3C3E-00EF-152A299630B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94CBABF-356E-A5FB-7A0D-BD71D4427027}"/>
              </a:ext>
            </a:extLst>
          </p:cNvPr>
          <p:cNvSpPr>
            <a:spLocks noGrp="1"/>
          </p:cNvSpPr>
          <p:nvPr>
            <p:ph type="body" idx="1"/>
          </p:nvPr>
        </p:nvSpPr>
        <p:spPr/>
        <p:txBody>
          <a:bodyPr/>
          <a:lstStyle/>
          <a:p>
            <a:r>
              <a:rPr lang="en-US"/>
              <a:t>https://learn.microsoft.com/en-us/azure/aks/image-integrity?tabs=azure-cli </a:t>
            </a:r>
          </a:p>
          <a:p>
            <a:endParaRPr lang="en-US"/>
          </a:p>
          <a:p>
            <a:endParaRPr lang="en-US"/>
          </a:p>
          <a:p>
            <a:r>
              <a:rPr lang="en-US"/>
              <a:t>In Kubernetes, </a:t>
            </a:r>
            <a:r>
              <a:rPr lang="en-US" b="1"/>
              <a:t>Gatekeeper</a:t>
            </a:r>
            <a:r>
              <a:rPr lang="en-US"/>
              <a:t> is a policy enforcement engine that ensures your cluster follows defined security and compliance rules.</a:t>
            </a:r>
          </a:p>
          <a:p>
            <a:r>
              <a:rPr lang="en-US"/>
              <a:t>More precisely:</a:t>
            </a:r>
          </a:p>
          <a:p>
            <a:r>
              <a:rPr lang="en-US" b="1"/>
              <a:t>Gatekeeper is an admission controller that enforces policies using Open Policy Agent (OPA).</a:t>
            </a:r>
            <a:endParaRPr lang="en-US"/>
          </a:p>
          <a:p>
            <a:br>
              <a:rPr lang="en-US"/>
            </a:br>
            <a:endParaRPr lang="en-US"/>
          </a:p>
          <a:p>
            <a:r>
              <a:rPr lang="en-US" b="1"/>
              <a:t>🧠 What Problem Does Gatekeeper Solve?</a:t>
            </a:r>
          </a:p>
          <a:p>
            <a:r>
              <a:rPr lang="en-US"/>
              <a:t>Kubernetes by default allows almost anything unless restricted.</a:t>
            </a:r>
          </a:p>
          <a:p>
            <a:r>
              <a:rPr lang="en-US"/>
              <a:t>For example, without policy enforcement, someone could:</a:t>
            </a:r>
          </a:p>
          <a:p>
            <a:r>
              <a:rPr lang="en-US"/>
              <a:t>Deploy a privileged container</a:t>
            </a:r>
          </a:p>
          <a:p>
            <a:r>
              <a:rPr lang="en-US"/>
              <a:t>Run as root</a:t>
            </a:r>
          </a:p>
          <a:p>
            <a:r>
              <a:rPr lang="en-US"/>
              <a:t>Use </a:t>
            </a:r>
            <a:r>
              <a:rPr lang="en-US" sz="1200" kern="1200">
                <a:solidFill>
                  <a:schemeClr val="tx1"/>
                </a:solidFill>
                <a:latin typeface="+mn-lt"/>
                <a:ea typeface="+mn-ea"/>
                <a:cs typeface="+mn-cs"/>
              </a:rPr>
              <a:t>latest</a:t>
            </a:r>
            <a:r>
              <a:rPr lang="en-US"/>
              <a:t> image tags</a:t>
            </a:r>
          </a:p>
          <a:p>
            <a:r>
              <a:rPr lang="en-US"/>
              <a:t>Expose a </a:t>
            </a:r>
            <a:r>
              <a:rPr lang="en-US" err="1"/>
              <a:t>LoadBalancer</a:t>
            </a:r>
            <a:r>
              <a:rPr lang="en-US"/>
              <a:t> publicly</a:t>
            </a:r>
          </a:p>
          <a:p>
            <a:r>
              <a:rPr lang="en-US"/>
              <a:t>Mount host paths</a:t>
            </a:r>
          </a:p>
          <a:p>
            <a:r>
              <a:rPr lang="en-US"/>
              <a:t>Gatekeeper prevents this by validating resources </a:t>
            </a:r>
            <a:r>
              <a:rPr lang="en-US" b="1"/>
              <a:t>before they are created</a:t>
            </a:r>
            <a:r>
              <a:rPr lang="en-US"/>
              <a:t>.</a:t>
            </a:r>
          </a:p>
          <a:p>
            <a:br>
              <a:rPr lang="en-US"/>
            </a:br>
            <a:endParaRPr lang="en-US"/>
          </a:p>
          <a:p>
            <a:r>
              <a:rPr lang="en-US" b="1"/>
              <a:t>🏗 How It Works</a:t>
            </a:r>
          </a:p>
          <a:p>
            <a:r>
              <a:rPr lang="en-US"/>
              <a:t>Gatekeeper runs as a </a:t>
            </a:r>
            <a:r>
              <a:rPr lang="en-US" b="1"/>
              <a:t>validating admission webhook</a:t>
            </a:r>
            <a:r>
              <a:rPr lang="en-US"/>
              <a:t>.</a:t>
            </a:r>
          </a:p>
          <a:p>
            <a:r>
              <a:rPr lang="en-US"/>
              <a:t>When you run:</a:t>
            </a:r>
          </a:p>
          <a:p>
            <a:r>
              <a:rPr lang="en-US" sz="1200" kern="1200" err="1">
                <a:solidFill>
                  <a:schemeClr val="tx1"/>
                </a:solidFill>
                <a:latin typeface="+mn-lt"/>
                <a:ea typeface="+mn-ea"/>
                <a:cs typeface="+mn-cs"/>
              </a:rPr>
              <a:t>kubectl</a:t>
            </a:r>
            <a:r>
              <a:rPr lang="en-US" sz="1200" kern="1200">
                <a:solidFill>
                  <a:schemeClr val="tx1"/>
                </a:solidFill>
                <a:latin typeface="+mn-lt"/>
                <a:ea typeface="+mn-ea"/>
                <a:cs typeface="+mn-cs"/>
              </a:rPr>
              <a:t> apply -f </a:t>
            </a:r>
            <a:r>
              <a:rPr lang="en-US" sz="1200" kern="1200" err="1">
                <a:solidFill>
                  <a:schemeClr val="tx1"/>
                </a:solidFill>
                <a:latin typeface="+mn-lt"/>
                <a:ea typeface="+mn-ea"/>
                <a:cs typeface="+mn-cs"/>
              </a:rPr>
              <a:t>deployment.yaml</a:t>
            </a:r>
            <a:endParaRPr lang="en-US" sz="1200" kern="1200">
              <a:solidFill>
                <a:schemeClr val="tx1"/>
              </a:solidFill>
              <a:latin typeface="+mn-lt"/>
              <a:ea typeface="+mn-ea"/>
              <a:cs typeface="+mn-cs"/>
            </a:endParaRPr>
          </a:p>
          <a:p>
            <a:r>
              <a:rPr lang="en-US"/>
              <a:t>Flow:</a:t>
            </a:r>
          </a:p>
          <a:p>
            <a:r>
              <a:rPr lang="en-US"/>
              <a:t>API Server receives request</a:t>
            </a:r>
          </a:p>
          <a:p>
            <a:r>
              <a:rPr lang="en-US"/>
              <a:t>Gatekeeper intercepts it</a:t>
            </a:r>
          </a:p>
          <a:p>
            <a:r>
              <a:rPr lang="en-US"/>
              <a:t>Policy is evaluated</a:t>
            </a:r>
          </a:p>
          <a:p>
            <a:r>
              <a:rPr lang="en-US"/>
              <a:t>If policy passes → resource created</a:t>
            </a:r>
          </a:p>
          <a:p>
            <a:r>
              <a:rPr lang="en-US"/>
              <a:t>If policy fails → request rejected</a:t>
            </a:r>
          </a:p>
          <a:p>
            <a:br>
              <a:rPr lang="en-US"/>
            </a:br>
            <a:endParaRPr lang="en-US"/>
          </a:p>
          <a:p>
            <a:r>
              <a:rPr lang="en-US" b="1"/>
              <a:t>🔧 Technology Behind It</a:t>
            </a:r>
          </a:p>
          <a:p>
            <a:r>
              <a:rPr lang="en-US"/>
              <a:t>Gatekeeper uses:</a:t>
            </a:r>
          </a:p>
          <a:p>
            <a:r>
              <a:rPr lang="en-US"/>
              <a:t>Open Policy Agent (OPA)</a:t>
            </a:r>
          </a:p>
          <a:p>
            <a:r>
              <a:rPr lang="en-US"/>
              <a:t>Rego policy language</a:t>
            </a:r>
          </a:p>
          <a:p>
            <a:r>
              <a:rPr lang="en-US"/>
              <a:t>Kubernetes admission controller mechanism</a:t>
            </a:r>
          </a:p>
          <a:p>
            <a:br>
              <a:rPr lang="en-US"/>
            </a:br>
            <a:endParaRPr lang="en-US"/>
          </a:p>
          <a:p>
            <a:r>
              <a:rPr lang="en-US" b="1"/>
              <a:t>📦 Gatekeeper Components</a:t>
            </a:r>
          </a:p>
          <a:p>
            <a:r>
              <a:rPr lang="en-US" b="1" err="1"/>
              <a:t>ConstraintTemplate</a:t>
            </a:r>
            <a:br>
              <a:rPr lang="en-US"/>
            </a:br>
            <a:r>
              <a:rPr lang="en-US"/>
              <a:t>Defines reusable policy logic (written in Rego)</a:t>
            </a:r>
          </a:p>
          <a:p>
            <a:r>
              <a:rPr lang="en-US" b="1"/>
              <a:t>Constraint</a:t>
            </a:r>
            <a:br>
              <a:rPr lang="en-US"/>
            </a:br>
            <a:r>
              <a:rPr lang="en-US"/>
              <a:t>Applies that template to specific resources</a:t>
            </a:r>
          </a:p>
          <a:p>
            <a:br>
              <a:rPr lang="en-US"/>
            </a:br>
            <a:endParaRPr lang="en-US"/>
          </a:p>
          <a:p>
            <a:r>
              <a:rPr lang="en-US" b="1"/>
              <a:t>📌 Example Use Cases</a:t>
            </a:r>
          </a:p>
          <a:p>
            <a:r>
              <a:rPr lang="en-US" b="1"/>
              <a:t>🚫 Block Privileged Containers</a:t>
            </a:r>
          </a:p>
          <a:p>
            <a:r>
              <a:rPr lang="en-US"/>
              <a:t>Policy:</a:t>
            </a:r>
          </a:p>
          <a:p>
            <a:r>
              <a:rPr lang="en-US" sz="1200" kern="1200">
                <a:solidFill>
                  <a:schemeClr val="tx1"/>
                </a:solidFill>
                <a:latin typeface="+mn-lt"/>
                <a:ea typeface="+mn-ea"/>
                <a:cs typeface="+mn-cs"/>
              </a:rPr>
              <a:t>violation {</a:t>
            </a:r>
          </a:p>
          <a:p>
            <a:r>
              <a:rPr lang="en-US" sz="1200" kern="1200">
                <a:solidFill>
                  <a:schemeClr val="tx1"/>
                </a:solidFill>
                <a:latin typeface="+mn-lt"/>
                <a:ea typeface="+mn-ea"/>
                <a:cs typeface="+mn-cs"/>
              </a:rPr>
              <a:t>  </a:t>
            </a:r>
            <a:r>
              <a:rPr lang="en-US" sz="1200" kern="1200" err="1">
                <a:solidFill>
                  <a:schemeClr val="tx1"/>
                </a:solidFill>
                <a:latin typeface="+mn-lt"/>
                <a:ea typeface="+mn-ea"/>
                <a:cs typeface="+mn-cs"/>
              </a:rPr>
              <a:t>input.review.object.spec.containers</a:t>
            </a:r>
            <a:r>
              <a:rPr lang="en-US" sz="1200" kern="1200">
                <a:solidFill>
                  <a:schemeClr val="tx1"/>
                </a:solidFill>
                <a:latin typeface="+mn-lt"/>
                <a:ea typeface="+mn-ea"/>
                <a:cs typeface="+mn-cs"/>
              </a:rPr>
              <a:t>[_].</a:t>
            </a:r>
            <a:r>
              <a:rPr lang="en-US" sz="1200" kern="1200" err="1">
                <a:solidFill>
                  <a:schemeClr val="tx1"/>
                </a:solidFill>
                <a:latin typeface="+mn-lt"/>
                <a:ea typeface="+mn-ea"/>
                <a:cs typeface="+mn-cs"/>
              </a:rPr>
              <a:t>securityContext.privileged</a:t>
            </a:r>
            <a:r>
              <a:rPr lang="en-US" sz="1200" kern="1200">
                <a:solidFill>
                  <a:schemeClr val="tx1"/>
                </a:solidFill>
                <a:latin typeface="+mn-lt"/>
                <a:ea typeface="+mn-ea"/>
                <a:cs typeface="+mn-cs"/>
              </a:rPr>
              <a:t> == true</a:t>
            </a:r>
          </a:p>
          <a:p>
            <a:r>
              <a:rPr lang="en-US" sz="1200" kern="1200">
                <a:solidFill>
                  <a:schemeClr val="tx1"/>
                </a:solidFill>
                <a:latin typeface="+mn-lt"/>
                <a:ea typeface="+mn-ea"/>
                <a:cs typeface="+mn-cs"/>
              </a:rPr>
              <a:t>}</a:t>
            </a:r>
          </a:p>
          <a:p>
            <a:r>
              <a:rPr lang="en-US"/>
              <a:t>Result:</a:t>
            </a:r>
            <a:br>
              <a:rPr lang="en-US"/>
            </a:br>
            <a:r>
              <a:rPr lang="en-US"/>
              <a:t>If someone tries to deploy a privileged pod → rejected.</a:t>
            </a:r>
          </a:p>
          <a:p>
            <a:br>
              <a:rPr lang="en-US"/>
            </a:br>
            <a:endParaRPr lang="en-US"/>
          </a:p>
          <a:p>
            <a:r>
              <a:rPr lang="en-US" b="1"/>
              <a:t>🏷 Require Labels</a:t>
            </a:r>
          </a:p>
          <a:p>
            <a:r>
              <a:rPr lang="en-US"/>
              <a:t>Enforce:</a:t>
            </a:r>
          </a:p>
          <a:p>
            <a:r>
              <a:rPr lang="en-US"/>
              <a:t>All resources must have </a:t>
            </a:r>
            <a:r>
              <a:rPr lang="en-US" sz="1200" kern="1200">
                <a:solidFill>
                  <a:schemeClr val="tx1"/>
                </a:solidFill>
                <a:latin typeface="+mn-lt"/>
                <a:ea typeface="+mn-ea"/>
                <a:cs typeface="+mn-cs"/>
              </a:rPr>
              <a:t>owner</a:t>
            </a:r>
            <a:endParaRPr lang="en-US"/>
          </a:p>
          <a:p>
            <a:r>
              <a:rPr lang="en-US"/>
              <a:t>Must have </a:t>
            </a:r>
            <a:r>
              <a:rPr lang="en-US" sz="1200" kern="1200">
                <a:solidFill>
                  <a:schemeClr val="tx1"/>
                </a:solidFill>
                <a:latin typeface="+mn-lt"/>
                <a:ea typeface="+mn-ea"/>
                <a:cs typeface="+mn-cs"/>
              </a:rPr>
              <a:t>environment</a:t>
            </a:r>
            <a:endParaRPr lang="en-US"/>
          </a:p>
          <a:p>
            <a:r>
              <a:rPr lang="en-US"/>
              <a:t>Must follow naming conventions</a:t>
            </a:r>
          </a:p>
          <a:p>
            <a:br>
              <a:rPr lang="en-US"/>
            </a:br>
            <a:endParaRPr lang="en-US"/>
          </a:p>
          <a:p>
            <a:r>
              <a:rPr lang="en-US" b="1"/>
              <a:t>🔐 Enforce Security Standards</a:t>
            </a:r>
          </a:p>
          <a:p>
            <a:r>
              <a:rPr lang="en-US"/>
              <a:t>Prevent </a:t>
            </a:r>
            <a:r>
              <a:rPr lang="en-US" err="1"/>
              <a:t>hostPath</a:t>
            </a:r>
            <a:r>
              <a:rPr lang="en-US"/>
              <a:t> mounts</a:t>
            </a:r>
          </a:p>
          <a:p>
            <a:r>
              <a:rPr lang="en-US"/>
              <a:t>Disallow </a:t>
            </a:r>
            <a:r>
              <a:rPr lang="en-US" sz="1200" kern="1200">
                <a:solidFill>
                  <a:schemeClr val="tx1"/>
                </a:solidFill>
                <a:latin typeface="+mn-lt"/>
                <a:ea typeface="+mn-ea"/>
                <a:cs typeface="+mn-cs"/>
              </a:rPr>
              <a:t>latest</a:t>
            </a:r>
            <a:r>
              <a:rPr lang="en-US"/>
              <a:t> tag</a:t>
            </a:r>
          </a:p>
          <a:p>
            <a:r>
              <a:rPr lang="en-US"/>
              <a:t>Require resource limits</a:t>
            </a:r>
          </a:p>
          <a:p>
            <a:r>
              <a:rPr lang="en-US"/>
              <a:t>Enforce Pod Security Standards</a:t>
            </a:r>
          </a:p>
          <a:p>
            <a:br>
              <a:rPr lang="en-US"/>
            </a:br>
            <a:endParaRPr lang="en-US"/>
          </a:p>
          <a:p>
            <a:r>
              <a:rPr lang="en-US" b="1"/>
              <a:t>🏢 In Enterprise / AKS Context</a:t>
            </a:r>
          </a:p>
          <a:p>
            <a:r>
              <a:rPr lang="en-US"/>
              <a:t>Since you work heavily with AKS and governance:</a:t>
            </a:r>
          </a:p>
          <a:p>
            <a:r>
              <a:rPr lang="en-US"/>
              <a:t>Gatekeeper is commonly used for:</a:t>
            </a:r>
          </a:p>
          <a:p>
            <a:r>
              <a:rPr lang="en-US"/>
              <a:t>Azure policy integration</a:t>
            </a:r>
          </a:p>
          <a:p>
            <a:r>
              <a:rPr lang="en-US"/>
              <a:t>Enterprise governance</a:t>
            </a:r>
          </a:p>
          <a:p>
            <a:r>
              <a:rPr lang="en-US"/>
              <a:t>Multi-team cluster control</a:t>
            </a:r>
          </a:p>
          <a:p>
            <a:r>
              <a:rPr lang="en-US"/>
              <a:t>Regulated environments (finance, healthcare)</a:t>
            </a:r>
          </a:p>
          <a:p>
            <a:r>
              <a:rPr lang="en-US"/>
              <a:t>In AKS specifically, Azure Policy for Kubernetes integrates with Gatekeeper under the hood.</a:t>
            </a:r>
          </a:p>
          <a:p>
            <a:br>
              <a:rPr lang="en-US"/>
            </a:br>
            <a:endParaRPr lang="en-US"/>
          </a:p>
          <a:p>
            <a:r>
              <a:rPr lang="en-US" b="1"/>
              <a:t>🔄 Gatekeeper vs Alternatives</a:t>
            </a:r>
          </a:p>
          <a:p>
            <a:r>
              <a:rPr lang="en-US" err="1"/>
              <a:t>ToolPurposeGatekeeperOPA</a:t>
            </a:r>
            <a:r>
              <a:rPr lang="en-US"/>
              <a:t>-based policy </a:t>
            </a:r>
            <a:r>
              <a:rPr lang="en-US" err="1"/>
              <a:t>enforcementKyvernoNative</a:t>
            </a:r>
            <a:r>
              <a:rPr lang="en-US"/>
              <a:t> Kubernetes policy engine (no Rego)Pod Security AdmissionBuilt-in basic pod security</a:t>
            </a:r>
          </a:p>
          <a:p>
            <a:br>
              <a:rPr lang="en-US"/>
            </a:br>
            <a:endParaRPr lang="en-US"/>
          </a:p>
          <a:p>
            <a:r>
              <a:rPr lang="en-US" b="1"/>
              <a:t>🧩 In One Sentence</a:t>
            </a:r>
          </a:p>
          <a:p>
            <a:r>
              <a:rPr lang="en-US"/>
              <a:t>Gatekeeper is a Kubernetes admission controller that enforces custom policies using Open Policy Agent before resources are admitted into the cluster.</a:t>
            </a:r>
          </a:p>
          <a:p>
            <a:br>
              <a:rPr lang="en-US"/>
            </a:br>
            <a:endParaRPr lang="en-US"/>
          </a:p>
          <a:p>
            <a:r>
              <a:rPr lang="en-US"/>
              <a:t>If you’d like, I can also:</a:t>
            </a:r>
          </a:p>
          <a:p>
            <a:r>
              <a:rPr lang="en-US"/>
              <a:t>Show a minimal AKS + Gatekeeper setup</a:t>
            </a:r>
          </a:p>
          <a:p>
            <a:r>
              <a:rPr lang="en-US"/>
              <a:t>Compare Gatekeeper vs </a:t>
            </a:r>
            <a:r>
              <a:rPr lang="en-US" err="1"/>
              <a:t>Kyverno</a:t>
            </a:r>
            <a:r>
              <a:rPr lang="en-US"/>
              <a:t> deeply</a:t>
            </a:r>
          </a:p>
          <a:p>
            <a:r>
              <a:rPr lang="en-US"/>
              <a:t>Or show how Azure Policy uses Gatekeeper internally</a:t>
            </a:r>
          </a:p>
          <a:p>
            <a:endParaRPr lang="en-US"/>
          </a:p>
        </p:txBody>
      </p:sp>
      <p:sp>
        <p:nvSpPr>
          <p:cNvPr id="4" name="Slide Number Placeholder 3">
            <a:extLst>
              <a:ext uri="{FF2B5EF4-FFF2-40B4-BE49-F238E27FC236}">
                <a16:creationId xmlns:a16="http://schemas.microsoft.com/office/drawing/2014/main" id="{93C2C0BA-CD97-4744-43A0-3E3F31B60BD2}"/>
              </a:ext>
            </a:extLst>
          </p:cNvPr>
          <p:cNvSpPr>
            <a:spLocks noGrp="1"/>
          </p:cNvSpPr>
          <p:nvPr>
            <p:ph type="sldNum" sz="quarter" idx="5"/>
          </p:nvPr>
        </p:nvSpPr>
        <p:spPr/>
        <p:txBody>
          <a:bodyPr/>
          <a:lstStyle/>
          <a:p>
            <a:fld id="{08A7B8A6-DC2C-4E66-899B-3FF6576B90A7}" type="slidenum">
              <a:rPr lang="en-US" smtClean="0"/>
              <a:t>33</a:t>
            </a:fld>
            <a:endParaRPr lang="en-US"/>
          </a:p>
        </p:txBody>
      </p:sp>
    </p:spTree>
    <p:extLst>
      <p:ext uri="{BB962C8B-B14F-4D97-AF65-F5344CB8AC3E}">
        <p14:creationId xmlns:p14="http://schemas.microsoft.com/office/powerpoint/2010/main" val="249162815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1FE44C-EB42-FB04-FC0D-210227D83E2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A4F698C-3459-EB51-FCC2-996C7DD60E8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1D2A787-407D-EA98-18D8-57E4D80BE41F}"/>
              </a:ext>
            </a:extLst>
          </p:cNvPr>
          <p:cNvSpPr>
            <a:spLocks noGrp="1"/>
          </p:cNvSpPr>
          <p:nvPr>
            <p:ph type="body" idx="1"/>
          </p:nvPr>
        </p:nvSpPr>
        <p:spPr/>
        <p:txBody>
          <a:bodyPr/>
          <a:lstStyle/>
          <a:p>
            <a:r>
              <a:rPr lang="en-US"/>
              <a:t>https://learn.microsoft.com/en-us/azure/aks/image-integrity?tabs=azure-cli </a:t>
            </a:r>
          </a:p>
          <a:p>
            <a:endParaRPr lang="en-US"/>
          </a:p>
          <a:p>
            <a:r>
              <a:rPr lang="en-US" sz="1200" b="0" i="0" kern="1200">
                <a:solidFill>
                  <a:schemeClr val="tx1"/>
                </a:solidFill>
                <a:effectLst/>
                <a:latin typeface="+mn-lt"/>
                <a:ea typeface="+mn-ea"/>
                <a:cs typeface="+mn-cs"/>
              </a:rPr>
              <a:t>Image Integrity uses Ratify, Azure Policy, and Gatekeeper to validate signed images before deploying them to your AKS clusters. Enabling Image Integrity on your cluster deploys a Ratify pod. </a:t>
            </a:r>
          </a:p>
          <a:p>
            <a:r>
              <a:rPr lang="en-US" sz="1200" b="0" i="0" kern="1200">
                <a:solidFill>
                  <a:schemeClr val="tx1"/>
                </a:solidFill>
                <a:effectLst/>
                <a:latin typeface="+mn-lt"/>
                <a:ea typeface="+mn-ea"/>
                <a:cs typeface="+mn-cs"/>
              </a:rPr>
              <a:t>This Ratify pod performs the following tasks:</a:t>
            </a:r>
          </a:p>
          <a:p>
            <a:r>
              <a:rPr lang="en-US" sz="1200" b="0" i="0" kern="1200">
                <a:solidFill>
                  <a:schemeClr val="tx1"/>
                </a:solidFill>
                <a:effectLst/>
                <a:latin typeface="+mn-lt"/>
                <a:ea typeface="+mn-ea"/>
                <a:cs typeface="+mn-cs"/>
              </a:rPr>
              <a:t>1. Reconciles certificates from Azure Key Vault per the configuration you set up through Ratify CRDs.</a:t>
            </a:r>
          </a:p>
          <a:p>
            <a:r>
              <a:rPr lang="en-US" sz="1200" b="0" i="0" kern="1200">
                <a:solidFill>
                  <a:schemeClr val="tx1"/>
                </a:solidFill>
                <a:effectLst/>
                <a:latin typeface="+mn-lt"/>
                <a:ea typeface="+mn-ea"/>
                <a:cs typeface="+mn-cs"/>
              </a:rPr>
              <a:t>2. Accesses images stored in ACR when validation requests come from </a:t>
            </a:r>
            <a:r>
              <a:rPr lang="en-US" sz="1200" b="0" i="0" u="none" strike="noStrike" kern="1200">
                <a:solidFill>
                  <a:schemeClr val="tx1"/>
                </a:solidFill>
                <a:effectLst/>
                <a:latin typeface="+mn-lt"/>
                <a:ea typeface="+mn-ea"/>
                <a:cs typeface="+mn-cs"/>
                <a:hlinkClick r:id="rId3"/>
              </a:rPr>
              <a:t>Azure Policy</a:t>
            </a:r>
            <a:r>
              <a:rPr lang="en-US" sz="1200" b="0" i="0" kern="1200">
                <a:solidFill>
                  <a:schemeClr val="tx1"/>
                </a:solidFill>
                <a:effectLst/>
                <a:latin typeface="+mn-lt"/>
                <a:ea typeface="+mn-ea"/>
                <a:cs typeface="+mn-cs"/>
              </a:rPr>
              <a:t>. To enable this experience, Azure Policy extends Gatekeeper, an admission controller webhook for </a:t>
            </a:r>
            <a:r>
              <a:rPr lang="en-US" sz="1200" b="0" i="0" u="none" strike="noStrike" kern="1200">
                <a:solidFill>
                  <a:schemeClr val="tx1"/>
                </a:solidFill>
                <a:effectLst/>
                <a:latin typeface="+mn-lt"/>
                <a:ea typeface="+mn-ea"/>
                <a:cs typeface="+mn-cs"/>
                <a:hlinkClick r:id="rId4"/>
              </a:rPr>
              <a:t>Open Policy Agent (OPA)</a:t>
            </a:r>
            <a:r>
              <a:rPr lang="en-US" sz="1200" b="0" i="0" kern="1200">
                <a:solidFill>
                  <a:schemeClr val="tx1"/>
                </a:solidFill>
                <a:effectLst/>
                <a:latin typeface="+mn-lt"/>
                <a:ea typeface="+mn-ea"/>
                <a:cs typeface="+mn-cs"/>
              </a:rPr>
              <a:t>.</a:t>
            </a:r>
          </a:p>
          <a:p>
            <a:r>
              <a:rPr lang="en-US" sz="1200" b="0" i="0" kern="1200">
                <a:solidFill>
                  <a:schemeClr val="tx1"/>
                </a:solidFill>
                <a:effectLst/>
                <a:latin typeface="+mn-lt"/>
                <a:ea typeface="+mn-ea"/>
                <a:cs typeface="+mn-cs"/>
              </a:rPr>
              <a:t>3. Determines whether the target image is signed with a trusted cert and therefore considered as </a:t>
            </a:r>
            <a:r>
              <a:rPr lang="en-US" sz="1200" b="0" i="1" kern="1200">
                <a:solidFill>
                  <a:schemeClr val="tx1"/>
                </a:solidFill>
                <a:effectLst/>
                <a:latin typeface="+mn-lt"/>
                <a:ea typeface="+mn-ea"/>
                <a:cs typeface="+mn-cs"/>
              </a:rPr>
              <a:t>trusted</a:t>
            </a:r>
            <a:r>
              <a:rPr lang="en-US" sz="1200" b="0" i="0" kern="1200">
                <a:solidFill>
                  <a:schemeClr val="tx1"/>
                </a:solidFill>
                <a:effectLst/>
                <a:latin typeface="+mn-lt"/>
                <a:ea typeface="+mn-ea"/>
                <a:cs typeface="+mn-cs"/>
              </a:rPr>
              <a:t>.</a:t>
            </a:r>
          </a:p>
          <a:p>
            <a:r>
              <a:rPr lang="en-US" sz="1200" b="0" i="0" kern="1200">
                <a:solidFill>
                  <a:schemeClr val="tx1"/>
                </a:solidFill>
                <a:effectLst/>
                <a:latin typeface="+mn-lt"/>
                <a:ea typeface="+mn-ea"/>
                <a:cs typeface="+mn-cs"/>
              </a:rPr>
              <a:t>4. </a:t>
            </a:r>
            <a:r>
              <a:rPr lang="en-US" sz="1200" b="0" i="0" kern="1200" err="1">
                <a:solidFill>
                  <a:schemeClr val="tx1"/>
                </a:solidFill>
                <a:effectLst/>
                <a:latin typeface="+mn-lt"/>
                <a:ea typeface="+mn-ea"/>
                <a:cs typeface="+mn-cs"/>
              </a:rPr>
              <a:t>AzurePolicy</a:t>
            </a:r>
            <a:r>
              <a:rPr lang="en-US" sz="1200" b="0" i="0" kern="1200">
                <a:solidFill>
                  <a:schemeClr val="tx1"/>
                </a:solidFill>
                <a:effectLst/>
                <a:latin typeface="+mn-lt"/>
                <a:ea typeface="+mn-ea"/>
                <a:cs typeface="+mn-cs"/>
              </a:rPr>
              <a:t> and Gatekeeper consume the validation results as the compliance state to decide whether to allow the deployment request.</a:t>
            </a:r>
          </a:p>
          <a:p>
            <a:endParaRPr lang="en-US"/>
          </a:p>
          <a:p>
            <a:endParaRPr lang="en-US"/>
          </a:p>
          <a:p>
            <a:r>
              <a:rPr lang="en-US"/>
              <a:t>If you mean </a:t>
            </a:r>
            <a:r>
              <a:rPr lang="en-US" b="1"/>
              <a:t>AKS’s built-in “</a:t>
            </a:r>
            <a:r>
              <a:rPr lang="en-US" b="1" err="1"/>
              <a:t>ImageIntegrity</a:t>
            </a:r>
            <a:r>
              <a:rPr lang="en-US" b="1"/>
              <a:t>” add-on</a:t>
            </a:r>
            <a:r>
              <a:rPr lang="en-US"/>
              <a:t> (the thing that deploys a Ratify pod and wires into Azure Policy/Gatekeeper), then </a:t>
            </a:r>
            <a:r>
              <a:rPr lang="en-US" b="1"/>
              <a:t>no — you should not use that specific feature for production ACR registries or production workloads right now</a:t>
            </a:r>
            <a:r>
              <a:rPr lang="en-US"/>
              <a:t>, because Microsoft documents it as </a:t>
            </a:r>
            <a:r>
              <a:rPr lang="en-US" b="1"/>
              <a:t>Preview</a:t>
            </a:r>
            <a:r>
              <a:rPr lang="en-US"/>
              <a:t> and explicitly says you </a:t>
            </a:r>
            <a:r>
              <a:rPr lang="en-US" b="1"/>
              <a:t>shouldn’t use it for production ACR registries or workloads</a:t>
            </a:r>
            <a:r>
              <a:rPr lang="en-US"/>
              <a:t>. (</a:t>
            </a:r>
            <a:r>
              <a:rPr lang="en-US">
                <a:hlinkClick r:id="rId5" tooltip="Use Image Integrity to validate signed images before deploying them to your Azure Kubernetes Service (AKS) clusters (Preview) - Azure Kubernetes Service | Microsoft Learn"/>
              </a:rPr>
              <a:t>Microsoft Learn</a:t>
            </a:r>
            <a:r>
              <a:rPr lang="en-US"/>
              <a:t>)</a:t>
            </a:r>
          </a:p>
          <a:p>
            <a:r>
              <a:rPr lang="en-US" b="1"/>
              <a:t>What </a:t>
            </a:r>
            <a:r>
              <a:rPr lang="en-US" b="1" i="1"/>
              <a:t>is</a:t>
            </a:r>
            <a:r>
              <a:rPr lang="en-US" b="1"/>
              <a:t> safe for production?</a:t>
            </a:r>
          </a:p>
          <a:p>
            <a:r>
              <a:rPr lang="en-US" b="1"/>
              <a:t>✅ Production-safe pattern: Ratify (as a normal Kubernetes component) + policy enforcement</a:t>
            </a:r>
          </a:p>
          <a:p>
            <a:r>
              <a:rPr lang="en-US"/>
              <a:t>Microsoft has guidance for </a:t>
            </a:r>
            <a:r>
              <a:rPr lang="en-US" b="1"/>
              <a:t>validating container image signatures with Ratify + Azure Policy</a:t>
            </a:r>
            <a:r>
              <a:rPr lang="en-US"/>
              <a:t>, where you install Ratify (e.g., Helm) and then use Azure Policy with either </a:t>
            </a:r>
            <a:r>
              <a:rPr lang="en-US" b="1"/>
              <a:t>Audit</a:t>
            </a:r>
            <a:r>
              <a:rPr lang="en-US"/>
              <a:t> or </a:t>
            </a:r>
            <a:r>
              <a:rPr lang="en-US" b="1"/>
              <a:t>Deny</a:t>
            </a:r>
            <a:r>
              <a:rPr lang="en-US"/>
              <a:t> effects. That approach is described as a “secure supply chain” scenario and supports a real enforcement mode (Deny) for blocking unsigned/untrusted images. (</a:t>
            </a:r>
            <a:r>
              <a:rPr lang="en-US">
                <a:hlinkClick r:id="rId6" tooltip="Securing AKS workloads: Validating container image signatures with Ratify and Azure Policy | Microsoft Learn"/>
              </a:rPr>
              <a:t>Microsoft Learn</a:t>
            </a:r>
            <a:r>
              <a:rPr lang="en-US"/>
              <a:t>)</a:t>
            </a:r>
          </a:p>
          <a:p>
            <a:r>
              <a:rPr lang="en-US"/>
              <a:t>So the practical answer is:</a:t>
            </a:r>
          </a:p>
          <a:p>
            <a:r>
              <a:rPr lang="en-US" b="1"/>
              <a:t>Don’t use the AKS “</a:t>
            </a:r>
            <a:r>
              <a:rPr lang="en-US" b="1" err="1"/>
              <a:t>ImageIntegrity</a:t>
            </a:r>
            <a:r>
              <a:rPr lang="en-US" b="1"/>
              <a:t>” add-on (Preview) for production.</a:t>
            </a:r>
            <a:r>
              <a:rPr lang="en-US"/>
              <a:t> (</a:t>
            </a:r>
            <a:r>
              <a:rPr lang="en-US">
                <a:hlinkClick r:id="rId5" tooltip="Use Image Integrity to validate signed images before deploying them to your Azure Kubernetes Service (AKS) clusters (Preview) - Azure Kubernetes Service | Microsoft Learn"/>
              </a:rPr>
              <a:t>Microsoft Learn</a:t>
            </a:r>
            <a:r>
              <a:rPr lang="en-US"/>
              <a:t>)</a:t>
            </a:r>
          </a:p>
          <a:p>
            <a:r>
              <a:rPr lang="en-US" b="1"/>
              <a:t>Do use image signing + signature verification in production</a:t>
            </a:r>
            <a:r>
              <a:rPr lang="en-US"/>
              <a:t>, but implement it using the </a:t>
            </a:r>
            <a:r>
              <a:rPr lang="en-US" b="1"/>
              <a:t>supported supply-chain approach</a:t>
            </a:r>
            <a:r>
              <a:rPr lang="en-US"/>
              <a:t> (Ratify + Notation + Azure Policy / Gatekeeper), starting in </a:t>
            </a:r>
            <a:r>
              <a:rPr lang="en-US" b="1"/>
              <a:t>Audit</a:t>
            </a:r>
            <a:r>
              <a:rPr lang="en-US"/>
              <a:t> and graduating to </a:t>
            </a:r>
            <a:r>
              <a:rPr lang="en-US" b="1"/>
              <a:t>Deny</a:t>
            </a:r>
            <a:r>
              <a:rPr lang="en-US"/>
              <a:t> once you’re confident. (</a:t>
            </a:r>
            <a:r>
              <a:rPr lang="en-US">
                <a:hlinkClick r:id="rId6" tooltip="Securing AKS workloads: Validating container image signatures with Ratify and Azure Policy | Microsoft Learn"/>
              </a:rPr>
              <a:t>Microsoft Learn</a:t>
            </a:r>
            <a:r>
              <a:rPr lang="en-US"/>
              <a:t>)</a:t>
            </a:r>
          </a:p>
          <a:p>
            <a:r>
              <a:rPr lang="en-US" b="1"/>
              <a:t>Why Microsoft says “don’t use </a:t>
            </a:r>
            <a:r>
              <a:rPr lang="en-US" b="1" err="1"/>
              <a:t>ImageIntegrity</a:t>
            </a:r>
            <a:r>
              <a:rPr lang="en-US" b="1"/>
              <a:t> preview” in prod</a:t>
            </a:r>
          </a:p>
          <a:p>
            <a:r>
              <a:rPr lang="en-US"/>
              <a:t>The AKS </a:t>
            </a:r>
            <a:r>
              <a:rPr lang="en-US" err="1"/>
              <a:t>ImageIntegrity</a:t>
            </a:r>
            <a:r>
              <a:rPr lang="en-US"/>
              <a:t> doc lists concrete limitations, including:</a:t>
            </a:r>
          </a:p>
          <a:p>
            <a:r>
              <a:rPr lang="en-US"/>
              <a:t>It’s </a:t>
            </a:r>
            <a:r>
              <a:rPr lang="en-US" b="1"/>
              <a:t>Preview</a:t>
            </a:r>
            <a:endParaRPr lang="en-US"/>
          </a:p>
          <a:p>
            <a:r>
              <a:rPr lang="en-US" b="1"/>
              <a:t>Audit is the only supported verification policy effect</a:t>
            </a:r>
            <a:r>
              <a:rPr lang="en-US"/>
              <a:t> (in that add-on experience)</a:t>
            </a:r>
          </a:p>
          <a:p>
            <a:r>
              <a:rPr lang="en-US"/>
              <a:t>Other limits like max signature count and verifier constraints (</a:t>
            </a:r>
            <a:r>
              <a:rPr lang="en-US">
                <a:hlinkClick r:id="rId5" tooltip="Use Image Integrity to validate signed images before deploying them to your Azure Kubernetes Service (AKS) clusters (Preview) - Azure Kubernetes Service | Microsoft Learn"/>
              </a:rPr>
              <a:t>Microsoft Learn</a:t>
            </a:r>
            <a:r>
              <a:rPr lang="en-US"/>
              <a:t>)</a:t>
            </a:r>
          </a:p>
          <a:p>
            <a:r>
              <a:rPr lang="en-US"/>
              <a:t>That combination is usually why it’s positioned as </a:t>
            </a:r>
            <a:r>
              <a:rPr lang="en-US" b="1"/>
              <a:t>non-production</a:t>
            </a:r>
            <a:r>
              <a:rPr lang="en-US"/>
              <a:t> today.</a:t>
            </a:r>
          </a:p>
          <a:p>
            <a:r>
              <a:rPr lang="en-US" b="1"/>
              <a:t>Recommended rollout approach (what teams actually do)</a:t>
            </a:r>
          </a:p>
          <a:p>
            <a:r>
              <a:rPr lang="en-US" b="1"/>
              <a:t>Sign images</a:t>
            </a:r>
            <a:r>
              <a:rPr lang="en-US"/>
              <a:t> (Notation + Key Vault / Trusted Signing) as part of CI/CD. (</a:t>
            </a:r>
            <a:r>
              <a:rPr lang="en-US">
                <a:hlinkClick r:id="rId6" tooltip="Securing AKS workloads: Validating container image signatures with Ratify and Azure Policy | Microsoft Learn"/>
              </a:rPr>
              <a:t>Microsoft Learn</a:t>
            </a:r>
            <a:r>
              <a:rPr lang="en-US"/>
              <a:t>)</a:t>
            </a:r>
          </a:p>
          <a:p>
            <a:r>
              <a:rPr lang="en-US" b="1"/>
              <a:t>Deploy Ratify + Gatekeeper</a:t>
            </a:r>
            <a:r>
              <a:rPr lang="en-US"/>
              <a:t> to the cluster (or your platform baseline). (</a:t>
            </a:r>
            <a:r>
              <a:rPr lang="en-US" err="1">
                <a:hlinkClick r:id="rId7" tooltip="Ratify on Azure | A cloud-native verification engine"/>
              </a:rPr>
              <a:t>ratify.dev</a:t>
            </a:r>
            <a:r>
              <a:rPr lang="en-US"/>
              <a:t>)</a:t>
            </a:r>
          </a:p>
          <a:p>
            <a:r>
              <a:rPr lang="en-US"/>
              <a:t>Start with </a:t>
            </a:r>
            <a:r>
              <a:rPr lang="en-US" b="1"/>
              <a:t>Audit</a:t>
            </a:r>
            <a:r>
              <a:rPr lang="en-US"/>
              <a:t> for a while (observe what would break). (</a:t>
            </a:r>
            <a:r>
              <a:rPr lang="en-US">
                <a:hlinkClick r:id="rId6" tooltip="Securing AKS workloads: Validating container image signatures with Ratify and Azure Policy | Microsoft Learn"/>
              </a:rPr>
              <a:t>Microsoft Learn</a:t>
            </a:r>
            <a:r>
              <a:rPr lang="en-US"/>
              <a:t>)</a:t>
            </a:r>
          </a:p>
          <a:p>
            <a:r>
              <a:rPr lang="en-US"/>
              <a:t>Move to </a:t>
            </a:r>
            <a:r>
              <a:rPr lang="en-US" b="1"/>
              <a:t>Deny</a:t>
            </a:r>
            <a:r>
              <a:rPr lang="en-US"/>
              <a:t> for key namespaces/workloads once clean. (</a:t>
            </a:r>
            <a:r>
              <a:rPr lang="en-US">
                <a:hlinkClick r:id="rId6" tooltip="Securing AKS workloads: Validating container image signatures with Ratify and Azure Policy | Microsoft Learn"/>
              </a:rPr>
              <a:t>Microsoft Learn</a:t>
            </a:r>
            <a:r>
              <a:rPr lang="en-US"/>
              <a:t>)</a:t>
            </a:r>
          </a:p>
          <a:p>
            <a:r>
              <a:rPr lang="en-US"/>
              <a:t>If you tell me whether your enforcement target is </a:t>
            </a:r>
            <a:r>
              <a:rPr lang="en-US" b="1"/>
              <a:t>AKS (admission-time)</a:t>
            </a:r>
            <a:r>
              <a:rPr lang="en-US"/>
              <a:t> or </a:t>
            </a:r>
            <a:r>
              <a:rPr lang="en-US" b="1"/>
              <a:t>ACR (registry governance)</a:t>
            </a:r>
            <a:r>
              <a:rPr lang="en-US"/>
              <a:t> and whether you’re using </a:t>
            </a:r>
            <a:r>
              <a:rPr lang="en-US" b="1"/>
              <a:t>Notation/Notary v2</a:t>
            </a:r>
            <a:r>
              <a:rPr lang="en-US"/>
              <a:t>, I can outline the exact production architecture (including identity, AKV/Trusted Signing, and policy scoping) in a few concrete steps.</a:t>
            </a:r>
          </a:p>
          <a:p>
            <a:endParaRPr lang="en-US"/>
          </a:p>
        </p:txBody>
      </p:sp>
      <p:sp>
        <p:nvSpPr>
          <p:cNvPr id="4" name="Slide Number Placeholder 3">
            <a:extLst>
              <a:ext uri="{FF2B5EF4-FFF2-40B4-BE49-F238E27FC236}">
                <a16:creationId xmlns:a16="http://schemas.microsoft.com/office/drawing/2014/main" id="{34663AA1-49A7-AA4B-79C2-9280FC9F2C46}"/>
              </a:ext>
            </a:extLst>
          </p:cNvPr>
          <p:cNvSpPr>
            <a:spLocks noGrp="1"/>
          </p:cNvSpPr>
          <p:nvPr>
            <p:ph type="sldNum" sz="quarter" idx="5"/>
          </p:nvPr>
        </p:nvSpPr>
        <p:spPr/>
        <p:txBody>
          <a:bodyPr/>
          <a:lstStyle/>
          <a:p>
            <a:fld id="{08A7B8A6-DC2C-4E66-899B-3FF6576B90A7}" type="slidenum">
              <a:rPr lang="en-US" smtClean="0"/>
              <a:t>34</a:t>
            </a:fld>
            <a:endParaRPr lang="en-US"/>
          </a:p>
        </p:txBody>
      </p:sp>
    </p:spTree>
    <p:extLst>
      <p:ext uri="{BB962C8B-B14F-4D97-AF65-F5344CB8AC3E}">
        <p14:creationId xmlns:p14="http://schemas.microsoft.com/office/powerpoint/2010/main" val="87849581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65E676-6A26-67BD-7BBD-4BDB57FEEC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7330BE3-FF98-42A9-9A91-10CDD9EE2F3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6402F0C-BBC7-2678-A417-87B1F134FE51}"/>
              </a:ext>
            </a:extLst>
          </p:cNvPr>
          <p:cNvSpPr>
            <a:spLocks noGrp="1"/>
          </p:cNvSpPr>
          <p:nvPr>
            <p:ph type="body" idx="1"/>
          </p:nvPr>
        </p:nvSpPr>
        <p:spPr/>
        <p:txBody>
          <a:bodyPr/>
          <a:lstStyle/>
          <a:p>
            <a:r>
              <a:rPr lang="en-US"/>
              <a:t>https://learn.microsoft.com/en-us/azure/aks/image-integrity?tabs=azure-cli </a:t>
            </a:r>
          </a:p>
          <a:p>
            <a:endParaRPr lang="en-US"/>
          </a:p>
          <a:p>
            <a:endParaRPr lang="en-US"/>
          </a:p>
          <a:p>
            <a:r>
              <a:rPr lang="en-US"/>
              <a:t>If you mean </a:t>
            </a:r>
            <a:r>
              <a:rPr lang="en-US" b="1"/>
              <a:t>AKS’s built-in “</a:t>
            </a:r>
            <a:r>
              <a:rPr lang="en-US" b="1" err="1"/>
              <a:t>ImageIntegrity</a:t>
            </a:r>
            <a:r>
              <a:rPr lang="en-US" b="1"/>
              <a:t>” add-on</a:t>
            </a:r>
            <a:r>
              <a:rPr lang="en-US"/>
              <a:t> (the thing that deploys a Ratify pod and wires into Azure Policy/Gatekeeper), then </a:t>
            </a:r>
            <a:r>
              <a:rPr lang="en-US" b="1"/>
              <a:t>no — you should not use that specific feature for production ACR registries or production workloads right now</a:t>
            </a:r>
            <a:r>
              <a:rPr lang="en-US"/>
              <a:t>, because Microsoft documents it as </a:t>
            </a:r>
            <a:r>
              <a:rPr lang="en-US" b="1"/>
              <a:t>Preview</a:t>
            </a:r>
            <a:r>
              <a:rPr lang="en-US"/>
              <a:t> and explicitly says you </a:t>
            </a:r>
            <a:r>
              <a:rPr lang="en-US" b="1"/>
              <a:t>shouldn’t use it for production ACR registries or workloads</a:t>
            </a:r>
            <a:r>
              <a:rPr lang="en-US"/>
              <a:t>. (</a:t>
            </a:r>
            <a:r>
              <a:rPr lang="en-US">
                <a:hlinkClick r:id="rId3" tooltip="Use Image Integrity to validate signed images before deploying them to your Azure Kubernetes Service (AKS) clusters (Preview) - Azure Kubernetes Service | Microsoft Learn"/>
              </a:rPr>
              <a:t>Microsoft Learn</a:t>
            </a:r>
            <a:r>
              <a:rPr lang="en-US"/>
              <a:t>)</a:t>
            </a:r>
          </a:p>
          <a:p>
            <a:r>
              <a:rPr lang="en-US" b="1"/>
              <a:t>What </a:t>
            </a:r>
            <a:r>
              <a:rPr lang="en-US" b="1" i="1"/>
              <a:t>is</a:t>
            </a:r>
            <a:r>
              <a:rPr lang="en-US" b="1"/>
              <a:t> safe for production?</a:t>
            </a:r>
          </a:p>
          <a:p>
            <a:r>
              <a:rPr lang="en-US" b="1"/>
              <a:t>✅ Production-safe pattern: Ratify (as a normal Kubernetes component) + policy enforcement</a:t>
            </a:r>
          </a:p>
          <a:p>
            <a:r>
              <a:rPr lang="en-US"/>
              <a:t>Microsoft has guidance for </a:t>
            </a:r>
            <a:r>
              <a:rPr lang="en-US" b="1"/>
              <a:t>validating container image signatures with Ratify + Azure Policy</a:t>
            </a:r>
            <a:r>
              <a:rPr lang="en-US"/>
              <a:t>, where you install Ratify (e.g., Helm) and then use Azure Policy with either </a:t>
            </a:r>
            <a:r>
              <a:rPr lang="en-US" b="1"/>
              <a:t>Audit</a:t>
            </a:r>
            <a:r>
              <a:rPr lang="en-US"/>
              <a:t> or </a:t>
            </a:r>
            <a:r>
              <a:rPr lang="en-US" b="1"/>
              <a:t>Deny</a:t>
            </a:r>
            <a:r>
              <a:rPr lang="en-US"/>
              <a:t> effects. That approach is described as a “secure supply chain” scenario and supports a real enforcement mode (Deny) for blocking unsigned/untrusted images. (</a:t>
            </a:r>
            <a:r>
              <a:rPr lang="en-US">
                <a:hlinkClick r:id="rId4" tooltip="Securing AKS workloads: Validating container image signatures with Ratify and Azure Policy | Microsoft Learn"/>
              </a:rPr>
              <a:t>Microsoft Learn</a:t>
            </a:r>
            <a:r>
              <a:rPr lang="en-US"/>
              <a:t>)</a:t>
            </a:r>
          </a:p>
          <a:p>
            <a:r>
              <a:rPr lang="en-US"/>
              <a:t>So the practical answer is:</a:t>
            </a:r>
          </a:p>
          <a:p>
            <a:r>
              <a:rPr lang="en-US" b="1"/>
              <a:t>Don’t use the AKS “</a:t>
            </a:r>
            <a:r>
              <a:rPr lang="en-US" b="1" err="1"/>
              <a:t>ImageIntegrity</a:t>
            </a:r>
            <a:r>
              <a:rPr lang="en-US" b="1"/>
              <a:t>” add-on (Preview) for production.</a:t>
            </a:r>
            <a:r>
              <a:rPr lang="en-US"/>
              <a:t> (</a:t>
            </a:r>
            <a:r>
              <a:rPr lang="en-US">
                <a:hlinkClick r:id="rId3" tooltip="Use Image Integrity to validate signed images before deploying them to your Azure Kubernetes Service (AKS) clusters (Preview) - Azure Kubernetes Service | Microsoft Learn"/>
              </a:rPr>
              <a:t>Microsoft Learn</a:t>
            </a:r>
            <a:r>
              <a:rPr lang="en-US"/>
              <a:t>)</a:t>
            </a:r>
          </a:p>
          <a:p>
            <a:r>
              <a:rPr lang="en-US" b="1"/>
              <a:t>Do use image signing + signature verification in production</a:t>
            </a:r>
            <a:r>
              <a:rPr lang="en-US"/>
              <a:t>, but implement it using the </a:t>
            </a:r>
            <a:r>
              <a:rPr lang="en-US" b="1"/>
              <a:t>supported supply-chain approach</a:t>
            </a:r>
            <a:r>
              <a:rPr lang="en-US"/>
              <a:t> (Ratify + Notation + Azure Policy / Gatekeeper), starting in </a:t>
            </a:r>
            <a:r>
              <a:rPr lang="en-US" b="1"/>
              <a:t>Audit</a:t>
            </a:r>
            <a:r>
              <a:rPr lang="en-US"/>
              <a:t> and graduating to </a:t>
            </a:r>
            <a:r>
              <a:rPr lang="en-US" b="1"/>
              <a:t>Deny</a:t>
            </a:r>
            <a:r>
              <a:rPr lang="en-US"/>
              <a:t> once you’re confident. (</a:t>
            </a:r>
            <a:r>
              <a:rPr lang="en-US">
                <a:hlinkClick r:id="rId4" tooltip="Securing AKS workloads: Validating container image signatures with Ratify and Azure Policy | Microsoft Learn"/>
              </a:rPr>
              <a:t>Microsoft Learn</a:t>
            </a:r>
            <a:r>
              <a:rPr lang="en-US"/>
              <a:t>)</a:t>
            </a:r>
          </a:p>
          <a:p>
            <a:r>
              <a:rPr lang="en-US" b="1"/>
              <a:t>Why Microsoft says “don’t use </a:t>
            </a:r>
            <a:r>
              <a:rPr lang="en-US" b="1" err="1"/>
              <a:t>ImageIntegrity</a:t>
            </a:r>
            <a:r>
              <a:rPr lang="en-US" b="1"/>
              <a:t> preview” in prod</a:t>
            </a:r>
          </a:p>
          <a:p>
            <a:r>
              <a:rPr lang="en-US"/>
              <a:t>The AKS </a:t>
            </a:r>
            <a:r>
              <a:rPr lang="en-US" err="1"/>
              <a:t>ImageIntegrity</a:t>
            </a:r>
            <a:r>
              <a:rPr lang="en-US"/>
              <a:t> doc lists concrete limitations, including:</a:t>
            </a:r>
          </a:p>
          <a:p>
            <a:r>
              <a:rPr lang="en-US"/>
              <a:t>It’s </a:t>
            </a:r>
            <a:r>
              <a:rPr lang="en-US" b="1"/>
              <a:t>Preview</a:t>
            </a:r>
            <a:endParaRPr lang="en-US"/>
          </a:p>
          <a:p>
            <a:r>
              <a:rPr lang="en-US" b="1"/>
              <a:t>Audit is the only supported verification policy effect</a:t>
            </a:r>
            <a:r>
              <a:rPr lang="en-US"/>
              <a:t> (in that add-on experience)</a:t>
            </a:r>
          </a:p>
          <a:p>
            <a:r>
              <a:rPr lang="en-US"/>
              <a:t>Other limits like max signature count and verifier constraints (</a:t>
            </a:r>
            <a:r>
              <a:rPr lang="en-US">
                <a:hlinkClick r:id="rId3" tooltip="Use Image Integrity to validate signed images before deploying them to your Azure Kubernetes Service (AKS) clusters (Preview) - Azure Kubernetes Service | Microsoft Learn"/>
              </a:rPr>
              <a:t>Microsoft Learn</a:t>
            </a:r>
            <a:r>
              <a:rPr lang="en-US"/>
              <a:t>)</a:t>
            </a:r>
          </a:p>
          <a:p>
            <a:r>
              <a:rPr lang="en-US"/>
              <a:t>That combination is usually why it’s positioned as </a:t>
            </a:r>
            <a:r>
              <a:rPr lang="en-US" b="1"/>
              <a:t>non-production</a:t>
            </a:r>
            <a:r>
              <a:rPr lang="en-US"/>
              <a:t> today.</a:t>
            </a:r>
          </a:p>
          <a:p>
            <a:r>
              <a:rPr lang="en-US" b="1"/>
              <a:t>Recommended rollout approach (what teams actually do)</a:t>
            </a:r>
          </a:p>
          <a:p>
            <a:r>
              <a:rPr lang="en-US" b="1"/>
              <a:t>Sign images</a:t>
            </a:r>
            <a:r>
              <a:rPr lang="en-US"/>
              <a:t> (Notation + Key Vault / Trusted Signing) as part of CI/CD. (</a:t>
            </a:r>
            <a:r>
              <a:rPr lang="en-US">
                <a:hlinkClick r:id="rId4" tooltip="Securing AKS workloads: Validating container image signatures with Ratify and Azure Policy | Microsoft Learn"/>
              </a:rPr>
              <a:t>Microsoft Learn</a:t>
            </a:r>
            <a:r>
              <a:rPr lang="en-US"/>
              <a:t>)</a:t>
            </a:r>
          </a:p>
          <a:p>
            <a:r>
              <a:rPr lang="en-US" b="1"/>
              <a:t>Deploy Ratify + Gatekeeper</a:t>
            </a:r>
            <a:r>
              <a:rPr lang="en-US"/>
              <a:t> to the cluster (or your platform baseline). (</a:t>
            </a:r>
            <a:r>
              <a:rPr lang="en-US" err="1">
                <a:hlinkClick r:id="rId5" tooltip="Ratify on Azure | A cloud-native verification engine"/>
              </a:rPr>
              <a:t>ratify.dev</a:t>
            </a:r>
            <a:r>
              <a:rPr lang="en-US"/>
              <a:t>)</a:t>
            </a:r>
          </a:p>
          <a:p>
            <a:r>
              <a:rPr lang="en-US"/>
              <a:t>Start with </a:t>
            </a:r>
            <a:r>
              <a:rPr lang="en-US" b="1"/>
              <a:t>Audit</a:t>
            </a:r>
            <a:r>
              <a:rPr lang="en-US"/>
              <a:t> for a while (observe what would break). (</a:t>
            </a:r>
            <a:r>
              <a:rPr lang="en-US">
                <a:hlinkClick r:id="rId4" tooltip="Securing AKS workloads: Validating container image signatures with Ratify and Azure Policy | Microsoft Learn"/>
              </a:rPr>
              <a:t>Microsoft Learn</a:t>
            </a:r>
            <a:r>
              <a:rPr lang="en-US"/>
              <a:t>)</a:t>
            </a:r>
          </a:p>
          <a:p>
            <a:r>
              <a:rPr lang="en-US"/>
              <a:t>Move to </a:t>
            </a:r>
            <a:r>
              <a:rPr lang="en-US" b="1"/>
              <a:t>Deny</a:t>
            </a:r>
            <a:r>
              <a:rPr lang="en-US"/>
              <a:t> for key namespaces/workloads once clean. (</a:t>
            </a:r>
            <a:r>
              <a:rPr lang="en-US">
                <a:hlinkClick r:id="rId4" tooltip="Securing AKS workloads: Validating container image signatures with Ratify and Azure Policy | Microsoft Learn"/>
              </a:rPr>
              <a:t>Microsoft Learn</a:t>
            </a:r>
            <a:r>
              <a:rPr lang="en-US"/>
              <a:t>)</a:t>
            </a:r>
          </a:p>
          <a:p>
            <a:r>
              <a:rPr lang="en-US"/>
              <a:t>If you tell me whether your enforcement target is </a:t>
            </a:r>
            <a:r>
              <a:rPr lang="en-US" b="1"/>
              <a:t>AKS (admission-time)</a:t>
            </a:r>
            <a:r>
              <a:rPr lang="en-US"/>
              <a:t> or </a:t>
            </a:r>
            <a:r>
              <a:rPr lang="en-US" b="1"/>
              <a:t>ACR (registry governance)</a:t>
            </a:r>
            <a:r>
              <a:rPr lang="en-US"/>
              <a:t> and whether you’re using </a:t>
            </a:r>
            <a:r>
              <a:rPr lang="en-US" b="1"/>
              <a:t>Notation/Notary v2</a:t>
            </a:r>
            <a:r>
              <a:rPr lang="en-US"/>
              <a:t>, I can outline the exact production architecture (including identity, AKV/Trusted Signing, and policy scoping) in a few concrete steps.</a:t>
            </a:r>
          </a:p>
          <a:p>
            <a:endParaRPr lang="en-US"/>
          </a:p>
        </p:txBody>
      </p:sp>
      <p:sp>
        <p:nvSpPr>
          <p:cNvPr id="4" name="Slide Number Placeholder 3">
            <a:extLst>
              <a:ext uri="{FF2B5EF4-FFF2-40B4-BE49-F238E27FC236}">
                <a16:creationId xmlns:a16="http://schemas.microsoft.com/office/drawing/2014/main" id="{587DAB9E-F4C8-45CF-9AFE-611886C66B6D}"/>
              </a:ext>
            </a:extLst>
          </p:cNvPr>
          <p:cNvSpPr>
            <a:spLocks noGrp="1"/>
          </p:cNvSpPr>
          <p:nvPr>
            <p:ph type="sldNum" sz="quarter" idx="5"/>
          </p:nvPr>
        </p:nvSpPr>
        <p:spPr/>
        <p:txBody>
          <a:bodyPr/>
          <a:lstStyle/>
          <a:p>
            <a:fld id="{08A7B8A6-DC2C-4E66-899B-3FF6576B90A7}" type="slidenum">
              <a:rPr lang="en-US" smtClean="0"/>
              <a:t>35</a:t>
            </a:fld>
            <a:endParaRPr lang="en-US"/>
          </a:p>
        </p:txBody>
      </p:sp>
    </p:spTree>
    <p:extLst>
      <p:ext uri="{BB962C8B-B14F-4D97-AF65-F5344CB8AC3E}">
        <p14:creationId xmlns:p14="http://schemas.microsoft.com/office/powerpoint/2010/main" val="692917963"/>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852FD9-9652-E3B7-B604-7C09E76BFA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3D5C486-6C0C-7D6B-1D2B-7FBBD02D66B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6556C00-F520-810E-4CC6-1DA111651A5E}"/>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2257F31F-FE08-24FB-455C-00725C9560E5}"/>
              </a:ext>
            </a:extLst>
          </p:cNvPr>
          <p:cNvSpPr>
            <a:spLocks noGrp="1"/>
          </p:cNvSpPr>
          <p:nvPr>
            <p:ph type="sldNum" sz="quarter" idx="5"/>
          </p:nvPr>
        </p:nvSpPr>
        <p:spPr/>
        <p:txBody>
          <a:bodyPr/>
          <a:lstStyle/>
          <a:p>
            <a:fld id="{08A7B8A6-DC2C-4E66-899B-3FF6576B90A7}" type="slidenum">
              <a:rPr lang="en-US" smtClean="0"/>
              <a:t>37</a:t>
            </a:fld>
            <a:endParaRPr lang="en-US"/>
          </a:p>
        </p:txBody>
      </p:sp>
    </p:spTree>
    <p:extLst>
      <p:ext uri="{BB962C8B-B14F-4D97-AF65-F5344CB8AC3E}">
        <p14:creationId xmlns:p14="http://schemas.microsoft.com/office/powerpoint/2010/main" val="107590994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DFA733-89FF-0714-AFB3-11C4568CDFA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A7B617-4522-4554-C926-E50E5EAD1C4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5F4619C-9AF9-D812-AE62-483D7FD383E7}"/>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2C7DD909-1A62-230E-30F2-6DDBA850CF77}"/>
              </a:ext>
            </a:extLst>
          </p:cNvPr>
          <p:cNvSpPr>
            <a:spLocks noGrp="1"/>
          </p:cNvSpPr>
          <p:nvPr>
            <p:ph type="sldNum" sz="quarter" idx="5"/>
          </p:nvPr>
        </p:nvSpPr>
        <p:spPr/>
        <p:txBody>
          <a:bodyPr/>
          <a:lstStyle/>
          <a:p>
            <a:fld id="{08A7B8A6-DC2C-4E66-899B-3FF6576B90A7}" type="slidenum">
              <a:rPr lang="en-US" smtClean="0"/>
              <a:t>39</a:t>
            </a:fld>
            <a:endParaRPr lang="en-US"/>
          </a:p>
        </p:txBody>
      </p:sp>
    </p:spTree>
    <p:extLst>
      <p:ext uri="{BB962C8B-B14F-4D97-AF65-F5344CB8AC3E}">
        <p14:creationId xmlns:p14="http://schemas.microsoft.com/office/powerpoint/2010/main" val="264591156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042C48-A92F-1B0F-3813-CD4A1F9C8F9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90F85F3-5875-3C5D-2020-93098F0D39F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3D0BC14-54DB-0411-15E4-9907397DA3D8}"/>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FF02D4D3-212C-ABF6-F6AB-14B168BD65E8}"/>
              </a:ext>
            </a:extLst>
          </p:cNvPr>
          <p:cNvSpPr>
            <a:spLocks noGrp="1"/>
          </p:cNvSpPr>
          <p:nvPr>
            <p:ph type="sldNum" sz="quarter" idx="5"/>
          </p:nvPr>
        </p:nvSpPr>
        <p:spPr/>
        <p:txBody>
          <a:bodyPr/>
          <a:lstStyle/>
          <a:p>
            <a:fld id="{08A7B8A6-DC2C-4E66-899B-3FF6576B90A7}" type="slidenum">
              <a:rPr lang="en-US" smtClean="0"/>
              <a:t>40</a:t>
            </a:fld>
            <a:endParaRPr lang="en-US"/>
          </a:p>
        </p:txBody>
      </p:sp>
    </p:spTree>
    <p:extLst>
      <p:ext uri="{BB962C8B-B14F-4D97-AF65-F5344CB8AC3E}">
        <p14:creationId xmlns:p14="http://schemas.microsoft.com/office/powerpoint/2010/main" val="409447611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FBF66A-4B48-F53F-8D7E-69FE15D6F6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385BFE8-80D9-5633-3353-C92F71C941F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F292C26-AB75-6146-822B-48F38F4EF920}"/>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FB470DA5-7E69-AFA3-C444-594385D64EF1}"/>
              </a:ext>
            </a:extLst>
          </p:cNvPr>
          <p:cNvSpPr>
            <a:spLocks noGrp="1"/>
          </p:cNvSpPr>
          <p:nvPr>
            <p:ph type="sldNum" sz="quarter" idx="5"/>
          </p:nvPr>
        </p:nvSpPr>
        <p:spPr/>
        <p:txBody>
          <a:bodyPr/>
          <a:lstStyle/>
          <a:p>
            <a:fld id="{08A7B8A6-DC2C-4E66-899B-3FF6576B90A7}" type="slidenum">
              <a:rPr lang="en-US" smtClean="0"/>
              <a:t>42</a:t>
            </a:fld>
            <a:endParaRPr lang="en-US"/>
          </a:p>
        </p:txBody>
      </p:sp>
    </p:spTree>
    <p:extLst>
      <p:ext uri="{BB962C8B-B14F-4D97-AF65-F5344CB8AC3E}">
        <p14:creationId xmlns:p14="http://schemas.microsoft.com/office/powerpoint/2010/main" val="158801490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036CD3-62AE-4D42-4198-33DE412395A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B866396-E6F4-A289-DB3A-AE946D833D0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D668359-EF6E-7CC1-2088-3B994D0BC78C}"/>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722171C0-A61F-3D9D-C396-49BA9FF0AEBE}"/>
              </a:ext>
            </a:extLst>
          </p:cNvPr>
          <p:cNvSpPr>
            <a:spLocks noGrp="1"/>
          </p:cNvSpPr>
          <p:nvPr>
            <p:ph type="sldNum" sz="quarter" idx="5"/>
          </p:nvPr>
        </p:nvSpPr>
        <p:spPr/>
        <p:txBody>
          <a:bodyPr/>
          <a:lstStyle/>
          <a:p>
            <a:fld id="{08A7B8A6-DC2C-4E66-899B-3FF6576B90A7}" type="slidenum">
              <a:rPr lang="en-US" smtClean="0"/>
              <a:t>43</a:t>
            </a:fld>
            <a:endParaRPr lang="en-US"/>
          </a:p>
        </p:txBody>
      </p:sp>
    </p:spTree>
    <p:extLst>
      <p:ext uri="{BB962C8B-B14F-4D97-AF65-F5344CB8AC3E}">
        <p14:creationId xmlns:p14="http://schemas.microsoft.com/office/powerpoint/2010/main" val="19238408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A11DC6-AC8D-D19D-04E2-D5B866FBDBD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153E28E-CBA8-799C-1770-973BBC3736A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E03E99C-B3B7-2404-6988-75C38292DD3A}"/>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2D576E50-F15A-9F2F-0068-22E79E5CEE80}"/>
              </a:ext>
            </a:extLst>
          </p:cNvPr>
          <p:cNvSpPr>
            <a:spLocks noGrp="1"/>
          </p:cNvSpPr>
          <p:nvPr>
            <p:ph type="sldNum" sz="quarter" idx="5"/>
          </p:nvPr>
        </p:nvSpPr>
        <p:spPr/>
        <p:txBody>
          <a:bodyPr/>
          <a:lstStyle/>
          <a:p>
            <a:fld id="{08A7B8A6-DC2C-4E66-899B-3FF6576B90A7}" type="slidenum">
              <a:rPr lang="en-US" smtClean="0"/>
              <a:t>45</a:t>
            </a:fld>
            <a:endParaRPr lang="en-US"/>
          </a:p>
        </p:txBody>
      </p:sp>
    </p:spTree>
    <p:extLst>
      <p:ext uri="{BB962C8B-B14F-4D97-AF65-F5344CB8AC3E}">
        <p14:creationId xmlns:p14="http://schemas.microsoft.com/office/powerpoint/2010/main" val="429227431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08C5A1-9272-AB2B-9E8A-50D4BD7B5DC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8FB592C-0831-E6A4-3013-66E17A2A28D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4BD4884-3FF3-59C5-D19F-EB12E8FBB8F8}"/>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22D947BC-B5D6-D762-26B0-A2E25B7E91D8}"/>
              </a:ext>
            </a:extLst>
          </p:cNvPr>
          <p:cNvSpPr>
            <a:spLocks noGrp="1"/>
          </p:cNvSpPr>
          <p:nvPr>
            <p:ph type="sldNum" sz="quarter" idx="5"/>
          </p:nvPr>
        </p:nvSpPr>
        <p:spPr/>
        <p:txBody>
          <a:bodyPr/>
          <a:lstStyle/>
          <a:p>
            <a:fld id="{08A7B8A6-DC2C-4E66-899B-3FF6576B90A7}" type="slidenum">
              <a:rPr lang="en-US" smtClean="0"/>
              <a:t>46</a:t>
            </a:fld>
            <a:endParaRPr lang="en-US"/>
          </a:p>
        </p:txBody>
      </p:sp>
    </p:spTree>
    <p:extLst>
      <p:ext uri="{BB962C8B-B14F-4D97-AF65-F5344CB8AC3E}">
        <p14:creationId xmlns:p14="http://schemas.microsoft.com/office/powerpoint/2010/main" val="4051266734"/>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1956E5-E4CD-578F-24D3-19C58DE01D0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D8D45D2-3B26-4B5E-D838-CF78505BF62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61A15DE-8C6E-2193-F7D1-E252900100DA}"/>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326764DD-BFE3-CF30-9B36-850DA38AE45C}"/>
              </a:ext>
            </a:extLst>
          </p:cNvPr>
          <p:cNvSpPr>
            <a:spLocks noGrp="1"/>
          </p:cNvSpPr>
          <p:nvPr>
            <p:ph type="sldNum" sz="quarter" idx="5"/>
          </p:nvPr>
        </p:nvSpPr>
        <p:spPr/>
        <p:txBody>
          <a:bodyPr/>
          <a:lstStyle/>
          <a:p>
            <a:fld id="{08A7B8A6-DC2C-4E66-899B-3FF6576B90A7}" type="slidenum">
              <a:rPr lang="en-US" smtClean="0"/>
              <a:t>48</a:t>
            </a:fld>
            <a:endParaRPr lang="en-US"/>
          </a:p>
        </p:txBody>
      </p:sp>
    </p:spTree>
    <p:extLst>
      <p:ext uri="{BB962C8B-B14F-4D97-AF65-F5344CB8AC3E}">
        <p14:creationId xmlns:p14="http://schemas.microsoft.com/office/powerpoint/2010/main" val="3505671146"/>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9311A3-0C74-CF6B-7812-6D13C7FABC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D56A5DC-1722-EC84-A06A-72A462E3A3B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0F81937-5B91-8F54-78A0-02676AE05B9A}"/>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9E52030D-77D0-BBB4-02DB-3ABEC10EF8D5}"/>
              </a:ext>
            </a:extLst>
          </p:cNvPr>
          <p:cNvSpPr>
            <a:spLocks noGrp="1"/>
          </p:cNvSpPr>
          <p:nvPr>
            <p:ph type="sldNum" sz="quarter" idx="5"/>
          </p:nvPr>
        </p:nvSpPr>
        <p:spPr/>
        <p:txBody>
          <a:bodyPr/>
          <a:lstStyle/>
          <a:p>
            <a:fld id="{08A7B8A6-DC2C-4E66-899B-3FF6576B90A7}" type="slidenum">
              <a:rPr lang="en-US" smtClean="0"/>
              <a:t>50</a:t>
            </a:fld>
            <a:endParaRPr lang="en-US"/>
          </a:p>
        </p:txBody>
      </p:sp>
    </p:spTree>
    <p:extLst>
      <p:ext uri="{BB962C8B-B14F-4D97-AF65-F5344CB8AC3E}">
        <p14:creationId xmlns:p14="http://schemas.microsoft.com/office/powerpoint/2010/main" val="1777744913"/>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5361BF-87AF-F1A6-8CFF-E2B3B9A3FD6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AD33185-781A-6642-2ED8-E4091AC6A87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6C0221C-2FAF-2D7B-664C-B6D9F281A4AF}"/>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A0960E67-D1FA-DCF5-8CB1-144A26987ABB}"/>
              </a:ext>
            </a:extLst>
          </p:cNvPr>
          <p:cNvSpPr>
            <a:spLocks noGrp="1"/>
          </p:cNvSpPr>
          <p:nvPr>
            <p:ph type="sldNum" sz="quarter" idx="5"/>
          </p:nvPr>
        </p:nvSpPr>
        <p:spPr/>
        <p:txBody>
          <a:bodyPr/>
          <a:lstStyle/>
          <a:p>
            <a:fld id="{08A7B8A6-DC2C-4E66-899B-3FF6576B90A7}" type="slidenum">
              <a:rPr lang="en-US" smtClean="0"/>
              <a:t>52</a:t>
            </a:fld>
            <a:endParaRPr lang="en-US"/>
          </a:p>
        </p:txBody>
      </p:sp>
    </p:spTree>
    <p:extLst>
      <p:ext uri="{BB962C8B-B14F-4D97-AF65-F5344CB8AC3E}">
        <p14:creationId xmlns:p14="http://schemas.microsoft.com/office/powerpoint/2010/main" val="113226177"/>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222555-1556-085A-C676-2A744AB1CAA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9097B2F-8FB4-5B30-A12A-153A0084450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B201E00-3A9E-E806-54D8-7B4E183AE16B}"/>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439B137F-C85C-607B-E051-8B780F0B730F}"/>
              </a:ext>
            </a:extLst>
          </p:cNvPr>
          <p:cNvSpPr>
            <a:spLocks noGrp="1"/>
          </p:cNvSpPr>
          <p:nvPr>
            <p:ph type="sldNum" sz="quarter" idx="5"/>
          </p:nvPr>
        </p:nvSpPr>
        <p:spPr/>
        <p:txBody>
          <a:bodyPr/>
          <a:lstStyle/>
          <a:p>
            <a:fld id="{08A7B8A6-DC2C-4E66-899B-3FF6576B90A7}" type="slidenum">
              <a:rPr lang="en-US" smtClean="0"/>
              <a:t>54</a:t>
            </a:fld>
            <a:endParaRPr lang="en-US"/>
          </a:p>
        </p:txBody>
      </p:sp>
    </p:spTree>
    <p:extLst>
      <p:ext uri="{BB962C8B-B14F-4D97-AF65-F5344CB8AC3E}">
        <p14:creationId xmlns:p14="http://schemas.microsoft.com/office/powerpoint/2010/main" val="1170982545"/>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0035A0-2F77-F434-4BDA-0984CBED455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988A2EF-94D3-FFFC-E3D0-3C65C4675A6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41E899D-CC60-0C70-8C39-DBB09292DA7F}"/>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B6853320-EA3D-3702-A547-CB845D70C4C2}"/>
              </a:ext>
            </a:extLst>
          </p:cNvPr>
          <p:cNvSpPr>
            <a:spLocks noGrp="1"/>
          </p:cNvSpPr>
          <p:nvPr>
            <p:ph type="sldNum" sz="quarter" idx="5"/>
          </p:nvPr>
        </p:nvSpPr>
        <p:spPr/>
        <p:txBody>
          <a:bodyPr/>
          <a:lstStyle/>
          <a:p>
            <a:fld id="{08A7B8A6-DC2C-4E66-899B-3FF6576B90A7}" type="slidenum">
              <a:rPr lang="en-US" smtClean="0"/>
              <a:t>56</a:t>
            </a:fld>
            <a:endParaRPr lang="en-US"/>
          </a:p>
        </p:txBody>
      </p:sp>
    </p:spTree>
    <p:extLst>
      <p:ext uri="{BB962C8B-B14F-4D97-AF65-F5344CB8AC3E}">
        <p14:creationId xmlns:p14="http://schemas.microsoft.com/office/powerpoint/2010/main" val="3642367359"/>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09BD75-BE2D-8090-150C-092B54F70C0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EE0C217-C119-1FCE-9674-ACFB973CF8E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B9B4F4E-B4E3-4856-0628-EEEB0506BDDA}"/>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EB926454-D94D-9EE2-8DA7-9688C00A74ED}"/>
              </a:ext>
            </a:extLst>
          </p:cNvPr>
          <p:cNvSpPr>
            <a:spLocks noGrp="1"/>
          </p:cNvSpPr>
          <p:nvPr>
            <p:ph type="sldNum" sz="quarter" idx="5"/>
          </p:nvPr>
        </p:nvSpPr>
        <p:spPr/>
        <p:txBody>
          <a:bodyPr/>
          <a:lstStyle/>
          <a:p>
            <a:fld id="{08A7B8A6-DC2C-4E66-899B-3FF6576B90A7}" type="slidenum">
              <a:rPr lang="en-US" smtClean="0"/>
              <a:t>58</a:t>
            </a:fld>
            <a:endParaRPr lang="en-US"/>
          </a:p>
        </p:txBody>
      </p:sp>
    </p:spTree>
    <p:extLst>
      <p:ext uri="{BB962C8B-B14F-4D97-AF65-F5344CB8AC3E}">
        <p14:creationId xmlns:p14="http://schemas.microsoft.com/office/powerpoint/2010/main" val="37380016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9BEB29-34BD-8483-FC7C-AC2581A12AA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C97E7D2-962A-B624-481E-832A814E780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814EF3F-C2AA-DCAC-30DF-26103D874C13}"/>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1FFD8C0A-443B-D62A-AED4-0361667F129D}"/>
              </a:ext>
            </a:extLst>
          </p:cNvPr>
          <p:cNvSpPr>
            <a:spLocks noGrp="1"/>
          </p:cNvSpPr>
          <p:nvPr>
            <p:ph type="sldNum" sz="quarter" idx="5"/>
          </p:nvPr>
        </p:nvSpPr>
        <p:spPr/>
        <p:txBody>
          <a:bodyPr/>
          <a:lstStyle/>
          <a:p>
            <a:fld id="{08A7B8A6-DC2C-4E66-899B-3FF6576B90A7}" type="slidenum">
              <a:rPr lang="en-US" smtClean="0"/>
              <a:t>60</a:t>
            </a:fld>
            <a:endParaRPr lang="en-US"/>
          </a:p>
        </p:txBody>
      </p:sp>
    </p:spTree>
    <p:extLst>
      <p:ext uri="{BB962C8B-B14F-4D97-AF65-F5344CB8AC3E}">
        <p14:creationId xmlns:p14="http://schemas.microsoft.com/office/powerpoint/2010/main" val="148089837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E1AEA3-32A1-B481-D99F-C36B9411A9F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EA397C-F4C3-52BD-BF72-BB15D3CFFC5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1714D14-8F74-0634-5AFD-F148CA6AF46A}"/>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2601690A-DD2D-F657-CBBA-71A7F8CA2ABF}"/>
              </a:ext>
            </a:extLst>
          </p:cNvPr>
          <p:cNvSpPr>
            <a:spLocks noGrp="1"/>
          </p:cNvSpPr>
          <p:nvPr>
            <p:ph type="sldNum" sz="quarter" idx="5"/>
          </p:nvPr>
        </p:nvSpPr>
        <p:spPr/>
        <p:txBody>
          <a:bodyPr/>
          <a:lstStyle/>
          <a:p>
            <a:fld id="{08A7B8A6-DC2C-4E66-899B-3FF6576B90A7}" type="slidenum">
              <a:rPr lang="en-US" smtClean="0"/>
              <a:t>62</a:t>
            </a:fld>
            <a:endParaRPr lang="en-US"/>
          </a:p>
        </p:txBody>
      </p:sp>
    </p:spTree>
    <p:extLst>
      <p:ext uri="{BB962C8B-B14F-4D97-AF65-F5344CB8AC3E}">
        <p14:creationId xmlns:p14="http://schemas.microsoft.com/office/powerpoint/2010/main" val="4035201013"/>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D0187D-4D85-41C2-3969-3263F0A8223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11C6E0-6EE6-A24B-0C59-03DAD42124C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BDE2F93-93C3-8589-ECB1-EABB0C1E4261}"/>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D958C4C6-DCF1-CED2-3BE6-2B7E4DCF1633}"/>
              </a:ext>
            </a:extLst>
          </p:cNvPr>
          <p:cNvSpPr>
            <a:spLocks noGrp="1"/>
          </p:cNvSpPr>
          <p:nvPr>
            <p:ph type="sldNum" sz="quarter" idx="5"/>
          </p:nvPr>
        </p:nvSpPr>
        <p:spPr/>
        <p:txBody>
          <a:bodyPr/>
          <a:lstStyle/>
          <a:p>
            <a:fld id="{08A7B8A6-DC2C-4E66-899B-3FF6576B90A7}" type="slidenum">
              <a:rPr lang="en-US" smtClean="0"/>
              <a:t>64</a:t>
            </a:fld>
            <a:endParaRPr lang="en-US"/>
          </a:p>
        </p:txBody>
      </p:sp>
    </p:spTree>
    <p:extLst>
      <p:ext uri="{BB962C8B-B14F-4D97-AF65-F5344CB8AC3E}">
        <p14:creationId xmlns:p14="http://schemas.microsoft.com/office/powerpoint/2010/main" val="125476690"/>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6D5ECE-177F-42B3-669E-618C8B8A9A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1D05876-1F65-38B8-4D82-115A25C2D23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B3DB3F-E57E-5E5C-771E-C4EE8D0FA36A}"/>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BADF3147-125E-FEE7-E7A5-F227CA1AE699}"/>
              </a:ext>
            </a:extLst>
          </p:cNvPr>
          <p:cNvSpPr>
            <a:spLocks noGrp="1"/>
          </p:cNvSpPr>
          <p:nvPr>
            <p:ph type="sldNum" sz="quarter" idx="5"/>
          </p:nvPr>
        </p:nvSpPr>
        <p:spPr/>
        <p:txBody>
          <a:bodyPr/>
          <a:lstStyle/>
          <a:p>
            <a:fld id="{08A7B8A6-DC2C-4E66-899B-3FF6576B90A7}" type="slidenum">
              <a:rPr lang="en-US" smtClean="0"/>
              <a:t>66</a:t>
            </a:fld>
            <a:endParaRPr lang="en-US"/>
          </a:p>
        </p:txBody>
      </p:sp>
    </p:spTree>
    <p:extLst>
      <p:ext uri="{BB962C8B-B14F-4D97-AF65-F5344CB8AC3E}">
        <p14:creationId xmlns:p14="http://schemas.microsoft.com/office/powerpoint/2010/main" val="91614421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0D8EB7-CE61-3D66-BB13-59F00D55589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6B0842C-564C-C933-E706-454966E1FBC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9C77A37-6CC6-0DA0-16EB-6A2EBF73944C}"/>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6D193B99-9469-75C7-BE99-8424181A72E1}"/>
              </a:ext>
            </a:extLst>
          </p:cNvPr>
          <p:cNvSpPr>
            <a:spLocks noGrp="1"/>
          </p:cNvSpPr>
          <p:nvPr>
            <p:ph type="sldNum" sz="quarter" idx="5"/>
          </p:nvPr>
        </p:nvSpPr>
        <p:spPr/>
        <p:txBody>
          <a:bodyPr/>
          <a:lstStyle/>
          <a:p>
            <a:fld id="{08A7B8A6-DC2C-4E66-899B-3FF6576B90A7}" type="slidenum">
              <a:rPr lang="en-US" smtClean="0"/>
              <a:t>68</a:t>
            </a:fld>
            <a:endParaRPr lang="en-US"/>
          </a:p>
        </p:txBody>
      </p:sp>
    </p:spTree>
    <p:extLst>
      <p:ext uri="{BB962C8B-B14F-4D97-AF65-F5344CB8AC3E}">
        <p14:creationId xmlns:p14="http://schemas.microsoft.com/office/powerpoint/2010/main" val="2634356324"/>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273F80-87F9-2BB9-6FD2-A31F4F83B3D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9F0B8AD-5852-3746-D443-4B4BE7FA8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4AF3DB1-0F47-C1B6-2DBD-5C9A450A9E64}"/>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74311B8B-FB70-4AF3-853F-02747737C946}"/>
              </a:ext>
            </a:extLst>
          </p:cNvPr>
          <p:cNvSpPr>
            <a:spLocks noGrp="1"/>
          </p:cNvSpPr>
          <p:nvPr>
            <p:ph type="sldNum" sz="quarter" idx="5"/>
          </p:nvPr>
        </p:nvSpPr>
        <p:spPr/>
        <p:txBody>
          <a:bodyPr/>
          <a:lstStyle/>
          <a:p>
            <a:fld id="{08A7B8A6-DC2C-4E66-899B-3FF6576B90A7}" type="slidenum">
              <a:rPr lang="en-US" smtClean="0"/>
              <a:t>70</a:t>
            </a:fld>
            <a:endParaRPr lang="en-US"/>
          </a:p>
        </p:txBody>
      </p:sp>
    </p:spTree>
    <p:extLst>
      <p:ext uri="{BB962C8B-B14F-4D97-AF65-F5344CB8AC3E}">
        <p14:creationId xmlns:p14="http://schemas.microsoft.com/office/powerpoint/2010/main" val="2213383747"/>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C812A3-5552-87D8-0F52-4C7AEDF07B8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6B4FDDC-9FC8-BCED-A8EC-8E050DEC5CC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E0F0D86-0D6E-DA22-96C0-D0C35D336B8C}"/>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B29A63DA-6389-10EB-ADE5-AC8A034E35C7}"/>
              </a:ext>
            </a:extLst>
          </p:cNvPr>
          <p:cNvSpPr>
            <a:spLocks noGrp="1"/>
          </p:cNvSpPr>
          <p:nvPr>
            <p:ph type="sldNum" sz="quarter" idx="5"/>
          </p:nvPr>
        </p:nvSpPr>
        <p:spPr/>
        <p:txBody>
          <a:bodyPr/>
          <a:lstStyle/>
          <a:p>
            <a:fld id="{08A7B8A6-DC2C-4E66-899B-3FF6576B90A7}" type="slidenum">
              <a:rPr lang="en-US" smtClean="0"/>
              <a:t>72</a:t>
            </a:fld>
            <a:endParaRPr lang="en-US"/>
          </a:p>
        </p:txBody>
      </p:sp>
    </p:spTree>
    <p:extLst>
      <p:ext uri="{BB962C8B-B14F-4D97-AF65-F5344CB8AC3E}">
        <p14:creationId xmlns:p14="http://schemas.microsoft.com/office/powerpoint/2010/main" val="2504773487"/>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E80845-E233-7250-5627-5B5B522A38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A8F512E-376A-7B0D-FC15-C4215878FFD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0C68B23-A349-01EA-7A65-93160A1095A3}"/>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D7D11C8A-A458-A54D-63D1-98AF1EBF168E}"/>
              </a:ext>
            </a:extLst>
          </p:cNvPr>
          <p:cNvSpPr>
            <a:spLocks noGrp="1"/>
          </p:cNvSpPr>
          <p:nvPr>
            <p:ph type="sldNum" sz="quarter" idx="5"/>
          </p:nvPr>
        </p:nvSpPr>
        <p:spPr/>
        <p:txBody>
          <a:bodyPr/>
          <a:lstStyle/>
          <a:p>
            <a:fld id="{08A7B8A6-DC2C-4E66-899B-3FF6576B90A7}" type="slidenum">
              <a:rPr lang="en-US" smtClean="0"/>
              <a:t>74</a:t>
            </a:fld>
            <a:endParaRPr lang="en-US"/>
          </a:p>
        </p:txBody>
      </p:sp>
    </p:spTree>
    <p:extLst>
      <p:ext uri="{BB962C8B-B14F-4D97-AF65-F5344CB8AC3E}">
        <p14:creationId xmlns:p14="http://schemas.microsoft.com/office/powerpoint/2010/main" val="2512164745"/>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F24725-F29D-379B-20A2-640AB38042D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C6A5EF2-D353-9F04-ACA8-26C6795980B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7A53F47-E7E1-5B85-F9FC-65ABE1A004D6}"/>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324A69B0-04B1-6C6B-B7CB-3D28CE2D8206}"/>
              </a:ext>
            </a:extLst>
          </p:cNvPr>
          <p:cNvSpPr>
            <a:spLocks noGrp="1"/>
          </p:cNvSpPr>
          <p:nvPr>
            <p:ph type="sldNum" sz="quarter" idx="5"/>
          </p:nvPr>
        </p:nvSpPr>
        <p:spPr/>
        <p:txBody>
          <a:bodyPr/>
          <a:lstStyle/>
          <a:p>
            <a:fld id="{08A7B8A6-DC2C-4E66-899B-3FF6576B90A7}" type="slidenum">
              <a:rPr lang="en-US" smtClean="0"/>
              <a:t>76</a:t>
            </a:fld>
            <a:endParaRPr lang="en-US"/>
          </a:p>
        </p:txBody>
      </p:sp>
    </p:spTree>
    <p:extLst>
      <p:ext uri="{BB962C8B-B14F-4D97-AF65-F5344CB8AC3E}">
        <p14:creationId xmlns:p14="http://schemas.microsoft.com/office/powerpoint/2010/main" val="326619766"/>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F5CE31-9FA3-4330-AE0C-2E3F6E2C396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787BF1F-4BFF-CC07-5877-057848D8F0B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40338C7-DA00-43DD-E405-900F81E7CA82}"/>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18C8D255-975E-D864-1879-6EFFF7F397A0}"/>
              </a:ext>
            </a:extLst>
          </p:cNvPr>
          <p:cNvSpPr>
            <a:spLocks noGrp="1"/>
          </p:cNvSpPr>
          <p:nvPr>
            <p:ph type="sldNum" sz="quarter" idx="5"/>
          </p:nvPr>
        </p:nvSpPr>
        <p:spPr/>
        <p:txBody>
          <a:bodyPr/>
          <a:lstStyle/>
          <a:p>
            <a:fld id="{08A7B8A6-DC2C-4E66-899B-3FF6576B90A7}" type="slidenum">
              <a:rPr lang="en-US" smtClean="0"/>
              <a:t>78</a:t>
            </a:fld>
            <a:endParaRPr lang="en-US"/>
          </a:p>
        </p:txBody>
      </p:sp>
    </p:spTree>
    <p:extLst>
      <p:ext uri="{BB962C8B-B14F-4D97-AF65-F5344CB8AC3E}">
        <p14:creationId xmlns:p14="http://schemas.microsoft.com/office/powerpoint/2010/main" val="2551167057"/>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CE94FB-EE46-7185-DBFE-A7CAEC060D4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897C297-17F9-B5E4-BEC6-59B2AAAD718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D2C7BFF-1175-DD98-2F39-8AA99253B514}"/>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FA8BA54D-2629-C318-5B38-51102F192CFA}"/>
              </a:ext>
            </a:extLst>
          </p:cNvPr>
          <p:cNvSpPr>
            <a:spLocks noGrp="1"/>
          </p:cNvSpPr>
          <p:nvPr>
            <p:ph type="sldNum" sz="quarter" idx="5"/>
          </p:nvPr>
        </p:nvSpPr>
        <p:spPr/>
        <p:txBody>
          <a:bodyPr/>
          <a:lstStyle/>
          <a:p>
            <a:fld id="{08A7B8A6-DC2C-4E66-899B-3FF6576B90A7}" type="slidenum">
              <a:rPr lang="en-US" smtClean="0"/>
              <a:t>80</a:t>
            </a:fld>
            <a:endParaRPr lang="en-US"/>
          </a:p>
        </p:txBody>
      </p:sp>
    </p:spTree>
    <p:extLst>
      <p:ext uri="{BB962C8B-B14F-4D97-AF65-F5344CB8AC3E}">
        <p14:creationId xmlns:p14="http://schemas.microsoft.com/office/powerpoint/2010/main" val="1485978123"/>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A26139-A8F9-E5EF-152E-44E7656C53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F21DFCC-FD0F-486A-CAAF-E47CD7B7FC3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5539829-FD27-8FAE-03BE-EBEBC474DE85}"/>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2F9A38D4-8D2E-C75C-69C1-AAB31319AF6A}"/>
              </a:ext>
            </a:extLst>
          </p:cNvPr>
          <p:cNvSpPr>
            <a:spLocks noGrp="1"/>
          </p:cNvSpPr>
          <p:nvPr>
            <p:ph type="sldNum" sz="quarter" idx="5"/>
          </p:nvPr>
        </p:nvSpPr>
        <p:spPr/>
        <p:txBody>
          <a:bodyPr/>
          <a:lstStyle/>
          <a:p>
            <a:fld id="{08A7B8A6-DC2C-4E66-899B-3FF6576B90A7}" type="slidenum">
              <a:rPr lang="en-US" smtClean="0"/>
              <a:t>82</a:t>
            </a:fld>
            <a:endParaRPr lang="en-US"/>
          </a:p>
        </p:txBody>
      </p:sp>
    </p:spTree>
    <p:extLst>
      <p:ext uri="{BB962C8B-B14F-4D97-AF65-F5344CB8AC3E}">
        <p14:creationId xmlns:p14="http://schemas.microsoft.com/office/powerpoint/2010/main" val="3942716612"/>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EBCA9A-FC51-E187-F641-534D2B6C79B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ABC8EC2-0D4C-C03D-03C4-4B752F472F6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CB37567-ADB6-6C6E-5359-C093F64075E6}"/>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E2089681-DBCE-8364-492C-BF44ABE02F7F}"/>
              </a:ext>
            </a:extLst>
          </p:cNvPr>
          <p:cNvSpPr>
            <a:spLocks noGrp="1"/>
          </p:cNvSpPr>
          <p:nvPr>
            <p:ph type="sldNum" sz="quarter" idx="5"/>
          </p:nvPr>
        </p:nvSpPr>
        <p:spPr/>
        <p:txBody>
          <a:bodyPr/>
          <a:lstStyle/>
          <a:p>
            <a:fld id="{08A7B8A6-DC2C-4E66-899B-3FF6576B90A7}" type="slidenum">
              <a:rPr lang="en-US" smtClean="0"/>
              <a:t>84</a:t>
            </a:fld>
            <a:endParaRPr lang="en-US"/>
          </a:p>
        </p:txBody>
      </p:sp>
    </p:spTree>
    <p:extLst>
      <p:ext uri="{BB962C8B-B14F-4D97-AF65-F5344CB8AC3E}">
        <p14:creationId xmlns:p14="http://schemas.microsoft.com/office/powerpoint/2010/main" val="3255191563"/>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C8C262-02AA-D9E4-FB36-3993C7B1C54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0272A3E-B262-4EC0-AEAA-783076D0E3D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43358CB-13C1-0994-DA8F-9AB1E827F063}"/>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0FD7583D-4108-65CF-DC67-C362A1FFBF0A}"/>
              </a:ext>
            </a:extLst>
          </p:cNvPr>
          <p:cNvSpPr>
            <a:spLocks noGrp="1"/>
          </p:cNvSpPr>
          <p:nvPr>
            <p:ph type="sldNum" sz="quarter" idx="5"/>
          </p:nvPr>
        </p:nvSpPr>
        <p:spPr/>
        <p:txBody>
          <a:bodyPr/>
          <a:lstStyle/>
          <a:p>
            <a:fld id="{08A7B8A6-DC2C-4E66-899B-3FF6576B90A7}" type="slidenum">
              <a:rPr lang="en-US" smtClean="0"/>
              <a:t>87</a:t>
            </a:fld>
            <a:endParaRPr lang="en-US"/>
          </a:p>
        </p:txBody>
      </p:sp>
    </p:spTree>
    <p:extLst>
      <p:ext uri="{BB962C8B-B14F-4D97-AF65-F5344CB8AC3E}">
        <p14:creationId xmlns:p14="http://schemas.microsoft.com/office/powerpoint/2010/main" val="2025334072"/>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8DD60C-328A-42DD-491D-50F2E2E771D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0FE8FB1-0F0A-D0AF-81BC-3C35A3996FE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2EB4DA8-3E78-5A55-5E21-D10228E87416}"/>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B1BDC0B2-B855-2B2C-E640-C1E509FB7F06}"/>
              </a:ext>
            </a:extLst>
          </p:cNvPr>
          <p:cNvSpPr>
            <a:spLocks noGrp="1"/>
          </p:cNvSpPr>
          <p:nvPr>
            <p:ph type="sldNum" sz="quarter" idx="5"/>
          </p:nvPr>
        </p:nvSpPr>
        <p:spPr/>
        <p:txBody>
          <a:bodyPr/>
          <a:lstStyle/>
          <a:p>
            <a:fld id="{08A7B8A6-DC2C-4E66-899B-3FF6576B90A7}" type="slidenum">
              <a:rPr lang="en-US" smtClean="0"/>
              <a:t>89</a:t>
            </a:fld>
            <a:endParaRPr lang="en-US"/>
          </a:p>
        </p:txBody>
      </p:sp>
    </p:spTree>
    <p:extLst>
      <p:ext uri="{BB962C8B-B14F-4D97-AF65-F5344CB8AC3E}">
        <p14:creationId xmlns:p14="http://schemas.microsoft.com/office/powerpoint/2010/main" val="3029342680"/>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EC6244-FF8B-AFF3-B8A8-791DC39BD78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47D0E0D-7721-371C-6AFD-843D1032D5B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B17CA9E-EA50-6FFF-44EC-7908E192E79B}"/>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E70C2370-E9D3-28D8-1E3C-6164740EDCA8}"/>
              </a:ext>
            </a:extLst>
          </p:cNvPr>
          <p:cNvSpPr>
            <a:spLocks noGrp="1"/>
          </p:cNvSpPr>
          <p:nvPr>
            <p:ph type="sldNum" sz="quarter" idx="5"/>
          </p:nvPr>
        </p:nvSpPr>
        <p:spPr/>
        <p:txBody>
          <a:bodyPr/>
          <a:lstStyle/>
          <a:p>
            <a:fld id="{08A7B8A6-DC2C-4E66-899B-3FF6576B90A7}" type="slidenum">
              <a:rPr lang="en-US" smtClean="0"/>
              <a:t>91</a:t>
            </a:fld>
            <a:endParaRPr lang="en-US"/>
          </a:p>
        </p:txBody>
      </p:sp>
    </p:spTree>
    <p:extLst>
      <p:ext uri="{BB962C8B-B14F-4D97-AF65-F5344CB8AC3E}">
        <p14:creationId xmlns:p14="http://schemas.microsoft.com/office/powerpoint/2010/main" val="4001690513"/>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501B71-154B-8390-E3A6-26FEEF79AEC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8FCD88A-9665-AA9E-9C80-98E490D630C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215DCFF-D8A5-D96F-200E-D9E42C81AE1C}"/>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E4ED2BC9-1A25-C17E-17D6-7249920553BD}"/>
              </a:ext>
            </a:extLst>
          </p:cNvPr>
          <p:cNvSpPr>
            <a:spLocks noGrp="1"/>
          </p:cNvSpPr>
          <p:nvPr>
            <p:ph type="sldNum" sz="quarter" idx="5"/>
          </p:nvPr>
        </p:nvSpPr>
        <p:spPr/>
        <p:txBody>
          <a:bodyPr/>
          <a:lstStyle/>
          <a:p>
            <a:fld id="{08A7B8A6-DC2C-4E66-899B-3FF6576B90A7}" type="slidenum">
              <a:rPr lang="en-US" smtClean="0"/>
              <a:t>93</a:t>
            </a:fld>
            <a:endParaRPr lang="en-US"/>
          </a:p>
        </p:txBody>
      </p:sp>
    </p:spTree>
    <p:extLst>
      <p:ext uri="{BB962C8B-B14F-4D97-AF65-F5344CB8AC3E}">
        <p14:creationId xmlns:p14="http://schemas.microsoft.com/office/powerpoint/2010/main" val="414244877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8181CA-A722-4DA5-ED56-4DFCDD943B3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E4888AD-CD66-7114-17D1-F9448E5CC06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3BD58CE-BC7B-8FF8-D57F-E1D9E42C03E8}"/>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D5EB495C-018B-56CD-FFA7-DBEF9D5BEA43}"/>
              </a:ext>
            </a:extLst>
          </p:cNvPr>
          <p:cNvSpPr>
            <a:spLocks noGrp="1"/>
          </p:cNvSpPr>
          <p:nvPr>
            <p:ph type="sldNum" sz="quarter" idx="5"/>
          </p:nvPr>
        </p:nvSpPr>
        <p:spPr/>
        <p:txBody>
          <a:bodyPr/>
          <a:lstStyle/>
          <a:p>
            <a:fld id="{08A7B8A6-DC2C-4E66-899B-3FF6576B90A7}" type="slidenum">
              <a:rPr lang="en-US" smtClean="0"/>
              <a:t>95</a:t>
            </a:fld>
            <a:endParaRPr lang="en-US"/>
          </a:p>
        </p:txBody>
      </p:sp>
    </p:spTree>
    <p:extLst>
      <p:ext uri="{BB962C8B-B14F-4D97-AF65-F5344CB8AC3E}">
        <p14:creationId xmlns:p14="http://schemas.microsoft.com/office/powerpoint/2010/main" val="1583085897"/>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E57A61-C9C8-4841-099E-416A4FD395A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5CB8E9-E533-0948-103E-6253935AA93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645641F-2806-79B2-7829-21F8EA97DD23}"/>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F4CE08C6-23C0-4A58-ADC0-F7769CCF0B03}"/>
              </a:ext>
            </a:extLst>
          </p:cNvPr>
          <p:cNvSpPr>
            <a:spLocks noGrp="1"/>
          </p:cNvSpPr>
          <p:nvPr>
            <p:ph type="sldNum" sz="quarter" idx="5"/>
          </p:nvPr>
        </p:nvSpPr>
        <p:spPr/>
        <p:txBody>
          <a:bodyPr/>
          <a:lstStyle/>
          <a:p>
            <a:fld id="{08A7B8A6-DC2C-4E66-899B-3FF6576B90A7}" type="slidenum">
              <a:rPr lang="en-US" smtClean="0"/>
              <a:t>97</a:t>
            </a:fld>
            <a:endParaRPr lang="en-US"/>
          </a:p>
        </p:txBody>
      </p:sp>
    </p:spTree>
    <p:extLst>
      <p:ext uri="{BB962C8B-B14F-4D97-AF65-F5344CB8AC3E}">
        <p14:creationId xmlns:p14="http://schemas.microsoft.com/office/powerpoint/2010/main" val="2595277200"/>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5261A8-644C-7D65-058D-7CCA8592B2D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FD51A16-2022-2314-5055-FA6F19F6AEA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6970325-C73A-0AB1-6223-2CF109831083}"/>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82A4DB8B-0CC6-6060-E32D-480D4F6CE026}"/>
              </a:ext>
            </a:extLst>
          </p:cNvPr>
          <p:cNvSpPr>
            <a:spLocks noGrp="1"/>
          </p:cNvSpPr>
          <p:nvPr>
            <p:ph type="sldNum" sz="quarter" idx="5"/>
          </p:nvPr>
        </p:nvSpPr>
        <p:spPr/>
        <p:txBody>
          <a:bodyPr/>
          <a:lstStyle/>
          <a:p>
            <a:fld id="{08A7B8A6-DC2C-4E66-899B-3FF6576B90A7}" type="slidenum">
              <a:rPr lang="en-US" smtClean="0"/>
              <a:t>100</a:t>
            </a:fld>
            <a:endParaRPr lang="en-US"/>
          </a:p>
        </p:txBody>
      </p:sp>
    </p:spTree>
    <p:extLst>
      <p:ext uri="{BB962C8B-B14F-4D97-AF65-F5344CB8AC3E}">
        <p14:creationId xmlns:p14="http://schemas.microsoft.com/office/powerpoint/2010/main" val="1644321569"/>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8FA8BE-ACD3-E0A2-8FD1-937C7837DC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2379DEE-F878-95BA-3ED3-71C8EB85F0E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DAB6202-07E7-16D0-5028-CB0B523A2145}"/>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257A6E94-0FE2-C191-986F-3AEFAB24F87D}"/>
              </a:ext>
            </a:extLst>
          </p:cNvPr>
          <p:cNvSpPr>
            <a:spLocks noGrp="1"/>
          </p:cNvSpPr>
          <p:nvPr>
            <p:ph type="sldNum" sz="quarter" idx="5"/>
          </p:nvPr>
        </p:nvSpPr>
        <p:spPr/>
        <p:txBody>
          <a:bodyPr/>
          <a:lstStyle/>
          <a:p>
            <a:fld id="{08A7B8A6-DC2C-4E66-899B-3FF6576B90A7}" type="slidenum">
              <a:rPr lang="en-US" smtClean="0"/>
              <a:t>101</a:t>
            </a:fld>
            <a:endParaRPr lang="en-US"/>
          </a:p>
        </p:txBody>
      </p:sp>
    </p:spTree>
    <p:extLst>
      <p:ext uri="{BB962C8B-B14F-4D97-AF65-F5344CB8AC3E}">
        <p14:creationId xmlns:p14="http://schemas.microsoft.com/office/powerpoint/2010/main" val="203351504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9F4119-0C92-36FD-3E0F-C99257BB46D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555DE96-3FCC-A870-0E3E-6A986D2915F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70A4F74-AB3D-FFBE-B5B5-2D8A5B304C69}"/>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7F192B2D-2DE5-D678-B2A0-3E724E7873FB}"/>
              </a:ext>
            </a:extLst>
          </p:cNvPr>
          <p:cNvSpPr>
            <a:spLocks noGrp="1"/>
          </p:cNvSpPr>
          <p:nvPr>
            <p:ph type="sldNum" sz="quarter" idx="5"/>
          </p:nvPr>
        </p:nvSpPr>
        <p:spPr/>
        <p:txBody>
          <a:bodyPr/>
          <a:lstStyle/>
          <a:p>
            <a:fld id="{08A7B8A6-DC2C-4E66-899B-3FF6576B90A7}" type="slidenum">
              <a:rPr lang="en-US" smtClean="0"/>
              <a:t>102</a:t>
            </a:fld>
            <a:endParaRPr lang="en-US"/>
          </a:p>
        </p:txBody>
      </p:sp>
    </p:spTree>
    <p:extLst>
      <p:ext uri="{BB962C8B-B14F-4D97-AF65-F5344CB8AC3E}">
        <p14:creationId xmlns:p14="http://schemas.microsoft.com/office/powerpoint/2010/main" val="3141280105"/>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B6F572-9D38-8981-120D-71F3D5F87BF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BE82778-204E-6382-B8FE-AD20B8C2C82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6506AEF-369C-C646-7E84-8514D754013B}"/>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12D89E9E-E9BE-A15E-4CC3-1253ED2A8A38}"/>
              </a:ext>
            </a:extLst>
          </p:cNvPr>
          <p:cNvSpPr>
            <a:spLocks noGrp="1"/>
          </p:cNvSpPr>
          <p:nvPr>
            <p:ph type="sldNum" sz="quarter" idx="5"/>
          </p:nvPr>
        </p:nvSpPr>
        <p:spPr/>
        <p:txBody>
          <a:bodyPr/>
          <a:lstStyle/>
          <a:p>
            <a:fld id="{08A7B8A6-DC2C-4E66-899B-3FF6576B90A7}" type="slidenum">
              <a:rPr lang="en-US" smtClean="0"/>
              <a:t>104</a:t>
            </a:fld>
            <a:endParaRPr lang="en-US"/>
          </a:p>
        </p:txBody>
      </p:sp>
    </p:spTree>
    <p:extLst>
      <p:ext uri="{BB962C8B-B14F-4D97-AF65-F5344CB8AC3E}">
        <p14:creationId xmlns:p14="http://schemas.microsoft.com/office/powerpoint/2010/main" val="2776221283"/>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F8D161-4C65-9040-E99E-07D2B8DC4D9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4D3934E-8D40-56AE-86BB-4D032F40EE4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1D02C41-FB85-A702-8DFB-CB95BD8E8342}"/>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1425EFBF-C4C2-73B3-1FD6-247B58D8A1C9}"/>
              </a:ext>
            </a:extLst>
          </p:cNvPr>
          <p:cNvSpPr>
            <a:spLocks noGrp="1"/>
          </p:cNvSpPr>
          <p:nvPr>
            <p:ph type="sldNum" sz="quarter" idx="5"/>
          </p:nvPr>
        </p:nvSpPr>
        <p:spPr/>
        <p:txBody>
          <a:bodyPr/>
          <a:lstStyle/>
          <a:p>
            <a:fld id="{08A7B8A6-DC2C-4E66-899B-3FF6576B90A7}" type="slidenum">
              <a:rPr lang="en-US" smtClean="0"/>
              <a:t>106</a:t>
            </a:fld>
            <a:endParaRPr lang="en-US"/>
          </a:p>
        </p:txBody>
      </p:sp>
    </p:spTree>
    <p:extLst>
      <p:ext uri="{BB962C8B-B14F-4D97-AF65-F5344CB8AC3E}">
        <p14:creationId xmlns:p14="http://schemas.microsoft.com/office/powerpoint/2010/main" val="2516674837"/>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E73972-2F47-86AF-0F1E-634F598DF46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5C87FF3-F9DA-F1D9-73BC-8FF585F12B9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A8B2C75-39E4-6808-C6A6-CA4EFF589D5C}"/>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991CC54E-B489-4EEE-E694-96F166625F90}"/>
              </a:ext>
            </a:extLst>
          </p:cNvPr>
          <p:cNvSpPr>
            <a:spLocks noGrp="1"/>
          </p:cNvSpPr>
          <p:nvPr>
            <p:ph type="sldNum" sz="quarter" idx="5"/>
          </p:nvPr>
        </p:nvSpPr>
        <p:spPr/>
        <p:txBody>
          <a:bodyPr/>
          <a:lstStyle/>
          <a:p>
            <a:fld id="{08A7B8A6-DC2C-4E66-899B-3FF6576B90A7}" type="slidenum">
              <a:rPr lang="en-US" smtClean="0"/>
              <a:t>108</a:t>
            </a:fld>
            <a:endParaRPr lang="en-US"/>
          </a:p>
        </p:txBody>
      </p:sp>
    </p:spTree>
    <p:extLst>
      <p:ext uri="{BB962C8B-B14F-4D97-AF65-F5344CB8AC3E}">
        <p14:creationId xmlns:p14="http://schemas.microsoft.com/office/powerpoint/2010/main" val="2408188578"/>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3A1510-50A4-551D-CF1A-816BAF15786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2468FBE-2E8F-061E-54C1-79D40192A9C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E097B4-2B6B-185A-D1C5-CA40B0E45264}"/>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11B26578-1C36-1FC8-B053-D842E6E22A2C}"/>
              </a:ext>
            </a:extLst>
          </p:cNvPr>
          <p:cNvSpPr>
            <a:spLocks noGrp="1"/>
          </p:cNvSpPr>
          <p:nvPr>
            <p:ph type="sldNum" sz="quarter" idx="5"/>
          </p:nvPr>
        </p:nvSpPr>
        <p:spPr/>
        <p:txBody>
          <a:bodyPr/>
          <a:lstStyle/>
          <a:p>
            <a:fld id="{08A7B8A6-DC2C-4E66-899B-3FF6576B90A7}" type="slidenum">
              <a:rPr lang="en-US" smtClean="0"/>
              <a:t>110</a:t>
            </a:fld>
            <a:endParaRPr lang="en-US"/>
          </a:p>
        </p:txBody>
      </p:sp>
    </p:spTree>
    <p:extLst>
      <p:ext uri="{BB962C8B-B14F-4D97-AF65-F5344CB8AC3E}">
        <p14:creationId xmlns:p14="http://schemas.microsoft.com/office/powerpoint/2010/main" val="938786580"/>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36AFDB-5C11-2455-24F8-E903B533541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0339C3D-E9DE-3445-6813-3E8B62806E0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94DB3FD-29E3-64A9-BF44-97A2043FB9CD}"/>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5FE95D52-28F4-A99E-D990-D0690AD06407}"/>
              </a:ext>
            </a:extLst>
          </p:cNvPr>
          <p:cNvSpPr>
            <a:spLocks noGrp="1"/>
          </p:cNvSpPr>
          <p:nvPr>
            <p:ph type="sldNum" sz="quarter" idx="5"/>
          </p:nvPr>
        </p:nvSpPr>
        <p:spPr/>
        <p:txBody>
          <a:bodyPr/>
          <a:lstStyle/>
          <a:p>
            <a:fld id="{08A7B8A6-DC2C-4E66-899B-3FF6576B90A7}" type="slidenum">
              <a:rPr lang="en-US" smtClean="0"/>
              <a:t>112</a:t>
            </a:fld>
            <a:endParaRPr lang="en-US"/>
          </a:p>
        </p:txBody>
      </p:sp>
    </p:spTree>
    <p:extLst>
      <p:ext uri="{BB962C8B-B14F-4D97-AF65-F5344CB8AC3E}">
        <p14:creationId xmlns:p14="http://schemas.microsoft.com/office/powerpoint/2010/main" val="3561246143"/>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579A0E-3228-FECE-4A9C-E6EB23C891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5610DC-C01E-00F7-FD1B-2D1CBBB9FA1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FFA1DC3-676D-BDAC-6478-19895B6E1360}"/>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4E74B33F-9BD4-6C82-D7B0-48BB99E03659}"/>
              </a:ext>
            </a:extLst>
          </p:cNvPr>
          <p:cNvSpPr>
            <a:spLocks noGrp="1"/>
          </p:cNvSpPr>
          <p:nvPr>
            <p:ph type="sldNum" sz="quarter" idx="5"/>
          </p:nvPr>
        </p:nvSpPr>
        <p:spPr/>
        <p:txBody>
          <a:bodyPr/>
          <a:lstStyle/>
          <a:p>
            <a:fld id="{08A7B8A6-DC2C-4E66-899B-3FF6576B90A7}" type="slidenum">
              <a:rPr lang="en-US" smtClean="0"/>
              <a:t>114</a:t>
            </a:fld>
            <a:endParaRPr lang="en-US"/>
          </a:p>
        </p:txBody>
      </p:sp>
    </p:spTree>
    <p:extLst>
      <p:ext uri="{BB962C8B-B14F-4D97-AF65-F5344CB8AC3E}">
        <p14:creationId xmlns:p14="http://schemas.microsoft.com/office/powerpoint/2010/main" val="1118754882"/>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21FE57-DA4C-C283-BC5B-2407BEF6146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8BCF93B-BB1C-0609-8D38-FFAE48E06B1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7E71F85-A730-CE75-E5C0-2FE701F4E544}"/>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5F03C8B5-7F3D-2F79-36DC-79433F80AD87}"/>
              </a:ext>
            </a:extLst>
          </p:cNvPr>
          <p:cNvSpPr>
            <a:spLocks noGrp="1"/>
          </p:cNvSpPr>
          <p:nvPr>
            <p:ph type="sldNum" sz="quarter" idx="5"/>
          </p:nvPr>
        </p:nvSpPr>
        <p:spPr/>
        <p:txBody>
          <a:bodyPr/>
          <a:lstStyle/>
          <a:p>
            <a:fld id="{08A7B8A6-DC2C-4E66-899B-3FF6576B90A7}" type="slidenum">
              <a:rPr lang="en-US" smtClean="0"/>
              <a:t>116</a:t>
            </a:fld>
            <a:endParaRPr lang="en-US"/>
          </a:p>
        </p:txBody>
      </p:sp>
    </p:spTree>
    <p:extLst>
      <p:ext uri="{BB962C8B-B14F-4D97-AF65-F5344CB8AC3E}">
        <p14:creationId xmlns:p14="http://schemas.microsoft.com/office/powerpoint/2010/main" val="2018814430"/>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7C0BCF-6390-F5DB-B9E6-9818DC45095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1682DFF-B0E9-6974-FDF4-489CDC6DEEE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B483C82-D9F3-C433-C8D8-E3DC85953DF6}"/>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971A576E-BE1D-C82E-CA24-CAE3F32BACAD}"/>
              </a:ext>
            </a:extLst>
          </p:cNvPr>
          <p:cNvSpPr>
            <a:spLocks noGrp="1"/>
          </p:cNvSpPr>
          <p:nvPr>
            <p:ph type="sldNum" sz="quarter" idx="5"/>
          </p:nvPr>
        </p:nvSpPr>
        <p:spPr/>
        <p:txBody>
          <a:bodyPr/>
          <a:lstStyle/>
          <a:p>
            <a:fld id="{08A7B8A6-DC2C-4E66-899B-3FF6576B90A7}" type="slidenum">
              <a:rPr lang="en-US" smtClean="0"/>
              <a:t>118</a:t>
            </a:fld>
            <a:endParaRPr lang="en-US"/>
          </a:p>
        </p:txBody>
      </p:sp>
    </p:spTree>
    <p:extLst>
      <p:ext uri="{BB962C8B-B14F-4D97-AF65-F5344CB8AC3E}">
        <p14:creationId xmlns:p14="http://schemas.microsoft.com/office/powerpoint/2010/main" val="8924871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327560-AAD0-5721-29E2-D05F56F027A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55E775-0CB0-B338-5038-95AA82B8727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87B93FC-CC21-49B1-83D5-6EA4F52FCF59}"/>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7B8D1B50-A86B-FB89-A2E5-A642C98F4AE3}"/>
              </a:ext>
            </a:extLst>
          </p:cNvPr>
          <p:cNvSpPr>
            <a:spLocks noGrp="1"/>
          </p:cNvSpPr>
          <p:nvPr>
            <p:ph type="sldNum" sz="quarter" idx="5"/>
          </p:nvPr>
        </p:nvSpPr>
        <p:spPr/>
        <p:txBody>
          <a:bodyPr/>
          <a:lstStyle/>
          <a:p>
            <a:fld id="{08A7B8A6-DC2C-4E66-899B-3FF6576B90A7}" type="slidenum">
              <a:rPr lang="en-US" smtClean="0"/>
              <a:t>120</a:t>
            </a:fld>
            <a:endParaRPr lang="en-US"/>
          </a:p>
        </p:txBody>
      </p:sp>
    </p:spTree>
    <p:extLst>
      <p:ext uri="{BB962C8B-B14F-4D97-AF65-F5344CB8AC3E}">
        <p14:creationId xmlns:p14="http://schemas.microsoft.com/office/powerpoint/2010/main" val="3434861822"/>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99A69C-4A2D-3D18-39E8-58CF3E45247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99CB799-47CE-2097-DCEF-54AF12F762F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B25FA09-445D-7E29-9870-FBA0F696DB14}"/>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D6FF43EC-2FB9-103F-9156-8B058C1B0DCA}"/>
              </a:ext>
            </a:extLst>
          </p:cNvPr>
          <p:cNvSpPr>
            <a:spLocks noGrp="1"/>
          </p:cNvSpPr>
          <p:nvPr>
            <p:ph type="sldNum" sz="quarter" idx="5"/>
          </p:nvPr>
        </p:nvSpPr>
        <p:spPr/>
        <p:txBody>
          <a:bodyPr/>
          <a:lstStyle/>
          <a:p>
            <a:fld id="{08A7B8A6-DC2C-4E66-899B-3FF6576B90A7}" type="slidenum">
              <a:rPr lang="en-US" smtClean="0"/>
              <a:t>122</a:t>
            </a:fld>
            <a:endParaRPr lang="en-US"/>
          </a:p>
        </p:txBody>
      </p:sp>
    </p:spTree>
    <p:extLst>
      <p:ext uri="{BB962C8B-B14F-4D97-AF65-F5344CB8AC3E}">
        <p14:creationId xmlns:p14="http://schemas.microsoft.com/office/powerpoint/2010/main" val="3218977169"/>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5569AC-F7A7-9499-BBC3-69466009B9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1508F2A-6958-185F-171E-D80783243B7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BE11B24-B841-7558-14A7-7CC6CDE30360}"/>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AEB58236-001D-2AB9-4BF8-F14B8498B9EE}"/>
              </a:ext>
            </a:extLst>
          </p:cNvPr>
          <p:cNvSpPr>
            <a:spLocks noGrp="1"/>
          </p:cNvSpPr>
          <p:nvPr>
            <p:ph type="sldNum" sz="quarter" idx="5"/>
          </p:nvPr>
        </p:nvSpPr>
        <p:spPr/>
        <p:txBody>
          <a:bodyPr/>
          <a:lstStyle/>
          <a:p>
            <a:fld id="{08A7B8A6-DC2C-4E66-899B-3FF6576B90A7}" type="slidenum">
              <a:rPr lang="en-US" smtClean="0"/>
              <a:t>124</a:t>
            </a:fld>
            <a:endParaRPr lang="en-US"/>
          </a:p>
        </p:txBody>
      </p:sp>
    </p:spTree>
    <p:extLst>
      <p:ext uri="{BB962C8B-B14F-4D97-AF65-F5344CB8AC3E}">
        <p14:creationId xmlns:p14="http://schemas.microsoft.com/office/powerpoint/2010/main" val="1863656364"/>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2BEC3C-A29F-5D25-C05D-FED5BF49F9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4A01B5D-13A7-10D9-28AA-03E64AF8BA0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8B72CE2-DC75-85FD-AC05-A2B2CF6719A2}"/>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9EF06301-E0CB-38F3-CF9E-305D4ADD708F}"/>
              </a:ext>
            </a:extLst>
          </p:cNvPr>
          <p:cNvSpPr>
            <a:spLocks noGrp="1"/>
          </p:cNvSpPr>
          <p:nvPr>
            <p:ph type="sldNum" sz="quarter" idx="5"/>
          </p:nvPr>
        </p:nvSpPr>
        <p:spPr/>
        <p:txBody>
          <a:bodyPr/>
          <a:lstStyle/>
          <a:p>
            <a:fld id="{08A7B8A6-DC2C-4E66-899B-3FF6576B90A7}" type="slidenum">
              <a:rPr lang="en-US" smtClean="0"/>
              <a:t>126</a:t>
            </a:fld>
            <a:endParaRPr lang="en-US"/>
          </a:p>
        </p:txBody>
      </p:sp>
    </p:spTree>
    <p:extLst>
      <p:ext uri="{BB962C8B-B14F-4D97-AF65-F5344CB8AC3E}">
        <p14:creationId xmlns:p14="http://schemas.microsoft.com/office/powerpoint/2010/main" val="1238133904"/>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9F0218-55BA-993C-4C54-9457CA58A8B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7DAE172-E0CA-6672-FB85-1FF0174F543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5D7B80F-15EE-3E17-D9D1-E7BF083D2B2A}"/>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3EE5D3B2-F992-155C-A5E7-67339DC0BFA2}"/>
              </a:ext>
            </a:extLst>
          </p:cNvPr>
          <p:cNvSpPr>
            <a:spLocks noGrp="1"/>
          </p:cNvSpPr>
          <p:nvPr>
            <p:ph type="sldNum" sz="quarter" idx="5"/>
          </p:nvPr>
        </p:nvSpPr>
        <p:spPr/>
        <p:txBody>
          <a:bodyPr/>
          <a:lstStyle/>
          <a:p>
            <a:fld id="{08A7B8A6-DC2C-4E66-899B-3FF6576B90A7}" type="slidenum">
              <a:rPr lang="en-US" smtClean="0"/>
              <a:t>128</a:t>
            </a:fld>
            <a:endParaRPr lang="en-US"/>
          </a:p>
        </p:txBody>
      </p:sp>
    </p:spTree>
    <p:extLst>
      <p:ext uri="{BB962C8B-B14F-4D97-AF65-F5344CB8AC3E}">
        <p14:creationId xmlns:p14="http://schemas.microsoft.com/office/powerpoint/2010/main" val="3768670669"/>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49B754-845C-882A-549D-857FFAAD4C2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93E1CA-DABF-C6C3-2E8C-D90A3699C7A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89835FA-0602-18A6-0D44-7C57DC471978}"/>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00B8B4FE-AB79-4807-62B5-F1C795737E3D}"/>
              </a:ext>
            </a:extLst>
          </p:cNvPr>
          <p:cNvSpPr>
            <a:spLocks noGrp="1"/>
          </p:cNvSpPr>
          <p:nvPr>
            <p:ph type="sldNum" sz="quarter" idx="5"/>
          </p:nvPr>
        </p:nvSpPr>
        <p:spPr/>
        <p:txBody>
          <a:bodyPr/>
          <a:lstStyle/>
          <a:p>
            <a:fld id="{08A7B8A6-DC2C-4E66-899B-3FF6576B90A7}" type="slidenum">
              <a:rPr lang="en-US" smtClean="0"/>
              <a:t>130</a:t>
            </a:fld>
            <a:endParaRPr lang="en-US"/>
          </a:p>
        </p:txBody>
      </p:sp>
    </p:spTree>
    <p:extLst>
      <p:ext uri="{BB962C8B-B14F-4D97-AF65-F5344CB8AC3E}">
        <p14:creationId xmlns:p14="http://schemas.microsoft.com/office/powerpoint/2010/main" val="1483808258"/>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AB8CCD-C44F-9C5C-ABE3-04532256831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8E126C1-A56E-8706-E277-1D0A583C51A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459653C-47DB-C4DB-B3A9-0AEB54D35364}"/>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630C0F97-776B-9D2E-5FC2-DE05785A93FD}"/>
              </a:ext>
            </a:extLst>
          </p:cNvPr>
          <p:cNvSpPr>
            <a:spLocks noGrp="1"/>
          </p:cNvSpPr>
          <p:nvPr>
            <p:ph type="sldNum" sz="quarter" idx="5"/>
          </p:nvPr>
        </p:nvSpPr>
        <p:spPr/>
        <p:txBody>
          <a:bodyPr/>
          <a:lstStyle/>
          <a:p>
            <a:fld id="{08A7B8A6-DC2C-4E66-899B-3FF6576B90A7}" type="slidenum">
              <a:rPr lang="en-US" smtClean="0"/>
              <a:t>132</a:t>
            </a:fld>
            <a:endParaRPr lang="en-US"/>
          </a:p>
        </p:txBody>
      </p:sp>
    </p:spTree>
    <p:extLst>
      <p:ext uri="{BB962C8B-B14F-4D97-AF65-F5344CB8AC3E}">
        <p14:creationId xmlns:p14="http://schemas.microsoft.com/office/powerpoint/2010/main" val="3483748852"/>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5EB7CD-4C2D-6B90-60B1-FB7B13F57B7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5AD1021-FBAC-537E-9B72-2128F405ABA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3B827D1-B89B-E1C4-F0E4-F1AA44A88D15}"/>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DB3B5BC2-6E6F-173D-58D1-EDA7F1CABC11}"/>
              </a:ext>
            </a:extLst>
          </p:cNvPr>
          <p:cNvSpPr>
            <a:spLocks noGrp="1"/>
          </p:cNvSpPr>
          <p:nvPr>
            <p:ph type="sldNum" sz="quarter" idx="5"/>
          </p:nvPr>
        </p:nvSpPr>
        <p:spPr/>
        <p:txBody>
          <a:bodyPr/>
          <a:lstStyle/>
          <a:p>
            <a:fld id="{08A7B8A6-DC2C-4E66-899B-3FF6576B90A7}" type="slidenum">
              <a:rPr lang="en-US" smtClean="0"/>
              <a:t>135</a:t>
            </a:fld>
            <a:endParaRPr lang="en-US"/>
          </a:p>
        </p:txBody>
      </p:sp>
    </p:spTree>
    <p:extLst>
      <p:ext uri="{BB962C8B-B14F-4D97-AF65-F5344CB8AC3E}">
        <p14:creationId xmlns:p14="http://schemas.microsoft.com/office/powerpoint/2010/main" val="1792300929"/>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C8C3B1-9B4C-F741-62CF-EF61EDEC9AA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F56113F-1A16-3BCE-AC61-17BCA43F84F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6F87869-142F-2C13-A91E-F43FC4502B92}"/>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B6BD2F22-92B1-483D-EBF1-D44447773AF7}"/>
              </a:ext>
            </a:extLst>
          </p:cNvPr>
          <p:cNvSpPr>
            <a:spLocks noGrp="1"/>
          </p:cNvSpPr>
          <p:nvPr>
            <p:ph type="sldNum" sz="quarter" idx="5"/>
          </p:nvPr>
        </p:nvSpPr>
        <p:spPr/>
        <p:txBody>
          <a:bodyPr/>
          <a:lstStyle/>
          <a:p>
            <a:fld id="{08A7B8A6-DC2C-4E66-899B-3FF6576B90A7}" type="slidenum">
              <a:rPr lang="en-US" smtClean="0"/>
              <a:t>137</a:t>
            </a:fld>
            <a:endParaRPr lang="en-US"/>
          </a:p>
        </p:txBody>
      </p:sp>
    </p:spTree>
    <p:extLst>
      <p:ext uri="{BB962C8B-B14F-4D97-AF65-F5344CB8AC3E}">
        <p14:creationId xmlns:p14="http://schemas.microsoft.com/office/powerpoint/2010/main" val="556371360"/>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14E756-2BB3-373D-0CA2-7E7A32AE7FB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DAAA657-0D6A-2C84-066F-AC5558BC64B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1BB922C-4F8A-5D94-62C1-CB864DE564C0}"/>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8B25259A-6C3F-4C78-1E86-03A1BA98FB84}"/>
              </a:ext>
            </a:extLst>
          </p:cNvPr>
          <p:cNvSpPr>
            <a:spLocks noGrp="1"/>
          </p:cNvSpPr>
          <p:nvPr>
            <p:ph type="sldNum" sz="quarter" idx="5"/>
          </p:nvPr>
        </p:nvSpPr>
        <p:spPr/>
        <p:txBody>
          <a:bodyPr/>
          <a:lstStyle/>
          <a:p>
            <a:fld id="{08A7B8A6-DC2C-4E66-899B-3FF6576B90A7}" type="slidenum">
              <a:rPr lang="en-US" smtClean="0"/>
              <a:t>139</a:t>
            </a:fld>
            <a:endParaRPr lang="en-US"/>
          </a:p>
        </p:txBody>
      </p:sp>
    </p:spTree>
    <p:extLst>
      <p:ext uri="{BB962C8B-B14F-4D97-AF65-F5344CB8AC3E}">
        <p14:creationId xmlns:p14="http://schemas.microsoft.com/office/powerpoint/2010/main" val="3078284707"/>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759D79-E683-87B4-6460-0FAABFDBE35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A152FA-594D-4945-BE8C-01E3D6BDF88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E065F28-A42D-ECBD-A369-E528C8D6D3D4}"/>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DB942D8B-2FD5-B466-FC9C-4F9F5049CB45}"/>
              </a:ext>
            </a:extLst>
          </p:cNvPr>
          <p:cNvSpPr>
            <a:spLocks noGrp="1"/>
          </p:cNvSpPr>
          <p:nvPr>
            <p:ph type="sldNum" sz="quarter" idx="5"/>
          </p:nvPr>
        </p:nvSpPr>
        <p:spPr/>
        <p:txBody>
          <a:bodyPr/>
          <a:lstStyle/>
          <a:p>
            <a:fld id="{08A7B8A6-DC2C-4E66-899B-3FF6576B90A7}" type="slidenum">
              <a:rPr lang="en-US" smtClean="0"/>
              <a:t>141</a:t>
            </a:fld>
            <a:endParaRPr lang="en-US"/>
          </a:p>
        </p:txBody>
      </p:sp>
    </p:spTree>
    <p:extLst>
      <p:ext uri="{BB962C8B-B14F-4D97-AF65-F5344CB8AC3E}">
        <p14:creationId xmlns:p14="http://schemas.microsoft.com/office/powerpoint/2010/main" val="2219776920"/>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49652E-EA08-85BC-DE0D-F52C2829063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C71BE48-6A9D-C85A-FA82-47886732F5D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501CD7-01BA-F538-6209-0C5AD08DAE2F}"/>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8EC928E7-3785-0B68-6D92-B739D1E47112}"/>
              </a:ext>
            </a:extLst>
          </p:cNvPr>
          <p:cNvSpPr>
            <a:spLocks noGrp="1"/>
          </p:cNvSpPr>
          <p:nvPr>
            <p:ph type="sldNum" sz="quarter" idx="5"/>
          </p:nvPr>
        </p:nvSpPr>
        <p:spPr/>
        <p:txBody>
          <a:bodyPr/>
          <a:lstStyle/>
          <a:p>
            <a:fld id="{08A7B8A6-DC2C-4E66-899B-3FF6576B90A7}" type="slidenum">
              <a:rPr lang="en-US" smtClean="0"/>
              <a:t>143</a:t>
            </a:fld>
            <a:endParaRPr lang="en-US"/>
          </a:p>
        </p:txBody>
      </p:sp>
    </p:spTree>
    <p:extLst>
      <p:ext uri="{BB962C8B-B14F-4D97-AF65-F5344CB8AC3E}">
        <p14:creationId xmlns:p14="http://schemas.microsoft.com/office/powerpoint/2010/main" val="3127101163"/>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F4E67E-D8E7-7FC2-0AF8-EC173AE5ECA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4962C61-8178-6F30-E0B6-CBEDAF4A131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1713C87-9CD0-53FE-9D35-03E76FE322E8}"/>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941C82DD-09EB-2C25-FC2E-737C9BDD4876}"/>
              </a:ext>
            </a:extLst>
          </p:cNvPr>
          <p:cNvSpPr>
            <a:spLocks noGrp="1"/>
          </p:cNvSpPr>
          <p:nvPr>
            <p:ph type="sldNum" sz="quarter" idx="5"/>
          </p:nvPr>
        </p:nvSpPr>
        <p:spPr/>
        <p:txBody>
          <a:bodyPr/>
          <a:lstStyle/>
          <a:p>
            <a:fld id="{08A7B8A6-DC2C-4E66-899B-3FF6576B90A7}" type="slidenum">
              <a:rPr lang="en-US" smtClean="0"/>
              <a:t>145</a:t>
            </a:fld>
            <a:endParaRPr lang="en-US"/>
          </a:p>
        </p:txBody>
      </p:sp>
    </p:spTree>
    <p:extLst>
      <p:ext uri="{BB962C8B-B14F-4D97-AF65-F5344CB8AC3E}">
        <p14:creationId xmlns:p14="http://schemas.microsoft.com/office/powerpoint/2010/main" val="708766219"/>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6B018E-F56C-EBD0-94F1-A6B92DE18F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AA5A41-4F3F-9617-0E3D-BDC2373D6DE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13EDB15-B740-29D2-C16B-D3FB8F536220}"/>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FB924393-5D56-6F05-2634-2E6F82E6B197}"/>
              </a:ext>
            </a:extLst>
          </p:cNvPr>
          <p:cNvSpPr>
            <a:spLocks noGrp="1"/>
          </p:cNvSpPr>
          <p:nvPr>
            <p:ph type="sldNum" sz="quarter" idx="5"/>
          </p:nvPr>
        </p:nvSpPr>
        <p:spPr/>
        <p:txBody>
          <a:bodyPr/>
          <a:lstStyle/>
          <a:p>
            <a:fld id="{08A7B8A6-DC2C-4E66-899B-3FF6576B90A7}" type="slidenum">
              <a:rPr lang="en-US" smtClean="0"/>
              <a:t>146</a:t>
            </a:fld>
            <a:endParaRPr lang="en-US"/>
          </a:p>
        </p:txBody>
      </p:sp>
    </p:spTree>
    <p:extLst>
      <p:ext uri="{BB962C8B-B14F-4D97-AF65-F5344CB8AC3E}">
        <p14:creationId xmlns:p14="http://schemas.microsoft.com/office/powerpoint/2010/main" val="3482084733"/>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BC4380-10DB-0F20-20A1-5A5C11A1339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B9BAEED-9483-E6E3-927A-6EE9E3C3BDB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4C886D3-F973-AF2C-4D3D-DFA5211F3360}"/>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11A17196-2C53-EB86-DE64-9904D596971E}"/>
              </a:ext>
            </a:extLst>
          </p:cNvPr>
          <p:cNvSpPr>
            <a:spLocks noGrp="1"/>
          </p:cNvSpPr>
          <p:nvPr>
            <p:ph type="sldNum" sz="quarter" idx="5"/>
          </p:nvPr>
        </p:nvSpPr>
        <p:spPr/>
        <p:txBody>
          <a:bodyPr/>
          <a:lstStyle/>
          <a:p>
            <a:fld id="{08A7B8A6-DC2C-4E66-899B-3FF6576B90A7}" type="slidenum">
              <a:rPr lang="en-US" smtClean="0"/>
              <a:t>148</a:t>
            </a:fld>
            <a:endParaRPr lang="en-US"/>
          </a:p>
        </p:txBody>
      </p:sp>
    </p:spTree>
    <p:extLst>
      <p:ext uri="{BB962C8B-B14F-4D97-AF65-F5344CB8AC3E}">
        <p14:creationId xmlns:p14="http://schemas.microsoft.com/office/powerpoint/2010/main" val="4185289256"/>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E77D1E-A910-E9EA-6305-FA3C636F225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A35B71E-301C-8F97-F0AA-FA25BE00B3A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BB72DC3-5E57-46D2-08BD-856B9F41E78C}"/>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027CAA71-04DB-75C5-AA7C-14E1F969F42B}"/>
              </a:ext>
            </a:extLst>
          </p:cNvPr>
          <p:cNvSpPr>
            <a:spLocks noGrp="1"/>
          </p:cNvSpPr>
          <p:nvPr>
            <p:ph type="sldNum" sz="quarter" idx="5"/>
          </p:nvPr>
        </p:nvSpPr>
        <p:spPr/>
        <p:txBody>
          <a:bodyPr/>
          <a:lstStyle/>
          <a:p>
            <a:fld id="{08A7B8A6-DC2C-4E66-899B-3FF6576B90A7}" type="slidenum">
              <a:rPr lang="en-US" smtClean="0"/>
              <a:t>150</a:t>
            </a:fld>
            <a:endParaRPr lang="en-US"/>
          </a:p>
        </p:txBody>
      </p:sp>
    </p:spTree>
    <p:extLst>
      <p:ext uri="{BB962C8B-B14F-4D97-AF65-F5344CB8AC3E}">
        <p14:creationId xmlns:p14="http://schemas.microsoft.com/office/powerpoint/2010/main" val="2259434610"/>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B85353-3D36-E197-8765-CFA4BEF500B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4F62CF9-ED95-153A-F791-4D2111B3262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5BDA688-B5FC-73B9-F3C9-5E3DD3F0E282}"/>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19440088-520D-F60F-C6BF-EEF6E6997269}"/>
              </a:ext>
            </a:extLst>
          </p:cNvPr>
          <p:cNvSpPr>
            <a:spLocks noGrp="1"/>
          </p:cNvSpPr>
          <p:nvPr>
            <p:ph type="sldNum" sz="quarter" idx="5"/>
          </p:nvPr>
        </p:nvSpPr>
        <p:spPr/>
        <p:txBody>
          <a:bodyPr/>
          <a:lstStyle/>
          <a:p>
            <a:fld id="{08A7B8A6-DC2C-4E66-899B-3FF6576B90A7}" type="slidenum">
              <a:rPr lang="en-US" smtClean="0"/>
              <a:t>151</a:t>
            </a:fld>
            <a:endParaRPr lang="en-US"/>
          </a:p>
        </p:txBody>
      </p:sp>
    </p:spTree>
    <p:extLst>
      <p:ext uri="{BB962C8B-B14F-4D97-AF65-F5344CB8AC3E}">
        <p14:creationId xmlns:p14="http://schemas.microsoft.com/office/powerpoint/2010/main" val="3062021434"/>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DFFA4D-BEEC-E472-3AE3-27145FE92A0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69C8728-608E-9333-937F-6D4B5CB6908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067876B-6677-0E1D-1179-AF74784F54F0}"/>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A90861E3-C18B-93F8-6818-82F28FC7D34A}"/>
              </a:ext>
            </a:extLst>
          </p:cNvPr>
          <p:cNvSpPr>
            <a:spLocks noGrp="1"/>
          </p:cNvSpPr>
          <p:nvPr>
            <p:ph type="sldNum" sz="quarter" idx="5"/>
          </p:nvPr>
        </p:nvSpPr>
        <p:spPr/>
        <p:txBody>
          <a:bodyPr/>
          <a:lstStyle/>
          <a:p>
            <a:fld id="{08A7B8A6-DC2C-4E66-899B-3FF6576B90A7}" type="slidenum">
              <a:rPr lang="en-US" smtClean="0"/>
              <a:t>152</a:t>
            </a:fld>
            <a:endParaRPr lang="en-US"/>
          </a:p>
        </p:txBody>
      </p:sp>
    </p:spTree>
    <p:extLst>
      <p:ext uri="{BB962C8B-B14F-4D97-AF65-F5344CB8AC3E}">
        <p14:creationId xmlns:p14="http://schemas.microsoft.com/office/powerpoint/2010/main" val="2897297415"/>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0C439D-1123-B167-A504-42C4C43F75C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C19B020-40F9-75D0-E935-F252C83D429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B7A0D76-27FC-0B1B-0BBF-195D4BC55B2F}"/>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93523EEE-3944-9D93-7909-E82E51BDC902}"/>
              </a:ext>
            </a:extLst>
          </p:cNvPr>
          <p:cNvSpPr>
            <a:spLocks noGrp="1"/>
          </p:cNvSpPr>
          <p:nvPr>
            <p:ph type="sldNum" sz="quarter" idx="5"/>
          </p:nvPr>
        </p:nvSpPr>
        <p:spPr/>
        <p:txBody>
          <a:bodyPr/>
          <a:lstStyle/>
          <a:p>
            <a:fld id="{08A7B8A6-DC2C-4E66-899B-3FF6576B90A7}" type="slidenum">
              <a:rPr lang="en-US" smtClean="0"/>
              <a:t>154</a:t>
            </a:fld>
            <a:endParaRPr lang="en-US"/>
          </a:p>
        </p:txBody>
      </p:sp>
    </p:spTree>
    <p:extLst>
      <p:ext uri="{BB962C8B-B14F-4D97-AF65-F5344CB8AC3E}">
        <p14:creationId xmlns:p14="http://schemas.microsoft.com/office/powerpoint/2010/main" val="196058730"/>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43FCB4-BCB5-E51F-1C7B-E429B6CBE6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AE570A-A2A8-5E87-E52D-1A65147D868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5B3E5D6-D4AD-EB5B-053F-501FAF4E584C}"/>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64077B89-AA3E-2670-691F-86C3EEC1CD70}"/>
              </a:ext>
            </a:extLst>
          </p:cNvPr>
          <p:cNvSpPr>
            <a:spLocks noGrp="1"/>
          </p:cNvSpPr>
          <p:nvPr>
            <p:ph type="sldNum" sz="quarter" idx="5"/>
          </p:nvPr>
        </p:nvSpPr>
        <p:spPr/>
        <p:txBody>
          <a:bodyPr/>
          <a:lstStyle/>
          <a:p>
            <a:fld id="{08A7B8A6-DC2C-4E66-899B-3FF6576B90A7}" type="slidenum">
              <a:rPr lang="en-US" smtClean="0"/>
              <a:t>156</a:t>
            </a:fld>
            <a:endParaRPr lang="en-US"/>
          </a:p>
        </p:txBody>
      </p:sp>
    </p:spTree>
    <p:extLst>
      <p:ext uri="{BB962C8B-B14F-4D97-AF65-F5344CB8AC3E}">
        <p14:creationId xmlns:p14="http://schemas.microsoft.com/office/powerpoint/2010/main" val="3115239640"/>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750F92-27D3-A440-981F-4B29CBF72A6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DA90EE5-AC31-BCE3-7769-A09C4619A2B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C70227D-4BFD-53C0-2680-DA249CC6A668}"/>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886CBDB7-A35D-2183-BAB2-EB6A227F7FB2}"/>
              </a:ext>
            </a:extLst>
          </p:cNvPr>
          <p:cNvSpPr>
            <a:spLocks noGrp="1"/>
          </p:cNvSpPr>
          <p:nvPr>
            <p:ph type="sldNum" sz="quarter" idx="5"/>
          </p:nvPr>
        </p:nvSpPr>
        <p:spPr/>
        <p:txBody>
          <a:bodyPr/>
          <a:lstStyle/>
          <a:p>
            <a:fld id="{08A7B8A6-DC2C-4E66-899B-3FF6576B90A7}" type="slidenum">
              <a:rPr lang="en-US" smtClean="0"/>
              <a:t>158</a:t>
            </a:fld>
            <a:endParaRPr lang="en-US"/>
          </a:p>
        </p:txBody>
      </p:sp>
    </p:spTree>
    <p:extLst>
      <p:ext uri="{BB962C8B-B14F-4D97-AF65-F5344CB8AC3E}">
        <p14:creationId xmlns:p14="http://schemas.microsoft.com/office/powerpoint/2010/main" val="2711401810"/>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7AD1E5-A6BB-4ABD-4F0C-9C3B0B0CD22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DABB81-A570-FEEC-E3DA-A15B523F4EC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0243137-0799-D843-D9C2-258CE7182B17}"/>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6BF43519-205C-0B43-A950-5686ED8578B4}"/>
              </a:ext>
            </a:extLst>
          </p:cNvPr>
          <p:cNvSpPr>
            <a:spLocks noGrp="1"/>
          </p:cNvSpPr>
          <p:nvPr>
            <p:ph type="sldNum" sz="quarter" idx="5"/>
          </p:nvPr>
        </p:nvSpPr>
        <p:spPr/>
        <p:txBody>
          <a:bodyPr/>
          <a:lstStyle/>
          <a:p>
            <a:fld id="{08A7B8A6-DC2C-4E66-899B-3FF6576B90A7}" type="slidenum">
              <a:rPr lang="en-US" smtClean="0"/>
              <a:t>160</a:t>
            </a:fld>
            <a:endParaRPr lang="en-US"/>
          </a:p>
        </p:txBody>
      </p:sp>
    </p:spTree>
    <p:extLst>
      <p:ext uri="{BB962C8B-B14F-4D97-AF65-F5344CB8AC3E}">
        <p14:creationId xmlns:p14="http://schemas.microsoft.com/office/powerpoint/2010/main" val="2676551739"/>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32FC52-15FB-D45F-2BC5-B8763A93EE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46D6783-2901-A1F4-B3A9-7A1FE0F077F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65B9B48-AEB2-E627-B66C-FE7CBF8FF179}"/>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0DFA12C4-9A74-B432-E662-A5B9CE30D3F3}"/>
              </a:ext>
            </a:extLst>
          </p:cNvPr>
          <p:cNvSpPr>
            <a:spLocks noGrp="1"/>
          </p:cNvSpPr>
          <p:nvPr>
            <p:ph type="sldNum" sz="quarter" idx="5"/>
          </p:nvPr>
        </p:nvSpPr>
        <p:spPr/>
        <p:txBody>
          <a:bodyPr/>
          <a:lstStyle/>
          <a:p>
            <a:fld id="{08A7B8A6-DC2C-4E66-899B-3FF6576B90A7}" type="slidenum">
              <a:rPr lang="en-US" smtClean="0"/>
              <a:t>162</a:t>
            </a:fld>
            <a:endParaRPr lang="en-US"/>
          </a:p>
        </p:txBody>
      </p:sp>
    </p:spTree>
    <p:extLst>
      <p:ext uri="{BB962C8B-B14F-4D97-AF65-F5344CB8AC3E}">
        <p14:creationId xmlns:p14="http://schemas.microsoft.com/office/powerpoint/2010/main" val="3953449084"/>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D8067A-EC22-193B-3C1F-B196736893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338639C-9230-164D-6EDC-98FEE635BC3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1133B14-D765-AD01-B10F-A844CB4CC290}"/>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3C50928F-33D7-65FA-2044-E714F0121E42}"/>
              </a:ext>
            </a:extLst>
          </p:cNvPr>
          <p:cNvSpPr>
            <a:spLocks noGrp="1"/>
          </p:cNvSpPr>
          <p:nvPr>
            <p:ph type="sldNum" sz="quarter" idx="5"/>
          </p:nvPr>
        </p:nvSpPr>
        <p:spPr/>
        <p:txBody>
          <a:bodyPr/>
          <a:lstStyle/>
          <a:p>
            <a:fld id="{08A7B8A6-DC2C-4E66-899B-3FF6576B90A7}" type="slidenum">
              <a:rPr lang="en-US" smtClean="0"/>
              <a:t>163</a:t>
            </a:fld>
            <a:endParaRPr lang="en-US"/>
          </a:p>
        </p:txBody>
      </p:sp>
    </p:spTree>
    <p:extLst>
      <p:ext uri="{BB962C8B-B14F-4D97-AF65-F5344CB8AC3E}">
        <p14:creationId xmlns:p14="http://schemas.microsoft.com/office/powerpoint/2010/main" val="338350184"/>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479B5B-51D5-B082-532A-0D8A79FA3B5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696B35-6E6A-CF23-FDE1-615331D12BC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AA2CD79-0D94-3374-D2EB-2AC2A5A94BEB}"/>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3651D0F2-98D0-9484-6A1C-CA3D86365640}"/>
              </a:ext>
            </a:extLst>
          </p:cNvPr>
          <p:cNvSpPr>
            <a:spLocks noGrp="1"/>
          </p:cNvSpPr>
          <p:nvPr>
            <p:ph type="sldNum" sz="quarter" idx="5"/>
          </p:nvPr>
        </p:nvSpPr>
        <p:spPr/>
        <p:txBody>
          <a:bodyPr/>
          <a:lstStyle/>
          <a:p>
            <a:fld id="{08A7B8A6-DC2C-4E66-899B-3FF6576B90A7}" type="slidenum">
              <a:rPr lang="en-US" smtClean="0"/>
              <a:t>164</a:t>
            </a:fld>
            <a:endParaRPr lang="en-US"/>
          </a:p>
        </p:txBody>
      </p:sp>
    </p:spTree>
    <p:extLst>
      <p:ext uri="{BB962C8B-B14F-4D97-AF65-F5344CB8AC3E}">
        <p14:creationId xmlns:p14="http://schemas.microsoft.com/office/powerpoint/2010/main" val="1589829319"/>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8C8DF0-3FCF-50BD-BE68-6739497F117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1B2A799-367B-B6B3-AA59-197433149C4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CAC4ECD-40F1-E363-6A01-7621B045DEC5}"/>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FAB67943-DC43-0C36-B435-4F4DB2309E9F}"/>
              </a:ext>
            </a:extLst>
          </p:cNvPr>
          <p:cNvSpPr>
            <a:spLocks noGrp="1"/>
          </p:cNvSpPr>
          <p:nvPr>
            <p:ph type="sldNum" sz="quarter" idx="5"/>
          </p:nvPr>
        </p:nvSpPr>
        <p:spPr/>
        <p:txBody>
          <a:bodyPr/>
          <a:lstStyle/>
          <a:p>
            <a:fld id="{08A7B8A6-DC2C-4E66-899B-3FF6576B90A7}" type="slidenum">
              <a:rPr lang="en-US" smtClean="0"/>
              <a:t>165</a:t>
            </a:fld>
            <a:endParaRPr lang="en-US"/>
          </a:p>
        </p:txBody>
      </p:sp>
    </p:spTree>
    <p:extLst>
      <p:ext uri="{BB962C8B-B14F-4D97-AF65-F5344CB8AC3E}">
        <p14:creationId xmlns:p14="http://schemas.microsoft.com/office/powerpoint/2010/main" val="2909637652"/>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08604A-7186-181B-4093-4C6FD56D460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5CAFCC-E750-93F9-62BA-3B988F6B65B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B18689B-9110-1E8D-C2BF-58E50CD74DBB}"/>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613572B3-FA66-7ADC-9370-EE1ABBA6F0EF}"/>
              </a:ext>
            </a:extLst>
          </p:cNvPr>
          <p:cNvSpPr>
            <a:spLocks noGrp="1"/>
          </p:cNvSpPr>
          <p:nvPr>
            <p:ph type="sldNum" sz="quarter" idx="5"/>
          </p:nvPr>
        </p:nvSpPr>
        <p:spPr/>
        <p:txBody>
          <a:bodyPr/>
          <a:lstStyle/>
          <a:p>
            <a:fld id="{08A7B8A6-DC2C-4E66-899B-3FF6576B90A7}" type="slidenum">
              <a:rPr lang="en-US" smtClean="0"/>
              <a:t>167</a:t>
            </a:fld>
            <a:endParaRPr lang="en-US"/>
          </a:p>
        </p:txBody>
      </p:sp>
    </p:spTree>
    <p:extLst>
      <p:ext uri="{BB962C8B-B14F-4D97-AF65-F5344CB8AC3E}">
        <p14:creationId xmlns:p14="http://schemas.microsoft.com/office/powerpoint/2010/main" val="3681407173"/>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8F6ED7-0962-BBC0-066E-F0E69876C09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94299A1-01C0-B020-4755-44E6F3C3DB2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8252BBC-D0B3-E95C-405B-BD9CA02C517B}"/>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73486700-D297-231B-9CE1-B59B2B50F4DE}"/>
              </a:ext>
            </a:extLst>
          </p:cNvPr>
          <p:cNvSpPr>
            <a:spLocks noGrp="1"/>
          </p:cNvSpPr>
          <p:nvPr>
            <p:ph type="sldNum" sz="quarter" idx="5"/>
          </p:nvPr>
        </p:nvSpPr>
        <p:spPr/>
        <p:txBody>
          <a:bodyPr/>
          <a:lstStyle/>
          <a:p>
            <a:fld id="{08A7B8A6-DC2C-4E66-899B-3FF6576B90A7}" type="slidenum">
              <a:rPr lang="en-US" smtClean="0"/>
              <a:t>169</a:t>
            </a:fld>
            <a:endParaRPr lang="en-US"/>
          </a:p>
        </p:txBody>
      </p:sp>
    </p:spTree>
    <p:extLst>
      <p:ext uri="{BB962C8B-B14F-4D97-AF65-F5344CB8AC3E}">
        <p14:creationId xmlns:p14="http://schemas.microsoft.com/office/powerpoint/2010/main" val="438351712"/>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8A7B8A6-DC2C-4E66-899B-3FF6576B90A7}" type="slidenum">
              <a:rPr lang="en-US" smtClean="0"/>
              <a:t>181</a:t>
            </a:fld>
            <a:endParaRPr lang="en-US"/>
          </a:p>
        </p:txBody>
      </p:sp>
    </p:spTree>
    <p:extLst>
      <p:ext uri="{BB962C8B-B14F-4D97-AF65-F5344CB8AC3E}">
        <p14:creationId xmlns:p14="http://schemas.microsoft.com/office/powerpoint/2010/main" val="25792627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p:cNvSpPr>
            <a:spLocks noGrp="1"/>
          </p:cNvSpPr>
          <p:nvPr>
            <p:ph type="sldNum" sz="quarter" idx="5"/>
          </p:nvPr>
        </p:nvSpPr>
        <p:spPr/>
        <p:txBody>
          <a:bodyPr/>
          <a:lstStyle/>
          <a:p>
            <a:fld id="{08A7B8A6-DC2C-4E66-899B-3FF6576B90A7}" type="slidenum">
              <a:rPr lang="en-US" smtClean="0"/>
              <a:t>184</a:t>
            </a:fld>
            <a:endParaRPr lang="en-US"/>
          </a:p>
        </p:txBody>
      </p:sp>
    </p:spTree>
    <p:extLst>
      <p:ext uri="{BB962C8B-B14F-4D97-AF65-F5344CB8AC3E}">
        <p14:creationId xmlns:p14="http://schemas.microsoft.com/office/powerpoint/2010/main" val="1117911003"/>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29548E-7889-4FB1-3D34-729249C3C3D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BB0EEDC-29B8-F780-BBA7-D70901BEC74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BB46AC8-C9B6-826D-6F26-916965BE4716}"/>
              </a:ext>
            </a:extLst>
          </p:cNvPr>
          <p:cNvSpPr>
            <a:spLocks noGrp="1"/>
          </p:cNvSpPr>
          <p:nvPr>
            <p:ph type="body" idx="1"/>
          </p:nvPr>
        </p:nvSpPr>
        <p:spPr/>
        <p:txBody>
          <a:bodyPr/>
          <a:lstStyle/>
          <a:p>
            <a:r>
              <a:rPr lang="en-US" err="1">
                <a:hlinkClick r:id="rId3"/>
              </a:rPr>
              <a:t>kubernetes</a:t>
            </a:r>
            <a:r>
              <a:rPr lang="en-US">
                <a:hlinkClick r:id="rId3"/>
              </a:rPr>
              <a:t>-sigs/secrets-store-</a:t>
            </a:r>
            <a:r>
              <a:rPr lang="en-US" err="1">
                <a:hlinkClick r:id="rId3"/>
              </a:rPr>
              <a:t>csi</a:t>
            </a:r>
            <a:r>
              <a:rPr lang="en-US">
                <a:hlinkClick r:id="rId3"/>
              </a:rPr>
              <a:t>-driver: Secrets Store CSI driver for Kubernetes secrets - Integrates secrets stores with Kubernetes via a CSI volume.</a:t>
            </a:r>
            <a:endParaRPr lang="en-US"/>
          </a:p>
        </p:txBody>
      </p:sp>
      <p:sp>
        <p:nvSpPr>
          <p:cNvPr id="4" name="Slide Number Placeholder 3">
            <a:extLst>
              <a:ext uri="{FF2B5EF4-FFF2-40B4-BE49-F238E27FC236}">
                <a16:creationId xmlns:a16="http://schemas.microsoft.com/office/drawing/2014/main" id="{E8F39BF4-27E5-3D6E-1915-93F9048E8E04}"/>
              </a:ext>
            </a:extLst>
          </p:cNvPr>
          <p:cNvSpPr>
            <a:spLocks noGrp="1"/>
          </p:cNvSpPr>
          <p:nvPr>
            <p:ph type="sldNum" sz="quarter" idx="5"/>
          </p:nvPr>
        </p:nvSpPr>
        <p:spPr/>
        <p:txBody>
          <a:bodyPr/>
          <a:lstStyle/>
          <a:p>
            <a:fld id="{08A7B8A6-DC2C-4E66-899B-3FF6576B90A7}" type="slidenum">
              <a:rPr lang="en-US" smtClean="0"/>
              <a:t>185</a:t>
            </a:fld>
            <a:endParaRPr lang="en-US"/>
          </a:p>
        </p:txBody>
      </p:sp>
    </p:spTree>
    <p:extLst>
      <p:ext uri="{BB962C8B-B14F-4D97-AF65-F5344CB8AC3E}">
        <p14:creationId xmlns:p14="http://schemas.microsoft.com/office/powerpoint/2010/main" val="78352528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D305F6-65EB-7857-45CF-ED0C34304D1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DCBD042-19F7-626C-D78C-675A9CBCA4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03A6B38-9548-B04C-8F48-3EB8D8A2B311}"/>
              </a:ext>
            </a:extLst>
          </p:cNvPr>
          <p:cNvSpPr>
            <a:spLocks noGrp="1"/>
          </p:cNvSpPr>
          <p:nvPr>
            <p:ph type="body" idx="1"/>
          </p:nvPr>
        </p:nvSpPr>
        <p:spPr/>
        <p:txBody>
          <a:bodyPr/>
          <a:lstStyle/>
          <a:p>
            <a:r>
              <a:rPr lang="en-US" dirty="0" err="1">
                <a:hlinkClick r:id="rId3"/>
              </a:rPr>
              <a:t>kubernetes</a:t>
            </a:r>
            <a:r>
              <a:rPr lang="en-US" dirty="0">
                <a:hlinkClick r:id="rId3"/>
              </a:rPr>
              <a:t>-sigs/secrets-store-</a:t>
            </a:r>
            <a:r>
              <a:rPr lang="en-US" dirty="0" err="1">
                <a:hlinkClick r:id="rId3"/>
              </a:rPr>
              <a:t>csi</a:t>
            </a:r>
            <a:r>
              <a:rPr lang="en-US" dirty="0">
                <a:hlinkClick r:id="rId3"/>
              </a:rPr>
              <a:t>-driver: Secrets Store CSI driver for Kubernetes secrets - Integrates secrets stores with Kubernetes via a CSI volume.</a:t>
            </a:r>
            <a:endParaRPr lang="en-US" dirty="0"/>
          </a:p>
        </p:txBody>
      </p:sp>
      <p:sp>
        <p:nvSpPr>
          <p:cNvPr id="4" name="Slide Number Placeholder 3">
            <a:extLst>
              <a:ext uri="{FF2B5EF4-FFF2-40B4-BE49-F238E27FC236}">
                <a16:creationId xmlns:a16="http://schemas.microsoft.com/office/drawing/2014/main" id="{E53D028E-3C24-998C-CBB6-4E560BC1DF0D}"/>
              </a:ext>
            </a:extLst>
          </p:cNvPr>
          <p:cNvSpPr>
            <a:spLocks noGrp="1"/>
          </p:cNvSpPr>
          <p:nvPr>
            <p:ph type="sldNum" sz="quarter" idx="5"/>
          </p:nvPr>
        </p:nvSpPr>
        <p:spPr/>
        <p:txBody>
          <a:bodyPr/>
          <a:lstStyle/>
          <a:p>
            <a:fld id="{08A7B8A6-DC2C-4E66-899B-3FF6576B90A7}" type="slidenum">
              <a:rPr lang="en-US" smtClean="0"/>
              <a:t>186</a:t>
            </a:fld>
            <a:endParaRPr lang="en-US"/>
          </a:p>
        </p:txBody>
      </p:sp>
    </p:spTree>
    <p:extLst>
      <p:ext uri="{BB962C8B-B14F-4D97-AF65-F5344CB8AC3E}">
        <p14:creationId xmlns:p14="http://schemas.microsoft.com/office/powerpoint/2010/main" val="305051978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0C8050-4EE2-AC6B-FD42-B4E6E7AC113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D89C9F8-0C4A-8CCB-4376-34B244F0945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9172743-0039-3B23-FB40-B2088E939211}"/>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26851271-9813-3897-029D-75D97204ADDF}"/>
              </a:ext>
            </a:extLst>
          </p:cNvPr>
          <p:cNvSpPr>
            <a:spLocks noGrp="1"/>
          </p:cNvSpPr>
          <p:nvPr>
            <p:ph type="sldNum" sz="quarter" idx="5"/>
          </p:nvPr>
        </p:nvSpPr>
        <p:spPr/>
        <p:txBody>
          <a:bodyPr/>
          <a:lstStyle/>
          <a:p>
            <a:fld id="{08A7B8A6-DC2C-4E66-899B-3FF6576B90A7}" type="slidenum">
              <a:rPr lang="en-US" smtClean="0"/>
              <a:t>187</a:t>
            </a:fld>
            <a:endParaRPr lang="en-US"/>
          </a:p>
        </p:txBody>
      </p:sp>
    </p:spTree>
    <p:extLst>
      <p:ext uri="{BB962C8B-B14F-4D97-AF65-F5344CB8AC3E}">
        <p14:creationId xmlns:p14="http://schemas.microsoft.com/office/powerpoint/2010/main" val="151674328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DEE732-6751-9DF3-79FE-DE960E76F87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DFFB056-9222-2E2A-1C51-C9AF6481E8C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E0D80FB-4B09-54C7-8772-E351417E1E07}"/>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23E7BE72-9B29-0882-16B0-6296CA56A522}"/>
              </a:ext>
            </a:extLst>
          </p:cNvPr>
          <p:cNvSpPr>
            <a:spLocks noGrp="1"/>
          </p:cNvSpPr>
          <p:nvPr>
            <p:ph type="sldNum" sz="quarter" idx="5"/>
          </p:nvPr>
        </p:nvSpPr>
        <p:spPr/>
        <p:txBody>
          <a:bodyPr/>
          <a:lstStyle/>
          <a:p>
            <a:fld id="{08A7B8A6-DC2C-4E66-899B-3FF6576B90A7}" type="slidenum">
              <a:rPr lang="en-US" smtClean="0"/>
              <a:t>188</a:t>
            </a:fld>
            <a:endParaRPr lang="en-US"/>
          </a:p>
        </p:txBody>
      </p:sp>
    </p:spTree>
    <p:extLst>
      <p:ext uri="{BB962C8B-B14F-4D97-AF65-F5344CB8AC3E}">
        <p14:creationId xmlns:p14="http://schemas.microsoft.com/office/powerpoint/2010/main" val="1103733127"/>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AA80F8-15B7-511E-A7C0-DAD77D1368E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F9FCFC9-B6A4-0350-5D22-3BC9A23621D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5FE247E-2EEA-55BA-3AA1-66F75C7AE3FE}"/>
              </a:ext>
            </a:extLst>
          </p:cNvPr>
          <p:cNvSpPr>
            <a:spLocks noGrp="1"/>
          </p:cNvSpPr>
          <p:nvPr>
            <p:ph type="body" idx="1"/>
          </p:nvPr>
        </p:nvSpPr>
        <p:spPr/>
        <p:txBody>
          <a:bodyPr/>
          <a:lstStyle/>
          <a:p>
            <a:r>
              <a:rPr lang="en-US">
                <a:hlinkClick r:id="rId3"/>
              </a:rPr>
              <a:t>Pod Security Standards | Kubernetes</a:t>
            </a:r>
            <a:endParaRPr lang="en-US"/>
          </a:p>
          <a:p>
            <a:endParaRPr lang="en-US"/>
          </a:p>
        </p:txBody>
      </p:sp>
      <p:sp>
        <p:nvSpPr>
          <p:cNvPr id="4" name="Slide Number Placeholder 3">
            <a:extLst>
              <a:ext uri="{FF2B5EF4-FFF2-40B4-BE49-F238E27FC236}">
                <a16:creationId xmlns:a16="http://schemas.microsoft.com/office/drawing/2014/main" id="{66E89A20-404E-99D7-CBC2-8C91CF5883EA}"/>
              </a:ext>
            </a:extLst>
          </p:cNvPr>
          <p:cNvSpPr>
            <a:spLocks noGrp="1"/>
          </p:cNvSpPr>
          <p:nvPr>
            <p:ph type="sldNum" sz="quarter" idx="5"/>
          </p:nvPr>
        </p:nvSpPr>
        <p:spPr/>
        <p:txBody>
          <a:bodyPr/>
          <a:lstStyle/>
          <a:p>
            <a:fld id="{08A7B8A6-DC2C-4E66-899B-3FF6576B90A7}" type="slidenum">
              <a:rPr lang="en-US" smtClean="0"/>
              <a:t>191</a:t>
            </a:fld>
            <a:endParaRPr lang="en-US"/>
          </a:p>
        </p:txBody>
      </p:sp>
    </p:spTree>
    <p:extLst>
      <p:ext uri="{BB962C8B-B14F-4D97-AF65-F5344CB8AC3E}">
        <p14:creationId xmlns:p14="http://schemas.microsoft.com/office/powerpoint/2010/main" val="2724328565"/>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1C9FB0-311A-8ED3-70B0-6DF0F5763BB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44C9D71-7FA7-5647-0C6D-F5E075E1856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AD30A1F-0E5A-1874-4705-14886C2EA0A5}"/>
              </a:ext>
            </a:extLst>
          </p:cNvPr>
          <p:cNvSpPr>
            <a:spLocks noGrp="1"/>
          </p:cNvSpPr>
          <p:nvPr>
            <p:ph type="body" idx="1"/>
          </p:nvPr>
        </p:nvSpPr>
        <p:spPr/>
        <p:txBody>
          <a:bodyPr/>
          <a:lstStyle/>
          <a:p>
            <a:r>
              <a:rPr lang="en-US">
                <a:hlinkClick r:id="rId3"/>
              </a:rPr>
              <a:t>Pod Security Standards | Kubernetes</a:t>
            </a:r>
            <a:endParaRPr lang="en-US"/>
          </a:p>
          <a:p>
            <a:endParaRPr lang="en-US"/>
          </a:p>
        </p:txBody>
      </p:sp>
      <p:sp>
        <p:nvSpPr>
          <p:cNvPr id="4" name="Slide Number Placeholder 3">
            <a:extLst>
              <a:ext uri="{FF2B5EF4-FFF2-40B4-BE49-F238E27FC236}">
                <a16:creationId xmlns:a16="http://schemas.microsoft.com/office/drawing/2014/main" id="{3836E833-E1A3-F5E1-CF0C-CFEF8DD21EA4}"/>
              </a:ext>
            </a:extLst>
          </p:cNvPr>
          <p:cNvSpPr>
            <a:spLocks noGrp="1"/>
          </p:cNvSpPr>
          <p:nvPr>
            <p:ph type="sldNum" sz="quarter" idx="5"/>
          </p:nvPr>
        </p:nvSpPr>
        <p:spPr/>
        <p:txBody>
          <a:bodyPr/>
          <a:lstStyle/>
          <a:p>
            <a:fld id="{08A7B8A6-DC2C-4E66-899B-3FF6576B90A7}" type="slidenum">
              <a:rPr lang="en-US" smtClean="0"/>
              <a:t>192</a:t>
            </a:fld>
            <a:endParaRPr lang="en-US"/>
          </a:p>
        </p:txBody>
      </p:sp>
    </p:spTree>
    <p:extLst>
      <p:ext uri="{BB962C8B-B14F-4D97-AF65-F5344CB8AC3E}">
        <p14:creationId xmlns:p14="http://schemas.microsoft.com/office/powerpoint/2010/main" val="4185759229"/>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6DF422-4DC4-0EA4-73CE-55572F0DCAB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F17248-8C62-69BF-3FB2-1FC31D61CF0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E018434-866B-090B-5AE4-7ABA5FDC2FC3}"/>
              </a:ext>
            </a:extLst>
          </p:cNvPr>
          <p:cNvSpPr>
            <a:spLocks noGrp="1"/>
          </p:cNvSpPr>
          <p:nvPr>
            <p:ph type="body" idx="1"/>
          </p:nvPr>
        </p:nvSpPr>
        <p:spPr/>
        <p:txBody>
          <a:bodyPr/>
          <a:lstStyle/>
          <a:p>
            <a:r>
              <a:rPr lang="en-US">
                <a:hlinkClick r:id="rId3"/>
              </a:rPr>
              <a:t>Pod Security Standards | Kubernetes</a:t>
            </a:r>
            <a:endParaRPr lang="en-US"/>
          </a:p>
          <a:p>
            <a:endParaRPr lang="en-US"/>
          </a:p>
        </p:txBody>
      </p:sp>
      <p:sp>
        <p:nvSpPr>
          <p:cNvPr id="4" name="Slide Number Placeholder 3">
            <a:extLst>
              <a:ext uri="{FF2B5EF4-FFF2-40B4-BE49-F238E27FC236}">
                <a16:creationId xmlns:a16="http://schemas.microsoft.com/office/drawing/2014/main" id="{20F685D7-4CA6-9B52-80AE-C27D88E10870}"/>
              </a:ext>
            </a:extLst>
          </p:cNvPr>
          <p:cNvSpPr>
            <a:spLocks noGrp="1"/>
          </p:cNvSpPr>
          <p:nvPr>
            <p:ph type="sldNum" sz="quarter" idx="5"/>
          </p:nvPr>
        </p:nvSpPr>
        <p:spPr/>
        <p:txBody>
          <a:bodyPr/>
          <a:lstStyle/>
          <a:p>
            <a:fld id="{08A7B8A6-DC2C-4E66-899B-3FF6576B90A7}" type="slidenum">
              <a:rPr lang="en-US" smtClean="0"/>
              <a:t>193</a:t>
            </a:fld>
            <a:endParaRPr lang="en-US"/>
          </a:p>
        </p:txBody>
      </p:sp>
    </p:spTree>
    <p:extLst>
      <p:ext uri="{BB962C8B-B14F-4D97-AF65-F5344CB8AC3E}">
        <p14:creationId xmlns:p14="http://schemas.microsoft.com/office/powerpoint/2010/main" val="3005361818"/>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2D0C66-EEB1-CEEE-A665-5CFC2665ED4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118DB52-EE97-6F5A-3BB5-0C3E9811DA2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C9BB0A7-EA8A-A8C0-978B-74F9509DEF54}"/>
              </a:ext>
            </a:extLst>
          </p:cNvPr>
          <p:cNvSpPr>
            <a:spLocks noGrp="1"/>
          </p:cNvSpPr>
          <p:nvPr>
            <p:ph type="body" idx="1"/>
          </p:nvPr>
        </p:nvSpPr>
        <p:spPr/>
        <p:txBody>
          <a:bodyPr/>
          <a:lstStyle/>
          <a:p>
            <a:r>
              <a:rPr lang="en-US">
                <a:hlinkClick r:id="rId3"/>
              </a:rPr>
              <a:t>Pod Security Standards | Kubernetes</a:t>
            </a:r>
            <a:endParaRPr lang="en-US"/>
          </a:p>
          <a:p>
            <a:endParaRPr lang="en-US"/>
          </a:p>
        </p:txBody>
      </p:sp>
      <p:sp>
        <p:nvSpPr>
          <p:cNvPr id="4" name="Slide Number Placeholder 3">
            <a:extLst>
              <a:ext uri="{FF2B5EF4-FFF2-40B4-BE49-F238E27FC236}">
                <a16:creationId xmlns:a16="http://schemas.microsoft.com/office/drawing/2014/main" id="{85E1A073-AC19-B366-3ADE-DA0605D1AAF0}"/>
              </a:ext>
            </a:extLst>
          </p:cNvPr>
          <p:cNvSpPr>
            <a:spLocks noGrp="1"/>
          </p:cNvSpPr>
          <p:nvPr>
            <p:ph type="sldNum" sz="quarter" idx="5"/>
          </p:nvPr>
        </p:nvSpPr>
        <p:spPr/>
        <p:txBody>
          <a:bodyPr/>
          <a:lstStyle/>
          <a:p>
            <a:fld id="{08A7B8A6-DC2C-4E66-899B-3FF6576B90A7}" type="slidenum">
              <a:rPr lang="en-US" smtClean="0"/>
              <a:t>194</a:t>
            </a:fld>
            <a:endParaRPr lang="en-US"/>
          </a:p>
        </p:txBody>
      </p:sp>
    </p:spTree>
    <p:extLst>
      <p:ext uri="{BB962C8B-B14F-4D97-AF65-F5344CB8AC3E}">
        <p14:creationId xmlns:p14="http://schemas.microsoft.com/office/powerpoint/2010/main" val="1351337365"/>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90B535-8DB0-2FA7-4577-D282D282A8F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263AC1-01C7-21F6-1D8C-BB34FE21123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9778B7B-BCF9-9E66-E423-11E460BD758B}"/>
              </a:ext>
            </a:extLst>
          </p:cNvPr>
          <p:cNvSpPr>
            <a:spLocks noGrp="1"/>
          </p:cNvSpPr>
          <p:nvPr>
            <p:ph type="body" idx="1"/>
          </p:nvPr>
        </p:nvSpPr>
        <p:spPr/>
        <p:txBody>
          <a:bodyPr/>
          <a:lstStyle/>
          <a:p>
            <a:r>
              <a:rPr lang="en-US">
                <a:hlinkClick r:id="rId3"/>
              </a:rPr>
              <a:t>Pod Security Standards | Kubernetes</a:t>
            </a:r>
            <a:endParaRPr lang="en-US"/>
          </a:p>
          <a:p>
            <a:endParaRPr lang="en-US"/>
          </a:p>
        </p:txBody>
      </p:sp>
      <p:sp>
        <p:nvSpPr>
          <p:cNvPr id="4" name="Slide Number Placeholder 3">
            <a:extLst>
              <a:ext uri="{FF2B5EF4-FFF2-40B4-BE49-F238E27FC236}">
                <a16:creationId xmlns:a16="http://schemas.microsoft.com/office/drawing/2014/main" id="{1CD9E465-2A57-8963-4C1E-6633455987CE}"/>
              </a:ext>
            </a:extLst>
          </p:cNvPr>
          <p:cNvSpPr>
            <a:spLocks noGrp="1"/>
          </p:cNvSpPr>
          <p:nvPr>
            <p:ph type="sldNum" sz="quarter" idx="5"/>
          </p:nvPr>
        </p:nvSpPr>
        <p:spPr/>
        <p:txBody>
          <a:bodyPr/>
          <a:lstStyle/>
          <a:p>
            <a:fld id="{08A7B8A6-DC2C-4E66-899B-3FF6576B90A7}" type="slidenum">
              <a:rPr lang="en-US" smtClean="0"/>
              <a:t>195</a:t>
            </a:fld>
            <a:endParaRPr lang="en-US"/>
          </a:p>
        </p:txBody>
      </p:sp>
    </p:spTree>
    <p:extLst>
      <p:ext uri="{BB962C8B-B14F-4D97-AF65-F5344CB8AC3E}">
        <p14:creationId xmlns:p14="http://schemas.microsoft.com/office/powerpoint/2010/main" val="118337860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57A376-8521-6577-2D07-990054A88E1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301D1AD-C5AE-D5D5-8AEB-3CF00915DA5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276218E4-0D79-BDF6-8381-F4230E4C160D}"/>
              </a:ext>
            </a:extLst>
          </p:cNvPr>
          <p:cNvSpPr>
            <a:spLocks noGrp="1"/>
          </p:cNvSpPr>
          <p:nvPr>
            <p:ph type="dt" sz="half" idx="10"/>
          </p:nvPr>
        </p:nvSpPr>
        <p:spPr/>
        <p:txBody>
          <a:bodyPr/>
          <a:lstStyle/>
          <a:p>
            <a:fld id="{B9268321-C9E7-441E-8ECB-F5B48CA38B30}" type="datetimeFigureOut">
              <a:rPr lang="en-US" smtClean="0"/>
              <a:t>10/16/2026</a:t>
            </a:fld>
            <a:endParaRPr lang="en-US"/>
          </a:p>
        </p:txBody>
      </p:sp>
      <p:sp>
        <p:nvSpPr>
          <p:cNvPr id="5" name="Footer Placeholder 4">
            <a:extLst>
              <a:ext uri="{FF2B5EF4-FFF2-40B4-BE49-F238E27FC236}">
                <a16:creationId xmlns:a16="http://schemas.microsoft.com/office/drawing/2014/main" id="{12E1445C-3C43-0979-3BC3-3C50A376433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828579E-F99E-72F7-92FC-E65D1F06D8D2}"/>
              </a:ext>
            </a:extLst>
          </p:cNvPr>
          <p:cNvSpPr>
            <a:spLocks noGrp="1"/>
          </p:cNvSpPr>
          <p:nvPr>
            <p:ph type="sldNum" sz="quarter" idx="12"/>
          </p:nvPr>
        </p:nvSpPr>
        <p:spPr/>
        <p:txBody>
          <a:bodyPr/>
          <a:lstStyle/>
          <a:p>
            <a:fld id="{54004913-403C-4409-88C9-C8B79CC53BC2}" type="slidenum">
              <a:rPr lang="en-US" smtClean="0"/>
              <a:t>‹#›</a:t>
            </a:fld>
            <a:endParaRPr lang="en-US"/>
          </a:p>
        </p:txBody>
      </p:sp>
    </p:spTree>
    <p:extLst>
      <p:ext uri="{BB962C8B-B14F-4D97-AF65-F5344CB8AC3E}">
        <p14:creationId xmlns:p14="http://schemas.microsoft.com/office/powerpoint/2010/main" val="213834273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1A3A46-966F-0889-0D6C-46EF223F724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0490CF1-7AE8-CB01-72A6-3E5EC146CE19}"/>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7C82178-CB10-3C0D-9F26-FF03AA7D10AA}"/>
              </a:ext>
            </a:extLst>
          </p:cNvPr>
          <p:cNvSpPr>
            <a:spLocks noGrp="1"/>
          </p:cNvSpPr>
          <p:nvPr>
            <p:ph type="dt" sz="half" idx="10"/>
          </p:nvPr>
        </p:nvSpPr>
        <p:spPr/>
        <p:txBody>
          <a:bodyPr/>
          <a:lstStyle/>
          <a:p>
            <a:fld id="{B9268321-C9E7-441E-8ECB-F5B48CA38B30}" type="datetimeFigureOut">
              <a:rPr lang="en-US" smtClean="0"/>
              <a:t>10/16/2026</a:t>
            </a:fld>
            <a:endParaRPr lang="en-US"/>
          </a:p>
        </p:txBody>
      </p:sp>
      <p:sp>
        <p:nvSpPr>
          <p:cNvPr id="5" name="Footer Placeholder 4">
            <a:extLst>
              <a:ext uri="{FF2B5EF4-FFF2-40B4-BE49-F238E27FC236}">
                <a16:creationId xmlns:a16="http://schemas.microsoft.com/office/drawing/2014/main" id="{F606E56D-AAF0-53B1-2EB3-2B05DB7BE55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9A8C5A6-8A41-BFE5-5181-AD86B0150CF0}"/>
              </a:ext>
            </a:extLst>
          </p:cNvPr>
          <p:cNvSpPr>
            <a:spLocks noGrp="1"/>
          </p:cNvSpPr>
          <p:nvPr>
            <p:ph type="sldNum" sz="quarter" idx="12"/>
          </p:nvPr>
        </p:nvSpPr>
        <p:spPr/>
        <p:txBody>
          <a:bodyPr/>
          <a:lstStyle/>
          <a:p>
            <a:fld id="{54004913-403C-4409-88C9-C8B79CC53BC2}" type="slidenum">
              <a:rPr lang="en-US" smtClean="0"/>
              <a:t>‹#›</a:t>
            </a:fld>
            <a:endParaRPr lang="en-US"/>
          </a:p>
        </p:txBody>
      </p:sp>
    </p:spTree>
    <p:extLst>
      <p:ext uri="{BB962C8B-B14F-4D97-AF65-F5344CB8AC3E}">
        <p14:creationId xmlns:p14="http://schemas.microsoft.com/office/powerpoint/2010/main" val="42676156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974A1F-F392-185D-224B-A830DD235EDB}"/>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7E378F9-DE95-A055-2AC6-E7157142E7D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5963784-AC7B-9035-BD5F-CA457D8DE724}"/>
              </a:ext>
            </a:extLst>
          </p:cNvPr>
          <p:cNvSpPr>
            <a:spLocks noGrp="1"/>
          </p:cNvSpPr>
          <p:nvPr>
            <p:ph type="dt" sz="half" idx="10"/>
          </p:nvPr>
        </p:nvSpPr>
        <p:spPr/>
        <p:txBody>
          <a:bodyPr/>
          <a:lstStyle/>
          <a:p>
            <a:fld id="{B9268321-C9E7-441E-8ECB-F5B48CA38B30}" type="datetimeFigureOut">
              <a:rPr lang="en-US" smtClean="0"/>
              <a:t>10/16/2026</a:t>
            </a:fld>
            <a:endParaRPr lang="en-US"/>
          </a:p>
        </p:txBody>
      </p:sp>
      <p:sp>
        <p:nvSpPr>
          <p:cNvPr id="5" name="Footer Placeholder 4">
            <a:extLst>
              <a:ext uri="{FF2B5EF4-FFF2-40B4-BE49-F238E27FC236}">
                <a16:creationId xmlns:a16="http://schemas.microsoft.com/office/drawing/2014/main" id="{A2E98C38-8659-E5D3-AA01-9DBE632E3C3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B2600AF-5C3D-1998-F8D6-2A1AD0195870}"/>
              </a:ext>
            </a:extLst>
          </p:cNvPr>
          <p:cNvSpPr>
            <a:spLocks noGrp="1"/>
          </p:cNvSpPr>
          <p:nvPr>
            <p:ph type="sldNum" sz="quarter" idx="12"/>
          </p:nvPr>
        </p:nvSpPr>
        <p:spPr/>
        <p:txBody>
          <a:bodyPr/>
          <a:lstStyle/>
          <a:p>
            <a:fld id="{54004913-403C-4409-88C9-C8B79CC53BC2}" type="slidenum">
              <a:rPr lang="en-US" smtClean="0"/>
              <a:t>‹#›</a:t>
            </a:fld>
            <a:endParaRPr lang="en-US"/>
          </a:p>
        </p:txBody>
      </p:sp>
    </p:spTree>
    <p:extLst>
      <p:ext uri="{BB962C8B-B14F-4D97-AF65-F5344CB8AC3E}">
        <p14:creationId xmlns:p14="http://schemas.microsoft.com/office/powerpoint/2010/main" val="336839254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10FF7E-5293-08F1-D9A1-3A1680CEECE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726F6F1-FDCC-6B3B-E060-DBA64E0B8AD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A695A3E-2804-E8CE-36A7-16F0D67A023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552C1A7-880C-CD35-6519-B44C1C001F65}"/>
              </a:ext>
            </a:extLst>
          </p:cNvPr>
          <p:cNvSpPr>
            <a:spLocks noGrp="1"/>
          </p:cNvSpPr>
          <p:nvPr>
            <p:ph type="dt" sz="half" idx="10"/>
          </p:nvPr>
        </p:nvSpPr>
        <p:spPr/>
        <p:txBody>
          <a:bodyPr/>
          <a:lstStyle/>
          <a:p>
            <a:fld id="{B9268321-C9E7-441E-8ECB-F5B48CA38B30}" type="datetimeFigureOut">
              <a:rPr lang="en-US" smtClean="0"/>
              <a:t>10/16/2026</a:t>
            </a:fld>
            <a:endParaRPr lang="en-US"/>
          </a:p>
        </p:txBody>
      </p:sp>
      <p:sp>
        <p:nvSpPr>
          <p:cNvPr id="6" name="Footer Placeholder 5">
            <a:extLst>
              <a:ext uri="{FF2B5EF4-FFF2-40B4-BE49-F238E27FC236}">
                <a16:creationId xmlns:a16="http://schemas.microsoft.com/office/drawing/2014/main" id="{1787389A-7BA7-00F2-9F0C-3FF625C3766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BE9FFEB-E07F-475A-DC43-D784B049344A}"/>
              </a:ext>
            </a:extLst>
          </p:cNvPr>
          <p:cNvSpPr>
            <a:spLocks noGrp="1"/>
          </p:cNvSpPr>
          <p:nvPr>
            <p:ph type="sldNum" sz="quarter" idx="12"/>
          </p:nvPr>
        </p:nvSpPr>
        <p:spPr/>
        <p:txBody>
          <a:bodyPr/>
          <a:lstStyle/>
          <a:p>
            <a:fld id="{54004913-403C-4409-88C9-C8B79CC53BC2}" type="slidenum">
              <a:rPr lang="en-US" smtClean="0"/>
              <a:t>‹#›</a:t>
            </a:fld>
            <a:endParaRPr lang="en-US"/>
          </a:p>
        </p:txBody>
      </p:sp>
    </p:spTree>
    <p:extLst>
      <p:ext uri="{BB962C8B-B14F-4D97-AF65-F5344CB8AC3E}">
        <p14:creationId xmlns:p14="http://schemas.microsoft.com/office/powerpoint/2010/main" val="345960207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C5AF15-66DF-0200-BF84-20E7FCAE16A7}"/>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731C9DF7-FFE2-ACA5-598F-2E8D05F0246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781AC6B-6EB4-8880-6CF2-B757060F0621}"/>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8F57C6A-70C4-5D49-7AA6-6162923068E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22BEDBF-9DCC-3C70-9011-CC3E8927C1E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CA2DCA26-C658-60E2-1424-45272CAB1A0C}"/>
              </a:ext>
            </a:extLst>
          </p:cNvPr>
          <p:cNvSpPr>
            <a:spLocks noGrp="1"/>
          </p:cNvSpPr>
          <p:nvPr>
            <p:ph type="dt" sz="half" idx="10"/>
          </p:nvPr>
        </p:nvSpPr>
        <p:spPr/>
        <p:txBody>
          <a:bodyPr/>
          <a:lstStyle/>
          <a:p>
            <a:fld id="{B9268321-C9E7-441E-8ECB-F5B48CA38B30}" type="datetimeFigureOut">
              <a:rPr lang="en-US" smtClean="0"/>
              <a:t>10/16/2026</a:t>
            </a:fld>
            <a:endParaRPr lang="en-US"/>
          </a:p>
        </p:txBody>
      </p:sp>
      <p:sp>
        <p:nvSpPr>
          <p:cNvPr id="8" name="Footer Placeholder 7">
            <a:extLst>
              <a:ext uri="{FF2B5EF4-FFF2-40B4-BE49-F238E27FC236}">
                <a16:creationId xmlns:a16="http://schemas.microsoft.com/office/drawing/2014/main" id="{EDDD7996-8661-7137-DBB1-48A6E8A73D10}"/>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4E27E70-8897-E13C-10F1-24FFB6B1B6F5}"/>
              </a:ext>
            </a:extLst>
          </p:cNvPr>
          <p:cNvSpPr>
            <a:spLocks noGrp="1"/>
          </p:cNvSpPr>
          <p:nvPr>
            <p:ph type="sldNum" sz="quarter" idx="12"/>
          </p:nvPr>
        </p:nvSpPr>
        <p:spPr/>
        <p:txBody>
          <a:bodyPr/>
          <a:lstStyle/>
          <a:p>
            <a:fld id="{54004913-403C-4409-88C9-C8B79CC53BC2}" type="slidenum">
              <a:rPr lang="en-US" smtClean="0"/>
              <a:t>‹#›</a:t>
            </a:fld>
            <a:endParaRPr lang="en-US"/>
          </a:p>
        </p:txBody>
      </p:sp>
    </p:spTree>
    <p:extLst>
      <p:ext uri="{BB962C8B-B14F-4D97-AF65-F5344CB8AC3E}">
        <p14:creationId xmlns:p14="http://schemas.microsoft.com/office/powerpoint/2010/main" val="390271464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3E71C0-5D8F-1D28-606D-4024F95F392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E450D43-A793-90E4-6A35-09A203BFF80D}"/>
              </a:ext>
            </a:extLst>
          </p:cNvPr>
          <p:cNvSpPr>
            <a:spLocks noGrp="1"/>
          </p:cNvSpPr>
          <p:nvPr>
            <p:ph type="dt" sz="half" idx="10"/>
          </p:nvPr>
        </p:nvSpPr>
        <p:spPr/>
        <p:txBody>
          <a:bodyPr/>
          <a:lstStyle/>
          <a:p>
            <a:fld id="{B9268321-C9E7-441E-8ECB-F5B48CA38B30}" type="datetimeFigureOut">
              <a:rPr lang="en-US" smtClean="0"/>
              <a:t>10/16/2026</a:t>
            </a:fld>
            <a:endParaRPr lang="en-US"/>
          </a:p>
        </p:txBody>
      </p:sp>
      <p:sp>
        <p:nvSpPr>
          <p:cNvPr id="4" name="Footer Placeholder 3">
            <a:extLst>
              <a:ext uri="{FF2B5EF4-FFF2-40B4-BE49-F238E27FC236}">
                <a16:creationId xmlns:a16="http://schemas.microsoft.com/office/drawing/2014/main" id="{63D43902-4D2D-7893-9F50-76AD33027394}"/>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C60BBF6F-A580-C66C-7FD8-0CD657578728}"/>
              </a:ext>
            </a:extLst>
          </p:cNvPr>
          <p:cNvSpPr>
            <a:spLocks noGrp="1"/>
          </p:cNvSpPr>
          <p:nvPr>
            <p:ph type="sldNum" sz="quarter" idx="12"/>
          </p:nvPr>
        </p:nvSpPr>
        <p:spPr/>
        <p:txBody>
          <a:bodyPr/>
          <a:lstStyle/>
          <a:p>
            <a:fld id="{54004913-403C-4409-88C9-C8B79CC53BC2}" type="slidenum">
              <a:rPr lang="en-US" smtClean="0"/>
              <a:t>‹#›</a:t>
            </a:fld>
            <a:endParaRPr lang="en-US"/>
          </a:p>
        </p:txBody>
      </p:sp>
    </p:spTree>
    <p:extLst>
      <p:ext uri="{BB962C8B-B14F-4D97-AF65-F5344CB8AC3E}">
        <p14:creationId xmlns:p14="http://schemas.microsoft.com/office/powerpoint/2010/main" val="421149619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D9A4C65-793A-0452-3B22-EF9BAA6ABE5F}"/>
              </a:ext>
            </a:extLst>
          </p:cNvPr>
          <p:cNvSpPr>
            <a:spLocks noGrp="1"/>
          </p:cNvSpPr>
          <p:nvPr>
            <p:ph type="dt" sz="half" idx="10"/>
          </p:nvPr>
        </p:nvSpPr>
        <p:spPr/>
        <p:txBody>
          <a:bodyPr/>
          <a:lstStyle/>
          <a:p>
            <a:fld id="{B9268321-C9E7-441E-8ECB-F5B48CA38B30}" type="datetimeFigureOut">
              <a:rPr lang="en-US" smtClean="0"/>
              <a:t>10/16/2026</a:t>
            </a:fld>
            <a:endParaRPr lang="en-US"/>
          </a:p>
        </p:txBody>
      </p:sp>
      <p:sp>
        <p:nvSpPr>
          <p:cNvPr id="3" name="Footer Placeholder 2">
            <a:extLst>
              <a:ext uri="{FF2B5EF4-FFF2-40B4-BE49-F238E27FC236}">
                <a16:creationId xmlns:a16="http://schemas.microsoft.com/office/drawing/2014/main" id="{21B1979F-ACA8-3AB5-9C5B-FFA463C1DF61}"/>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1B4F9D8-209E-4082-0939-7461D157A06B}"/>
              </a:ext>
            </a:extLst>
          </p:cNvPr>
          <p:cNvSpPr>
            <a:spLocks noGrp="1"/>
          </p:cNvSpPr>
          <p:nvPr>
            <p:ph type="sldNum" sz="quarter" idx="12"/>
          </p:nvPr>
        </p:nvSpPr>
        <p:spPr/>
        <p:txBody>
          <a:bodyPr/>
          <a:lstStyle/>
          <a:p>
            <a:fld id="{54004913-403C-4409-88C9-C8B79CC53BC2}" type="slidenum">
              <a:rPr lang="en-US" smtClean="0"/>
              <a:t>‹#›</a:t>
            </a:fld>
            <a:endParaRPr lang="en-US"/>
          </a:p>
        </p:txBody>
      </p:sp>
    </p:spTree>
    <p:extLst>
      <p:ext uri="{BB962C8B-B14F-4D97-AF65-F5344CB8AC3E}">
        <p14:creationId xmlns:p14="http://schemas.microsoft.com/office/powerpoint/2010/main" val="336684440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190A0C-21B5-5B1E-1A71-72C64E1C551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A010992-4A91-CA9A-6790-69C97B74CF3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D7D8F628-8009-4622-AD04-87974ADF901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509F7B8-21E1-FDBD-DF34-35B77CC99023}"/>
              </a:ext>
            </a:extLst>
          </p:cNvPr>
          <p:cNvSpPr>
            <a:spLocks noGrp="1"/>
          </p:cNvSpPr>
          <p:nvPr>
            <p:ph type="dt" sz="half" idx="10"/>
          </p:nvPr>
        </p:nvSpPr>
        <p:spPr/>
        <p:txBody>
          <a:bodyPr/>
          <a:lstStyle/>
          <a:p>
            <a:fld id="{B9268321-C9E7-441E-8ECB-F5B48CA38B30}" type="datetimeFigureOut">
              <a:rPr lang="en-US" smtClean="0"/>
              <a:t>10/16/2026</a:t>
            </a:fld>
            <a:endParaRPr lang="en-US"/>
          </a:p>
        </p:txBody>
      </p:sp>
      <p:sp>
        <p:nvSpPr>
          <p:cNvPr id="6" name="Footer Placeholder 5">
            <a:extLst>
              <a:ext uri="{FF2B5EF4-FFF2-40B4-BE49-F238E27FC236}">
                <a16:creationId xmlns:a16="http://schemas.microsoft.com/office/drawing/2014/main" id="{DF8FEC55-0B6B-4ADF-137A-EDE9BBC3C86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C617AA9-A09D-95A1-845A-002841584FDB}"/>
              </a:ext>
            </a:extLst>
          </p:cNvPr>
          <p:cNvSpPr>
            <a:spLocks noGrp="1"/>
          </p:cNvSpPr>
          <p:nvPr>
            <p:ph type="sldNum" sz="quarter" idx="12"/>
          </p:nvPr>
        </p:nvSpPr>
        <p:spPr/>
        <p:txBody>
          <a:bodyPr/>
          <a:lstStyle/>
          <a:p>
            <a:fld id="{54004913-403C-4409-88C9-C8B79CC53BC2}" type="slidenum">
              <a:rPr lang="en-US" smtClean="0"/>
              <a:t>‹#›</a:t>
            </a:fld>
            <a:endParaRPr lang="en-US"/>
          </a:p>
        </p:txBody>
      </p:sp>
    </p:spTree>
    <p:extLst>
      <p:ext uri="{BB962C8B-B14F-4D97-AF65-F5344CB8AC3E}">
        <p14:creationId xmlns:p14="http://schemas.microsoft.com/office/powerpoint/2010/main" val="253183004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91A1C2-1457-BA97-E02B-7478A5F753F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0C5BB29C-956B-CB9A-82C7-D1A75368EA2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E21E78F4-29DC-15C6-EB91-0CB176A9FDD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C662D2E-911E-E254-4D20-F879D0105D5A}"/>
              </a:ext>
            </a:extLst>
          </p:cNvPr>
          <p:cNvSpPr>
            <a:spLocks noGrp="1"/>
          </p:cNvSpPr>
          <p:nvPr>
            <p:ph type="dt" sz="half" idx="10"/>
          </p:nvPr>
        </p:nvSpPr>
        <p:spPr/>
        <p:txBody>
          <a:bodyPr/>
          <a:lstStyle/>
          <a:p>
            <a:fld id="{B9268321-C9E7-441E-8ECB-F5B48CA38B30}" type="datetimeFigureOut">
              <a:rPr lang="en-US" smtClean="0"/>
              <a:t>10/16/2026</a:t>
            </a:fld>
            <a:endParaRPr lang="en-US"/>
          </a:p>
        </p:txBody>
      </p:sp>
      <p:sp>
        <p:nvSpPr>
          <p:cNvPr id="6" name="Footer Placeholder 5">
            <a:extLst>
              <a:ext uri="{FF2B5EF4-FFF2-40B4-BE49-F238E27FC236}">
                <a16:creationId xmlns:a16="http://schemas.microsoft.com/office/drawing/2014/main" id="{8A272F32-771C-2443-DCDF-49353E2801B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D3AD2F7-6465-65FF-9CBC-7F6BF47056E3}"/>
              </a:ext>
            </a:extLst>
          </p:cNvPr>
          <p:cNvSpPr>
            <a:spLocks noGrp="1"/>
          </p:cNvSpPr>
          <p:nvPr>
            <p:ph type="sldNum" sz="quarter" idx="12"/>
          </p:nvPr>
        </p:nvSpPr>
        <p:spPr/>
        <p:txBody>
          <a:bodyPr/>
          <a:lstStyle/>
          <a:p>
            <a:fld id="{54004913-403C-4409-88C9-C8B79CC53BC2}" type="slidenum">
              <a:rPr lang="en-US" smtClean="0"/>
              <a:t>‹#›</a:t>
            </a:fld>
            <a:endParaRPr lang="en-US"/>
          </a:p>
        </p:txBody>
      </p:sp>
    </p:spTree>
    <p:extLst>
      <p:ext uri="{BB962C8B-B14F-4D97-AF65-F5344CB8AC3E}">
        <p14:creationId xmlns:p14="http://schemas.microsoft.com/office/powerpoint/2010/main" val="320229968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923E70-A6AC-9EA6-A861-3E9FAA9E70E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2B81546D-E49F-3CBD-23CB-6B06B2C4FFC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6C91AD8-77DA-E023-CE62-8DB5F66E06B6}"/>
              </a:ext>
            </a:extLst>
          </p:cNvPr>
          <p:cNvSpPr>
            <a:spLocks noGrp="1"/>
          </p:cNvSpPr>
          <p:nvPr>
            <p:ph type="dt" sz="half" idx="10"/>
          </p:nvPr>
        </p:nvSpPr>
        <p:spPr/>
        <p:txBody>
          <a:bodyPr/>
          <a:lstStyle/>
          <a:p>
            <a:fld id="{B9268321-C9E7-441E-8ECB-F5B48CA38B30}" type="datetimeFigureOut">
              <a:rPr lang="en-US" smtClean="0"/>
              <a:t>10/16/2026</a:t>
            </a:fld>
            <a:endParaRPr lang="en-US"/>
          </a:p>
        </p:txBody>
      </p:sp>
      <p:sp>
        <p:nvSpPr>
          <p:cNvPr id="5" name="Footer Placeholder 4">
            <a:extLst>
              <a:ext uri="{FF2B5EF4-FFF2-40B4-BE49-F238E27FC236}">
                <a16:creationId xmlns:a16="http://schemas.microsoft.com/office/drawing/2014/main" id="{3F1C62C2-A50D-B686-F94E-63E71CD7A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28FBBC1-AC3E-2F70-80F3-F31F052F84AA}"/>
              </a:ext>
            </a:extLst>
          </p:cNvPr>
          <p:cNvSpPr>
            <a:spLocks noGrp="1"/>
          </p:cNvSpPr>
          <p:nvPr>
            <p:ph type="sldNum" sz="quarter" idx="12"/>
          </p:nvPr>
        </p:nvSpPr>
        <p:spPr/>
        <p:txBody>
          <a:bodyPr/>
          <a:lstStyle/>
          <a:p>
            <a:fld id="{54004913-403C-4409-88C9-C8B79CC53BC2}" type="slidenum">
              <a:rPr lang="en-US" smtClean="0"/>
              <a:t>‹#›</a:t>
            </a:fld>
            <a:endParaRPr lang="en-US"/>
          </a:p>
        </p:txBody>
      </p:sp>
    </p:spTree>
    <p:extLst>
      <p:ext uri="{BB962C8B-B14F-4D97-AF65-F5344CB8AC3E}">
        <p14:creationId xmlns:p14="http://schemas.microsoft.com/office/powerpoint/2010/main" val="20936650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2998C326-4850-1342-F77B-8A9CFA2B50E9}"/>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D017BE1D-65FF-135C-6662-09A7BCF03C14}"/>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EE94B37-9ED6-9087-1C2A-E654A453F1BD}"/>
              </a:ext>
            </a:extLst>
          </p:cNvPr>
          <p:cNvSpPr>
            <a:spLocks noGrp="1"/>
          </p:cNvSpPr>
          <p:nvPr>
            <p:ph type="dt" sz="half" idx="10"/>
          </p:nvPr>
        </p:nvSpPr>
        <p:spPr/>
        <p:txBody>
          <a:bodyPr/>
          <a:lstStyle/>
          <a:p>
            <a:fld id="{B9268321-C9E7-441E-8ECB-F5B48CA38B30}" type="datetimeFigureOut">
              <a:rPr lang="en-US" smtClean="0"/>
              <a:t>10/16/2026</a:t>
            </a:fld>
            <a:endParaRPr lang="en-US"/>
          </a:p>
        </p:txBody>
      </p:sp>
      <p:sp>
        <p:nvSpPr>
          <p:cNvPr id="5" name="Footer Placeholder 4">
            <a:extLst>
              <a:ext uri="{FF2B5EF4-FFF2-40B4-BE49-F238E27FC236}">
                <a16:creationId xmlns:a16="http://schemas.microsoft.com/office/drawing/2014/main" id="{B67920E9-EEE5-167B-DD70-3972F6A3C36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E742915-24C5-13A7-5B23-4A192DA2465A}"/>
              </a:ext>
            </a:extLst>
          </p:cNvPr>
          <p:cNvSpPr>
            <a:spLocks noGrp="1"/>
          </p:cNvSpPr>
          <p:nvPr>
            <p:ph type="sldNum" sz="quarter" idx="12"/>
          </p:nvPr>
        </p:nvSpPr>
        <p:spPr/>
        <p:txBody>
          <a:bodyPr/>
          <a:lstStyle/>
          <a:p>
            <a:fld id="{54004913-403C-4409-88C9-C8B79CC53BC2}" type="slidenum">
              <a:rPr lang="en-US" smtClean="0"/>
              <a:t>‹#›</a:t>
            </a:fld>
            <a:endParaRPr lang="en-US"/>
          </a:p>
        </p:txBody>
      </p:sp>
    </p:spTree>
    <p:extLst>
      <p:ext uri="{BB962C8B-B14F-4D97-AF65-F5344CB8AC3E}">
        <p14:creationId xmlns:p14="http://schemas.microsoft.com/office/powerpoint/2010/main" val="10471555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110354D-51EE-E6D6-CC86-FEEF104B174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D6925FF8-2273-6FDB-FD37-C132E518F4E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32069AE-095C-7EFB-19E6-EB283355551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B9268321-C9E7-441E-8ECB-F5B48CA38B30}" type="datetimeFigureOut">
              <a:rPr lang="en-US" smtClean="0"/>
              <a:t>10/16/2026</a:t>
            </a:fld>
            <a:endParaRPr lang="en-US"/>
          </a:p>
        </p:txBody>
      </p:sp>
      <p:sp>
        <p:nvSpPr>
          <p:cNvPr id="5" name="Footer Placeholder 4">
            <a:extLst>
              <a:ext uri="{FF2B5EF4-FFF2-40B4-BE49-F238E27FC236}">
                <a16:creationId xmlns:a16="http://schemas.microsoft.com/office/drawing/2014/main" id="{54A3A893-A31D-AEFC-084A-9F7122082C7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71753884-7504-3E14-2818-7885D953221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4004913-403C-4409-88C9-C8B79CC53BC2}" type="slidenum">
              <a:rPr lang="en-US" smtClean="0"/>
              <a:t>‹#›</a:t>
            </a:fld>
            <a:endParaRPr lang="en-US"/>
          </a:p>
        </p:txBody>
      </p:sp>
    </p:spTree>
    <p:extLst>
      <p:ext uri="{BB962C8B-B14F-4D97-AF65-F5344CB8AC3E}">
        <p14:creationId xmlns:p14="http://schemas.microsoft.com/office/powerpoint/2010/main" val="385477627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hyperlink" Target="https://learn.microsoft.com/en-us/azure/confidential-computing/confidential-node-pool-aks" TargetMode="External"/><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hyperlink" Target="https://learn.microsoft.com/en-us/azure/confidential-computing/confidential-nodes-aks-overview" TargetMode="External"/></Relationships>
</file>

<file path=ppt/slides/_rels/slide20.xml.rels><?xml version="1.0" encoding="UTF-8" standalone="yes"?>
<Relationships xmlns="http://schemas.openxmlformats.org/package/2006/relationships"><Relationship Id="rId3" Type="http://schemas.openxmlformats.org/officeDocument/2006/relationships/hyperlink" Target="https://learn.microsoft.com/en-us/azure/confidential-computing/confidential-containers" TargetMode="External"/><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hyperlink" Target="https://github.com/confidential-containers" TargetMode="External"/><Relationship Id="rId5" Type="http://schemas.openxmlformats.org/officeDocument/2006/relationships/hyperlink" Target="https://learn.microsoft.com/en-us/azure/openshift/confidential-containers-overview" TargetMode="External"/><Relationship Id="rId4" Type="http://schemas.openxmlformats.org/officeDocument/2006/relationships/hyperlink" Target="https://learn.microsoft.com/en-us/azure/container-instances/container-instances-virtual-nodes" TargetMode="External"/></Relationships>
</file>

<file path=ppt/slides/_rels/slide21.xml.rels><?xml version="1.0" encoding="UTF-8" standalone="yes"?>
<Relationships xmlns="http://schemas.openxmlformats.org/package/2006/relationships"><Relationship Id="rId3" Type="http://schemas.openxmlformats.org/officeDocument/2006/relationships/hyperlink" Target="https://techcommunity.microsoft.com/blog/azureconfidentialcomputingblog/amd-sev-snp-confidential-vm-nodes-are-now-generally-available-in-aks/3649065" TargetMode="External"/><Relationship Id="rId2" Type="http://schemas.openxmlformats.org/officeDocument/2006/relationships/hyperlink" Target="https://learn.microsoft.com/en-us/azure/confidential-computing/confidential-nodes-aks-addon" TargetMode="External"/><Relationship Id="rId1" Type="http://schemas.openxmlformats.org/officeDocument/2006/relationships/slideLayout" Target="../slideLayouts/slideLayout2.xml"/><Relationship Id="rId4" Type="http://schemas.openxmlformats.org/officeDocument/2006/relationships/hyperlink" Target="https://learn.microsoft.com/en-us/azure/confidential-computing/application-development" TargetMode="Externa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5.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0.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4.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2.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6.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2.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8.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2.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0.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2.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2.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2.xml"/></Relationships>
</file>

<file path=ppt/slides/_rels/slide163.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2.xml"/></Relationships>
</file>

<file path=ppt/slides/_rels/slide164.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2.xml"/></Relationships>
</file>

<file path=ppt/slides/_rels/slide165.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2.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7.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2.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9.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2.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7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1.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2.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4.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2.xml"/></Relationships>
</file>

<file path=ppt/slides/_rels/slide185.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2.xml"/></Relationships>
</file>

<file path=ppt/slides/_rels/slide186.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2.xml"/></Relationships>
</file>

<file path=ppt/slides/_rels/slide187.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2.xml"/></Relationships>
</file>

<file path=ppt/slides/_rels/slide188.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2.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1.xml.rels><?xml version="1.0" encoding="UTF-8" standalone="yes"?>
<Relationships xmlns="http://schemas.openxmlformats.org/package/2006/relationships"><Relationship Id="rId2" Type="http://schemas.openxmlformats.org/officeDocument/2006/relationships/notesSlide" Target="../notesSlides/notesSlide108.xml"/><Relationship Id="rId1" Type="http://schemas.openxmlformats.org/officeDocument/2006/relationships/slideLayout" Target="../slideLayouts/slideLayout2.xml"/></Relationships>
</file>

<file path=ppt/slides/_rels/slide192.xml.rels><?xml version="1.0" encoding="UTF-8" standalone="yes"?>
<Relationships xmlns="http://schemas.openxmlformats.org/package/2006/relationships"><Relationship Id="rId2" Type="http://schemas.openxmlformats.org/officeDocument/2006/relationships/notesSlide" Target="../notesSlides/notesSlide109.xml"/><Relationship Id="rId1" Type="http://schemas.openxmlformats.org/officeDocument/2006/relationships/slideLayout" Target="../slideLayouts/slideLayout2.xml"/></Relationships>
</file>

<file path=ppt/slides/_rels/slide193.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2.xml"/></Relationships>
</file>

<file path=ppt/slides/_rels/slide194.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2.xml"/></Relationships>
</file>

<file path=ppt/slides/_rels/slide195.xml.rels><?xml version="1.0" encoding="UTF-8" standalone="yes"?>
<Relationships xmlns="http://schemas.openxmlformats.org/package/2006/relationships"><Relationship Id="rId2" Type="http://schemas.openxmlformats.org/officeDocument/2006/relationships/notesSlide" Target="../notesSlides/notesSlide112.xml"/><Relationship Id="rId1" Type="http://schemas.openxmlformats.org/officeDocument/2006/relationships/slideLayout" Target="../slideLayouts/slideLayout2.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C392AE-673E-92C5-303F-25E8450BD96A}"/>
              </a:ext>
            </a:extLst>
          </p:cNvPr>
          <p:cNvSpPr>
            <a:spLocks noGrp="1"/>
          </p:cNvSpPr>
          <p:nvPr>
            <p:ph type="ctrTitle"/>
          </p:nvPr>
        </p:nvSpPr>
        <p:spPr>
          <a:xfrm>
            <a:off x="230909" y="1122363"/>
            <a:ext cx="11240655" cy="2387600"/>
          </a:xfrm>
        </p:spPr>
        <p:txBody>
          <a:bodyPr>
            <a:normAutofit/>
          </a:bodyPr>
          <a:lstStyle/>
          <a:p>
            <a:r>
              <a:rPr lang="en-US"/>
              <a:t>AKS Deep Dive Workshop</a:t>
            </a:r>
            <a:br>
              <a:rPr lang="en-US"/>
            </a:br>
            <a:r>
              <a:rPr lang="en-US"/>
              <a:t>SECURITY</a:t>
            </a:r>
          </a:p>
        </p:txBody>
      </p:sp>
      <p:sp>
        <p:nvSpPr>
          <p:cNvPr id="3" name="Subtitle 2">
            <a:extLst>
              <a:ext uri="{FF2B5EF4-FFF2-40B4-BE49-F238E27FC236}">
                <a16:creationId xmlns:a16="http://schemas.microsoft.com/office/drawing/2014/main" id="{300EBB44-02B4-0E0C-DADA-EC740183DF9D}"/>
              </a:ext>
            </a:extLst>
          </p:cNvPr>
          <p:cNvSpPr>
            <a:spLocks noGrp="1"/>
          </p:cNvSpPr>
          <p:nvPr>
            <p:ph type="subTitle" idx="1"/>
          </p:nvPr>
        </p:nvSpPr>
        <p:spPr>
          <a:xfrm>
            <a:off x="1524000" y="4257820"/>
            <a:ext cx="9144000" cy="1655762"/>
          </a:xfrm>
        </p:spPr>
        <p:txBody>
          <a:bodyPr/>
          <a:lstStyle/>
          <a:p>
            <a:r>
              <a:rPr lang="en-US"/>
              <a:t>Faik Hakan Bilgen, </a:t>
            </a:r>
          </a:p>
          <a:p>
            <a:r>
              <a:rPr lang="en-US"/>
              <a:t>Sr. CSA, Microsoft</a:t>
            </a:r>
          </a:p>
        </p:txBody>
      </p:sp>
    </p:spTree>
    <p:extLst>
      <p:ext uri="{BB962C8B-B14F-4D97-AF65-F5344CB8AC3E}">
        <p14:creationId xmlns:p14="http://schemas.microsoft.com/office/powerpoint/2010/main" val="178528387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25C7DB3-6261-13BA-CFB6-51B82A8A7061}"/>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8EA9B969-ADD1-69B6-086B-02182DCFDD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useBgFill="1">
        <p:nvSpPr>
          <p:cNvPr id="9" name="Freeform: Shape 8">
            <a:extLst>
              <a:ext uri="{FF2B5EF4-FFF2-40B4-BE49-F238E27FC236}">
                <a16:creationId xmlns:a16="http://schemas.microsoft.com/office/drawing/2014/main" id="{40BBD310-98A1-006F-FA3E-62BF8656117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14425" y="0"/>
            <a:ext cx="9963150"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solidFill>
              <a:srgbClr val="EFEFEF"/>
            </a:solidFill>
          </a:ln>
          <a:effectLst>
            <a:outerShdw blurRad="139700" sx="102000" sy="102000" algn="ctr" rotWithShape="0">
              <a:schemeClr val="bg1">
                <a:lumMod val="85000"/>
                <a:alpha val="38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1" name="Freeform: Shape 10">
            <a:extLst>
              <a:ext uri="{FF2B5EF4-FFF2-40B4-BE49-F238E27FC236}">
                <a16:creationId xmlns:a16="http://schemas.microsoft.com/office/drawing/2014/main" id="{9D7232A9-8766-5242-39EC-AD57E25F13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1664" y="0"/>
            <a:ext cx="9948672"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DD27CCCF-AE7A-25E7-BFFF-0DA25929D339}"/>
              </a:ext>
            </a:extLst>
          </p:cNvPr>
          <p:cNvSpPr>
            <a:spLocks noGrp="1"/>
          </p:cNvSpPr>
          <p:nvPr>
            <p:ph type="title"/>
          </p:nvPr>
        </p:nvSpPr>
        <p:spPr>
          <a:xfrm>
            <a:off x="1524003" y="1999615"/>
            <a:ext cx="9144000" cy="2764028"/>
          </a:xfrm>
        </p:spPr>
        <p:txBody>
          <a:bodyPr vert="horz" lIns="91440" tIns="45720" rIns="91440" bIns="45720" rtlCol="0" anchor="ctr">
            <a:normAutofit/>
          </a:bodyPr>
          <a:lstStyle/>
          <a:p>
            <a:pPr algn="ctr"/>
            <a:r>
              <a:rPr lang="en-US" sz="7200" kern="1200">
                <a:solidFill>
                  <a:schemeClr val="tx1"/>
                </a:solidFill>
                <a:latin typeface="+mj-lt"/>
                <a:ea typeface="+mj-ea"/>
                <a:cs typeface="+mj-cs"/>
              </a:rPr>
              <a:t>AKS Security</a:t>
            </a:r>
          </a:p>
        </p:txBody>
      </p:sp>
      <p:sp>
        <p:nvSpPr>
          <p:cNvPr id="13" name="Rectangle 12">
            <a:extLst>
              <a:ext uri="{FF2B5EF4-FFF2-40B4-BE49-F238E27FC236}">
                <a16:creationId xmlns:a16="http://schemas.microsoft.com/office/drawing/2014/main" id="{3443F645-2985-4A7F-5C56-219710EC8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718560" y="5524786"/>
            <a:ext cx="4754880" cy="2743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29231336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9F7CCC1-DDF1-D430-D77F-BEA60F986197}"/>
            </a:ext>
          </a:extLst>
        </p:cNvPr>
        <p:cNvGrpSpPr/>
        <p:nvPr/>
      </p:nvGrpSpPr>
      <p:grpSpPr>
        <a:xfrm>
          <a:off x="0" y="0"/>
          <a:ext cx="0" cy="0"/>
          <a:chOff x="0" y="0"/>
          <a:chExt cx="0" cy="0"/>
        </a:xfrm>
      </p:grpSpPr>
      <p:sp useBgFill="1">
        <p:nvSpPr>
          <p:cNvPr id="35" name="Rectangle 34">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Rectangle 35">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0"/>
            <a:ext cx="12191998" cy="2170031"/>
          </a:xfrm>
          <a:prstGeom prst="rect">
            <a:avLst/>
          </a:prstGeom>
          <a:gradFill>
            <a:gsLst>
              <a:gs pos="0">
                <a:srgbClr val="000000">
                  <a:alpha val="96000"/>
                </a:srgbClr>
              </a:gs>
              <a:gs pos="100000">
                <a:schemeClr val="accent1">
                  <a:lumMod val="7500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36">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082819" y="0"/>
            <a:ext cx="4097211" cy="2170661"/>
          </a:xfrm>
          <a:prstGeom prst="rect">
            <a:avLst/>
          </a:prstGeom>
          <a:gradFill>
            <a:gsLst>
              <a:gs pos="19000">
                <a:schemeClr val="accent1">
                  <a:lumMod val="50000"/>
                  <a:alpha val="68000"/>
                </a:schemeClr>
              </a:gs>
              <a:gs pos="100000">
                <a:schemeClr val="accent1">
                  <a:alpha val="48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Rectangle 37">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5010646" y="-5010043"/>
            <a:ext cx="2170709" cy="12192000"/>
          </a:xfrm>
          <a:prstGeom prst="rect">
            <a:avLst/>
          </a:prstGeom>
          <a:gradFill>
            <a:gsLst>
              <a:gs pos="23000">
                <a:schemeClr val="accent1">
                  <a:lumMod val="75000"/>
                  <a:alpha val="16000"/>
                </a:schemeClr>
              </a:gs>
              <a:gs pos="99000">
                <a:srgbClr val="000000">
                  <a:alpha val="45000"/>
                </a:srgbClr>
              </a:gs>
            </a:gsLst>
            <a:lin ang="21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EDEA5C5-A22A-EA40-987A-A5AECB44E2B1}"/>
              </a:ext>
            </a:extLst>
          </p:cNvPr>
          <p:cNvSpPr>
            <a:spLocks noGrp="1"/>
          </p:cNvSpPr>
          <p:nvPr>
            <p:ph type="title"/>
          </p:nvPr>
        </p:nvSpPr>
        <p:spPr>
          <a:xfrm>
            <a:off x="1383564" y="348865"/>
            <a:ext cx="9718111" cy="1576446"/>
          </a:xfrm>
        </p:spPr>
        <p:txBody>
          <a:bodyPr vert="horz" lIns="91440" tIns="45720" rIns="91440" bIns="45720" rtlCol="0" anchor="ctr">
            <a:normAutofit/>
          </a:bodyPr>
          <a:lstStyle/>
          <a:p>
            <a:r>
              <a:rPr lang="en-US" sz="4000" kern="1200">
                <a:solidFill>
                  <a:srgbClr val="FFFFFF"/>
                </a:solidFill>
                <a:latin typeface="+mj-lt"/>
                <a:ea typeface="+mj-ea"/>
                <a:cs typeface="+mj-cs"/>
              </a:rPr>
              <a:t>Security Concepts</a:t>
            </a:r>
          </a:p>
        </p:txBody>
      </p:sp>
      <p:graphicFrame>
        <p:nvGraphicFramePr>
          <p:cNvPr id="39" name="TextBox 6">
            <a:extLst>
              <a:ext uri="{FF2B5EF4-FFF2-40B4-BE49-F238E27FC236}">
                <a16:creationId xmlns:a16="http://schemas.microsoft.com/office/drawing/2014/main" id="{7BFBBD4E-5D43-00AB-5ABE-B62AF857097C}"/>
              </a:ext>
            </a:extLst>
          </p:cNvPr>
          <p:cNvGraphicFramePr/>
          <p:nvPr>
            <p:extLst>
              <p:ext uri="{D42A27DB-BD31-4B8C-83A1-F6EECF244321}">
                <p14:modId xmlns:p14="http://schemas.microsoft.com/office/powerpoint/2010/main" val="2960991055"/>
              </p:ext>
            </p:extLst>
          </p:nvPr>
        </p:nvGraphicFramePr>
        <p:xfrm>
          <a:off x="644056" y="2615979"/>
          <a:ext cx="10927829" cy="368940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55630265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F494C18-6102-EDEF-9FD4-C204AAE519FF}"/>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5F0AE3C3-DB58-B1D0-0754-14F7623875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F4DA29E-6C41-84E2-453C-E7E7F4D0B48A}"/>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a:t>Security Vulnerability Management</a:t>
            </a:r>
            <a:endParaRPr lang="en-US" sz="4200" kern="1200">
              <a:solidFill>
                <a:schemeClr val="tx1"/>
              </a:solidFill>
              <a:latin typeface="+mj-lt"/>
              <a:ea typeface="+mj-ea"/>
              <a:cs typeface="+mj-cs"/>
            </a:endParaRPr>
          </a:p>
        </p:txBody>
      </p:sp>
      <p:sp>
        <p:nvSpPr>
          <p:cNvPr id="12" name="sketch line">
            <a:extLst>
              <a:ext uri="{FF2B5EF4-FFF2-40B4-BE49-F238E27FC236}">
                <a16:creationId xmlns:a16="http://schemas.microsoft.com/office/drawing/2014/main" id="{60046A3E-6244-8C90-ED2F-D98F3564724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17ED71E0-F9ED-A7B3-4BD2-4E83591DB7B2}"/>
              </a:ext>
            </a:extLst>
          </p:cNvPr>
          <p:cNvSpPr txBox="1"/>
          <p:nvPr/>
        </p:nvSpPr>
        <p:spPr>
          <a:xfrm>
            <a:off x="669036" y="2158538"/>
            <a:ext cx="10853928" cy="3855193"/>
          </a:xfrm>
          <a:prstGeom prst="rect">
            <a:avLst/>
          </a:prstGeom>
        </p:spPr>
        <p:txBody>
          <a:bodyPr vert="horz" lIns="91440" tIns="45720" rIns="91440" bIns="45720" rtlCol="0">
            <a:normAutofit/>
          </a:bodyPr>
          <a:lstStyle/>
          <a:p>
            <a:pPr marL="57150">
              <a:lnSpc>
                <a:spcPct val="90000"/>
              </a:lnSpc>
              <a:spcBef>
                <a:spcPts val="600"/>
              </a:spcBef>
              <a:spcAft>
                <a:spcPts val="1200"/>
              </a:spcAft>
            </a:pPr>
            <a:r>
              <a:rPr lang="en-US" sz="2800"/>
              <a:t>Vulnerability management involves detecting, assessing, mitigating, and reporting on any security vulnerabilities that exist in an organization's systems and software. </a:t>
            </a:r>
          </a:p>
          <a:p>
            <a:pPr marL="57150">
              <a:lnSpc>
                <a:spcPct val="90000"/>
              </a:lnSpc>
              <a:spcBef>
                <a:spcPts val="600"/>
              </a:spcBef>
              <a:spcAft>
                <a:spcPts val="1200"/>
              </a:spcAft>
            </a:pPr>
            <a:r>
              <a:rPr lang="en-US" sz="2800"/>
              <a:t>Vulnerability management is a shared responsibility between you and Microsoft.</a:t>
            </a:r>
          </a:p>
        </p:txBody>
      </p:sp>
    </p:spTree>
    <p:extLst>
      <p:ext uri="{BB962C8B-B14F-4D97-AF65-F5344CB8AC3E}">
        <p14:creationId xmlns:p14="http://schemas.microsoft.com/office/powerpoint/2010/main" val="315220312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31F3C68-030A-1FD1-E4D3-6705BDFE68B8}"/>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BD0CEAAB-44B0-4C70-36EF-FF80544442B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972CE16-0D70-BA13-5D3F-E401C4C33B88}"/>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a:t>Finding and Fixing Vulnerabilities</a:t>
            </a:r>
            <a:endParaRPr lang="en-US" sz="4200" kern="1200">
              <a:solidFill>
                <a:schemeClr val="tx1"/>
              </a:solidFill>
              <a:latin typeface="+mj-lt"/>
              <a:ea typeface="+mj-ea"/>
              <a:cs typeface="+mj-cs"/>
            </a:endParaRPr>
          </a:p>
        </p:txBody>
      </p:sp>
      <p:sp>
        <p:nvSpPr>
          <p:cNvPr id="12" name="sketch line">
            <a:extLst>
              <a:ext uri="{FF2B5EF4-FFF2-40B4-BE49-F238E27FC236}">
                <a16:creationId xmlns:a16="http://schemas.microsoft.com/office/drawing/2014/main" id="{B2950129-AFEC-31FF-73C0-1C4305858B4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5E4E4CED-DAD0-F408-F44C-EB831E4B2D81}"/>
              </a:ext>
            </a:extLst>
          </p:cNvPr>
          <p:cNvSpPr txBox="1"/>
          <p:nvPr/>
        </p:nvSpPr>
        <p:spPr>
          <a:xfrm>
            <a:off x="667512" y="2055813"/>
            <a:ext cx="10853928" cy="964499"/>
          </a:xfrm>
          <a:prstGeom prst="rect">
            <a:avLst/>
          </a:prstGeom>
        </p:spPr>
        <p:txBody>
          <a:bodyPr vert="horz" lIns="91440" tIns="45720" rIns="91440" bIns="45720" rtlCol="0">
            <a:normAutofit/>
          </a:bodyPr>
          <a:lstStyle/>
          <a:p>
            <a:pPr marL="57150">
              <a:lnSpc>
                <a:spcPct val="90000"/>
              </a:lnSpc>
              <a:spcBef>
                <a:spcPts val="600"/>
              </a:spcBef>
              <a:spcAft>
                <a:spcPts val="1200"/>
              </a:spcAft>
            </a:pPr>
            <a:r>
              <a:rPr lang="en-US" sz="2800"/>
              <a:t>Microsoft identifies and patches vulnerabilities and missing security updates for the following components:</a:t>
            </a:r>
          </a:p>
        </p:txBody>
      </p:sp>
      <p:sp>
        <p:nvSpPr>
          <p:cNvPr id="4" name="TextBox 3">
            <a:extLst>
              <a:ext uri="{FF2B5EF4-FFF2-40B4-BE49-F238E27FC236}">
                <a16:creationId xmlns:a16="http://schemas.microsoft.com/office/drawing/2014/main" id="{A30DEA1E-6B45-7C7C-7BA9-BA0C32A77EC7}"/>
              </a:ext>
            </a:extLst>
          </p:cNvPr>
          <p:cNvSpPr txBox="1"/>
          <p:nvPr/>
        </p:nvSpPr>
        <p:spPr>
          <a:xfrm>
            <a:off x="1600199" y="3379569"/>
            <a:ext cx="2694397" cy="830997"/>
          </a:xfrm>
          <a:prstGeom prst="rect">
            <a:avLst/>
          </a:prstGeom>
          <a:solidFill>
            <a:srgbClr val="EE0000"/>
          </a:solidFill>
          <a:ln w="19050">
            <a:solidFill>
              <a:srgbClr val="EE0000"/>
            </a:solidFill>
          </a:ln>
        </p:spPr>
        <p:txBody>
          <a:bodyPr wrap="square">
            <a:spAutoFit/>
          </a:bodyPr>
          <a:lstStyle/>
          <a:p>
            <a:pPr algn="ctr"/>
            <a:r>
              <a:rPr lang="en-US" sz="2400" b="1">
                <a:solidFill>
                  <a:schemeClr val="bg1"/>
                </a:solidFill>
                <a:latin typeface="Aptos" panose="020B0004020202020204" pitchFamily="34" charset="0"/>
              </a:rPr>
              <a:t>AKS Container Images</a:t>
            </a:r>
          </a:p>
        </p:txBody>
      </p:sp>
      <p:sp>
        <p:nvSpPr>
          <p:cNvPr id="7" name="TextBox 6">
            <a:extLst>
              <a:ext uri="{FF2B5EF4-FFF2-40B4-BE49-F238E27FC236}">
                <a16:creationId xmlns:a16="http://schemas.microsoft.com/office/drawing/2014/main" id="{2406FC0B-8856-70A3-E237-5BB0DEFA3DB2}"/>
              </a:ext>
            </a:extLst>
          </p:cNvPr>
          <p:cNvSpPr txBox="1"/>
          <p:nvPr/>
        </p:nvSpPr>
        <p:spPr>
          <a:xfrm>
            <a:off x="1600199" y="4756531"/>
            <a:ext cx="2694398" cy="830997"/>
          </a:xfrm>
          <a:prstGeom prst="rect">
            <a:avLst/>
          </a:prstGeom>
          <a:solidFill>
            <a:srgbClr val="0070C0"/>
          </a:solidFill>
          <a:ln w="19050">
            <a:solidFill>
              <a:schemeClr val="tx2">
                <a:lumMod val="75000"/>
                <a:lumOff val="25000"/>
              </a:schemeClr>
            </a:solidFill>
          </a:ln>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schemeClr val="bg1"/>
                </a:solidFill>
                <a:effectLst/>
                <a:uLnTx/>
                <a:uFillTx/>
                <a:latin typeface="Aptos" panose="02110004020202020204"/>
                <a:ea typeface="+mn-ea"/>
                <a:cs typeface="+mn-cs"/>
              </a:rPr>
              <a:t>Ubuntu operating system</a:t>
            </a:r>
          </a:p>
        </p:txBody>
      </p:sp>
      <p:sp>
        <p:nvSpPr>
          <p:cNvPr id="9" name="TextBox 8">
            <a:extLst>
              <a:ext uri="{FF2B5EF4-FFF2-40B4-BE49-F238E27FC236}">
                <a16:creationId xmlns:a16="http://schemas.microsoft.com/office/drawing/2014/main" id="{09B6BAE4-1EC8-F5E2-F768-3F8AEE21347D}"/>
              </a:ext>
            </a:extLst>
          </p:cNvPr>
          <p:cNvSpPr txBox="1"/>
          <p:nvPr/>
        </p:nvSpPr>
        <p:spPr>
          <a:xfrm>
            <a:off x="5124235" y="3379569"/>
            <a:ext cx="3464960" cy="830997"/>
          </a:xfrm>
          <a:prstGeom prst="rect">
            <a:avLst/>
          </a:prstGeom>
          <a:solidFill>
            <a:srgbClr val="00B050"/>
          </a:solidFill>
          <a:ln w="19050">
            <a:solidFill>
              <a:srgbClr val="00B050"/>
            </a:solidFill>
          </a:ln>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schemeClr val="bg1"/>
                </a:solidFill>
                <a:effectLst/>
                <a:uLnTx/>
                <a:uFillTx/>
                <a:latin typeface="Aptos" panose="02110004020202020204"/>
                <a:ea typeface="+mn-ea"/>
                <a:cs typeface="+mn-cs"/>
              </a:rPr>
              <a:t>Windows Server worker nodes</a:t>
            </a:r>
          </a:p>
        </p:txBody>
      </p:sp>
      <p:sp>
        <p:nvSpPr>
          <p:cNvPr id="13" name="TextBox 12">
            <a:extLst>
              <a:ext uri="{FF2B5EF4-FFF2-40B4-BE49-F238E27FC236}">
                <a16:creationId xmlns:a16="http://schemas.microsoft.com/office/drawing/2014/main" id="{45A1CC29-D387-61B4-16FA-5E941554A4DB}"/>
              </a:ext>
            </a:extLst>
          </p:cNvPr>
          <p:cNvSpPr txBox="1"/>
          <p:nvPr/>
        </p:nvSpPr>
        <p:spPr>
          <a:xfrm>
            <a:off x="5124235" y="4756531"/>
            <a:ext cx="3464961" cy="830997"/>
          </a:xfrm>
          <a:prstGeom prst="rect">
            <a:avLst/>
          </a:prstGeom>
          <a:solidFill>
            <a:schemeClr val="accent2">
              <a:lumMod val="75000"/>
            </a:schemeClr>
          </a:solidFill>
          <a:ln w="19050">
            <a:solidFill>
              <a:schemeClr val="accent2">
                <a:lumMod val="75000"/>
              </a:schemeClr>
            </a:solidFill>
          </a:ln>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schemeClr val="bg1"/>
                </a:solidFill>
                <a:effectLst/>
                <a:uLnTx/>
                <a:uFillTx/>
                <a:latin typeface="Aptos" panose="02110004020202020204"/>
                <a:ea typeface="+mn-ea"/>
                <a:cs typeface="+mn-cs"/>
              </a:rPr>
              <a:t>Azure Linux OS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schemeClr val="bg1"/>
                </a:solidFill>
                <a:effectLst/>
                <a:uLnTx/>
                <a:uFillTx/>
                <a:latin typeface="Aptos" panose="02110004020202020204"/>
                <a:ea typeface="+mn-ea"/>
                <a:cs typeface="+mn-cs"/>
              </a:rPr>
              <a:t>Nodes</a:t>
            </a:r>
          </a:p>
        </p:txBody>
      </p:sp>
    </p:spTree>
    <p:extLst>
      <p:ext uri="{BB962C8B-B14F-4D97-AF65-F5344CB8AC3E}">
        <p14:creationId xmlns:p14="http://schemas.microsoft.com/office/powerpoint/2010/main" val="151911906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1768901-A26C-2B08-0849-DF9A64C9687D}"/>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BF384604-39C9-8D22-8D78-16051AE97B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7977160-EC01-F955-D2F2-84FF18F4C10D}"/>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a:t>AKS Container Images</a:t>
            </a:r>
            <a:endParaRPr lang="en-US" sz="4200" kern="1200">
              <a:solidFill>
                <a:schemeClr val="tx1"/>
              </a:solidFill>
              <a:latin typeface="+mj-lt"/>
              <a:ea typeface="+mj-ea"/>
              <a:cs typeface="+mj-cs"/>
            </a:endParaRPr>
          </a:p>
        </p:txBody>
      </p:sp>
      <p:sp>
        <p:nvSpPr>
          <p:cNvPr id="12" name="sketch line">
            <a:extLst>
              <a:ext uri="{FF2B5EF4-FFF2-40B4-BE49-F238E27FC236}">
                <a16:creationId xmlns:a16="http://schemas.microsoft.com/office/drawing/2014/main" id="{8D42C2A0-588D-3623-7444-27B03FDE969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220A8E59-96F7-3DDE-2DE1-20C762E4FCAB}"/>
              </a:ext>
            </a:extLst>
          </p:cNvPr>
          <p:cNvSpPr txBox="1"/>
          <p:nvPr/>
        </p:nvSpPr>
        <p:spPr>
          <a:xfrm>
            <a:off x="667512" y="2158553"/>
            <a:ext cx="10853928" cy="3033375"/>
          </a:xfrm>
          <a:prstGeom prst="rect">
            <a:avLst/>
          </a:prstGeom>
        </p:spPr>
        <p:txBody>
          <a:bodyPr vert="horz" lIns="91440" tIns="45720" rIns="91440" bIns="45720" rtlCol="0">
            <a:normAutofit/>
          </a:bodyPr>
          <a:lstStyle/>
          <a:p>
            <a:pPr marL="400050" indent="-342900">
              <a:lnSpc>
                <a:spcPct val="90000"/>
              </a:lnSpc>
              <a:spcBef>
                <a:spcPts val="600"/>
              </a:spcBef>
              <a:spcAft>
                <a:spcPts val="1200"/>
              </a:spcAft>
              <a:buFont typeface="Arial" panose="020B0604020202020204" pitchFamily="34" charset="0"/>
              <a:buChar char="•"/>
            </a:pPr>
            <a:r>
              <a:rPr lang="en-US" sz="2400"/>
              <a:t>Microsoft takes responsibility for building the open-source packages that is deployed on AKS</a:t>
            </a:r>
          </a:p>
          <a:p>
            <a:pPr marL="400050" indent="-342900">
              <a:lnSpc>
                <a:spcPct val="90000"/>
              </a:lnSpc>
              <a:spcBef>
                <a:spcPts val="600"/>
              </a:spcBef>
              <a:spcAft>
                <a:spcPts val="1200"/>
              </a:spcAft>
              <a:buFont typeface="Arial" panose="020B0604020202020204" pitchFamily="34" charset="0"/>
              <a:buChar char="•"/>
            </a:pPr>
            <a:r>
              <a:rPr lang="en-US" sz="2400"/>
              <a:t>Microsoft is active in the broader Kubernetes ecosystem</a:t>
            </a:r>
          </a:p>
          <a:p>
            <a:pPr marL="400050" indent="-342900">
              <a:lnSpc>
                <a:spcPct val="90000"/>
              </a:lnSpc>
              <a:spcBef>
                <a:spcPts val="600"/>
              </a:spcBef>
              <a:spcAft>
                <a:spcPts val="1200"/>
              </a:spcAft>
              <a:buFont typeface="Arial" panose="020B0604020202020204" pitchFamily="34" charset="0"/>
              <a:buChar char="•"/>
            </a:pPr>
            <a:r>
              <a:rPr lang="en-US" sz="2400"/>
              <a:t>Microsoft scans container images</a:t>
            </a:r>
          </a:p>
          <a:p>
            <a:pPr marL="400050" indent="-342900">
              <a:lnSpc>
                <a:spcPct val="90000"/>
              </a:lnSpc>
              <a:spcBef>
                <a:spcPts val="600"/>
              </a:spcBef>
              <a:spcAft>
                <a:spcPts val="1200"/>
              </a:spcAft>
              <a:buFont typeface="Arial" panose="020B0604020202020204" pitchFamily="34" charset="0"/>
              <a:buChar char="•"/>
            </a:pPr>
            <a:r>
              <a:rPr lang="en-US" sz="2400"/>
              <a:t>Microsoft discovers and updates vulnerabilities unknown to scanners </a:t>
            </a:r>
          </a:p>
        </p:txBody>
      </p:sp>
    </p:spTree>
    <p:extLst>
      <p:ext uri="{BB962C8B-B14F-4D97-AF65-F5344CB8AC3E}">
        <p14:creationId xmlns:p14="http://schemas.microsoft.com/office/powerpoint/2010/main" val="182241073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847FF0E-EEAC-7C8F-10CE-A8E083702651}"/>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4037F8D9-6CAC-D3AD-82D4-692D3240668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54E0E7A-16D3-A6D5-C8D4-AAEE6EE50A75}"/>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dirty="0"/>
              <a:t>Security Vulnerability Management</a:t>
            </a:r>
            <a:endParaRPr lang="en-US" sz="4200" kern="1200" dirty="0">
              <a:solidFill>
                <a:schemeClr val="tx1"/>
              </a:solidFill>
              <a:latin typeface="+mj-lt"/>
              <a:ea typeface="+mj-ea"/>
              <a:cs typeface="+mj-cs"/>
            </a:endParaRPr>
          </a:p>
        </p:txBody>
      </p:sp>
      <p:sp>
        <p:nvSpPr>
          <p:cNvPr id="12" name="sketch line">
            <a:extLst>
              <a:ext uri="{FF2B5EF4-FFF2-40B4-BE49-F238E27FC236}">
                <a16:creationId xmlns:a16="http://schemas.microsoft.com/office/drawing/2014/main" id="{8C86BFAE-B1A0-0C5F-7BDD-131391BC8D3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FC4E5C80-BA1D-D222-4F69-832DA4EB7CE1}"/>
              </a:ext>
            </a:extLst>
          </p:cNvPr>
          <p:cNvSpPr txBox="1"/>
          <p:nvPr/>
        </p:nvSpPr>
        <p:spPr>
          <a:xfrm>
            <a:off x="4240504" y="2756901"/>
            <a:ext cx="2486654" cy="608483"/>
          </a:xfrm>
          <a:prstGeom prst="rect">
            <a:avLst/>
          </a:prstGeom>
        </p:spPr>
        <p:txBody>
          <a:bodyPr vert="horz" lIns="91440" tIns="45720" rIns="91440" bIns="45720" rtlCol="0">
            <a:normAutofit fontScale="92500"/>
          </a:bodyPr>
          <a:lstStyle/>
          <a:p>
            <a:pPr marL="57150">
              <a:lnSpc>
                <a:spcPct val="90000"/>
              </a:lnSpc>
              <a:spcBef>
                <a:spcPts val="600"/>
              </a:spcBef>
              <a:spcAft>
                <a:spcPts val="1200"/>
              </a:spcAft>
            </a:pPr>
            <a:r>
              <a:rPr lang="en-US" sz="2800" b="1"/>
              <a:t>Worker Nodes</a:t>
            </a:r>
          </a:p>
        </p:txBody>
      </p:sp>
      <p:sp>
        <p:nvSpPr>
          <p:cNvPr id="3" name="TextBox 2">
            <a:extLst>
              <a:ext uri="{FF2B5EF4-FFF2-40B4-BE49-F238E27FC236}">
                <a16:creationId xmlns:a16="http://schemas.microsoft.com/office/drawing/2014/main" id="{42A6C5A9-AEB7-A74E-BEC2-F4823054DC5B}"/>
              </a:ext>
            </a:extLst>
          </p:cNvPr>
          <p:cNvSpPr txBox="1"/>
          <p:nvPr/>
        </p:nvSpPr>
        <p:spPr>
          <a:xfrm>
            <a:off x="1094499" y="3902316"/>
            <a:ext cx="3898552" cy="646331"/>
          </a:xfrm>
          <a:prstGeom prst="rect">
            <a:avLst/>
          </a:prstGeom>
          <a:solidFill>
            <a:srgbClr val="0070C0"/>
          </a:solidFill>
          <a:ln w="19050">
            <a:solidFill>
              <a:schemeClr val="tx2">
                <a:lumMod val="75000"/>
                <a:lumOff val="25000"/>
              </a:schemeClr>
            </a:solidFill>
          </a:ln>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600" b="1" i="0" u="none" strike="noStrike" kern="1200" cap="none" spc="0" normalizeH="0" baseline="0" noProof="0">
                <a:ln>
                  <a:noFill/>
                </a:ln>
                <a:solidFill>
                  <a:schemeClr val="bg1"/>
                </a:solidFill>
                <a:effectLst/>
                <a:uLnTx/>
                <a:uFillTx/>
                <a:latin typeface="Aptos" panose="02110004020202020204"/>
                <a:ea typeface="+mn-ea"/>
                <a:cs typeface="+mn-cs"/>
              </a:rPr>
              <a:t>Linux Nodes</a:t>
            </a:r>
          </a:p>
        </p:txBody>
      </p:sp>
      <p:sp>
        <p:nvSpPr>
          <p:cNvPr id="4" name="TextBox 3">
            <a:extLst>
              <a:ext uri="{FF2B5EF4-FFF2-40B4-BE49-F238E27FC236}">
                <a16:creationId xmlns:a16="http://schemas.microsoft.com/office/drawing/2014/main" id="{104A1DFD-1F8E-4CFE-0A01-340529AB97AF}"/>
              </a:ext>
            </a:extLst>
          </p:cNvPr>
          <p:cNvSpPr txBox="1"/>
          <p:nvPr/>
        </p:nvSpPr>
        <p:spPr>
          <a:xfrm>
            <a:off x="6084014" y="3902316"/>
            <a:ext cx="5013487" cy="646331"/>
          </a:xfrm>
          <a:prstGeom prst="rect">
            <a:avLst/>
          </a:prstGeom>
          <a:solidFill>
            <a:srgbClr val="00B050"/>
          </a:solidFill>
          <a:ln w="19050">
            <a:solidFill>
              <a:srgbClr val="00B050"/>
            </a:solidFill>
          </a:ln>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600" b="1" i="0" u="none" strike="noStrike" kern="1200" cap="none" spc="0" normalizeH="0" baseline="0" noProof="0">
                <a:ln>
                  <a:noFill/>
                </a:ln>
                <a:solidFill>
                  <a:schemeClr val="bg1"/>
                </a:solidFill>
                <a:effectLst/>
                <a:uLnTx/>
                <a:uFillTx/>
                <a:latin typeface="Aptos" panose="02110004020202020204"/>
                <a:ea typeface="+mn-ea"/>
                <a:cs typeface="+mn-cs"/>
              </a:rPr>
              <a:t>Windows Server Nodes</a:t>
            </a:r>
          </a:p>
        </p:txBody>
      </p:sp>
    </p:spTree>
    <p:extLst>
      <p:ext uri="{BB962C8B-B14F-4D97-AF65-F5344CB8AC3E}">
        <p14:creationId xmlns:p14="http://schemas.microsoft.com/office/powerpoint/2010/main" val="210630508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3F5E499-DA95-C3F1-3A01-A300B347BF67}"/>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CCD88B3A-721D-2F7A-0018-B6024ED5732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0387AF1-CF2E-500F-EC9E-BF681454B00C}"/>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a:t>Vulnerability Classification</a:t>
            </a:r>
            <a:endParaRPr lang="en-US" sz="4200" kern="1200">
              <a:solidFill>
                <a:schemeClr val="tx1"/>
              </a:solidFill>
              <a:latin typeface="+mj-lt"/>
              <a:ea typeface="+mj-ea"/>
              <a:cs typeface="+mj-cs"/>
            </a:endParaRPr>
          </a:p>
        </p:txBody>
      </p:sp>
      <p:sp>
        <p:nvSpPr>
          <p:cNvPr id="12" name="sketch line">
            <a:extLst>
              <a:ext uri="{FF2B5EF4-FFF2-40B4-BE49-F238E27FC236}">
                <a16:creationId xmlns:a16="http://schemas.microsoft.com/office/drawing/2014/main" id="{7DB51671-90DB-0432-0563-BD2B6CB2918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6" name="Table 5">
            <a:extLst>
              <a:ext uri="{FF2B5EF4-FFF2-40B4-BE49-F238E27FC236}">
                <a16:creationId xmlns:a16="http://schemas.microsoft.com/office/drawing/2014/main" id="{97A21CD0-5B97-4B24-3B96-CFDAEF46DD5B}"/>
              </a:ext>
            </a:extLst>
          </p:cNvPr>
          <p:cNvGraphicFramePr>
            <a:graphicFrameLocks noGrp="1"/>
          </p:cNvGraphicFramePr>
          <p:nvPr>
            <p:extLst>
              <p:ext uri="{D42A27DB-BD31-4B8C-83A1-F6EECF244321}">
                <p14:modId xmlns:p14="http://schemas.microsoft.com/office/powerpoint/2010/main" val="2498633832"/>
              </p:ext>
            </p:extLst>
          </p:nvPr>
        </p:nvGraphicFramePr>
        <p:xfrm>
          <a:off x="468329" y="2372982"/>
          <a:ext cx="11326403" cy="2443030"/>
        </p:xfrm>
        <a:graphic>
          <a:graphicData uri="http://schemas.openxmlformats.org/drawingml/2006/table">
            <a:tbl>
              <a:tblPr/>
              <a:tblGrid>
                <a:gridCol w="1000875">
                  <a:extLst>
                    <a:ext uri="{9D8B030D-6E8A-4147-A177-3AD203B41FA5}">
                      <a16:colId xmlns:a16="http://schemas.microsoft.com/office/drawing/2014/main" val="2105486670"/>
                    </a:ext>
                  </a:extLst>
                </a:gridCol>
                <a:gridCol w="10325528">
                  <a:extLst>
                    <a:ext uri="{9D8B030D-6E8A-4147-A177-3AD203B41FA5}">
                      <a16:colId xmlns:a16="http://schemas.microsoft.com/office/drawing/2014/main" val="3402482581"/>
                    </a:ext>
                  </a:extLst>
                </a:gridCol>
              </a:tblGrid>
              <a:tr h="198778">
                <a:tc>
                  <a:txBody>
                    <a:bodyPr/>
                    <a:lstStyle/>
                    <a:p>
                      <a:pPr algn="l" fontAlgn="t">
                        <a:buNone/>
                      </a:pPr>
                      <a:r>
                        <a:rPr lang="en-US" sz="1800" b="1">
                          <a:effectLst/>
                        </a:rPr>
                        <a:t>Severity</a:t>
                      </a:r>
                    </a:p>
                  </a:txBody>
                  <a:tcPr marL="49694" marR="49694" marT="24847" marB="24847">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800" b="1">
                          <a:effectLst/>
                        </a:rPr>
                        <a:t>Description</a:t>
                      </a:r>
                    </a:p>
                  </a:txBody>
                  <a:tcPr marL="49694" marR="49694" marT="24847" marB="24847">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2595859626"/>
                  </a:ext>
                </a:extLst>
              </a:tr>
              <a:tr h="347861">
                <a:tc>
                  <a:txBody>
                    <a:bodyPr/>
                    <a:lstStyle/>
                    <a:p>
                      <a:pPr algn="l" fontAlgn="t">
                        <a:buNone/>
                      </a:pPr>
                      <a:r>
                        <a:rPr lang="en-US" sz="1800">
                          <a:effectLst/>
                        </a:rPr>
                        <a:t>Critical</a:t>
                      </a:r>
                    </a:p>
                  </a:txBody>
                  <a:tcPr marL="49694" marR="49694" marT="24847" marB="24847">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800">
                          <a:effectLst/>
                        </a:rPr>
                        <a:t>A vulnerability easily exploitable in all clusters by an unauthenticated remote attacker that leads to full system compromise.</a:t>
                      </a:r>
                    </a:p>
                  </a:txBody>
                  <a:tcPr marL="49694" marR="49694" marT="24847" marB="24847">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4199883463"/>
                  </a:ext>
                </a:extLst>
              </a:tr>
              <a:tr h="347861">
                <a:tc>
                  <a:txBody>
                    <a:bodyPr/>
                    <a:lstStyle/>
                    <a:p>
                      <a:pPr algn="l" fontAlgn="t">
                        <a:buNone/>
                      </a:pPr>
                      <a:r>
                        <a:rPr lang="en-US" sz="1800">
                          <a:effectLst/>
                        </a:rPr>
                        <a:t>High</a:t>
                      </a:r>
                    </a:p>
                  </a:txBody>
                  <a:tcPr marL="49694" marR="49694" marT="24847" marB="24847">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800">
                          <a:effectLst/>
                        </a:rPr>
                        <a:t>A vulnerability easily exploitable for many clusters that leads to loss of confidentiality, integrity, or availability.</a:t>
                      </a:r>
                    </a:p>
                  </a:txBody>
                  <a:tcPr marL="49694" marR="49694" marT="24847" marB="24847">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4269763969"/>
                  </a:ext>
                </a:extLst>
              </a:tr>
              <a:tr h="496944">
                <a:tc>
                  <a:txBody>
                    <a:bodyPr/>
                    <a:lstStyle/>
                    <a:p>
                      <a:pPr algn="l" fontAlgn="t">
                        <a:buNone/>
                      </a:pPr>
                      <a:r>
                        <a:rPr lang="en-US" sz="1800">
                          <a:effectLst/>
                        </a:rPr>
                        <a:t>Medium</a:t>
                      </a:r>
                    </a:p>
                  </a:txBody>
                  <a:tcPr marL="49694" marR="49694" marT="24847" marB="24847">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800">
                          <a:effectLst/>
                        </a:rPr>
                        <a:t>A vulnerability exploitable for some clusters where loss of confidentiality, integrity, or availability is limited by common configurations, difficulty of the exploit itself, required access, or user interaction.</a:t>
                      </a:r>
                    </a:p>
                  </a:txBody>
                  <a:tcPr marL="49694" marR="49694" marT="24847" marB="24847">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272702680"/>
                  </a:ext>
                </a:extLst>
              </a:tr>
              <a:tr h="198778">
                <a:tc>
                  <a:txBody>
                    <a:bodyPr/>
                    <a:lstStyle/>
                    <a:p>
                      <a:pPr algn="l" fontAlgn="t">
                        <a:buNone/>
                      </a:pPr>
                      <a:r>
                        <a:rPr lang="en-US" sz="1800">
                          <a:effectLst/>
                        </a:rPr>
                        <a:t>Low</a:t>
                      </a:r>
                    </a:p>
                  </a:txBody>
                  <a:tcPr marL="49694" marR="49694" marT="24847" marB="24847">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800">
                          <a:effectLst/>
                        </a:rPr>
                        <a:t>All other vulnerabilities. Exploitation is unlikely or consequences of exploitation are limited.</a:t>
                      </a:r>
                    </a:p>
                  </a:txBody>
                  <a:tcPr marL="49694" marR="49694" marT="24847" marB="24847">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2928508942"/>
                  </a:ext>
                </a:extLst>
              </a:tr>
            </a:tbl>
          </a:graphicData>
        </a:graphic>
      </p:graphicFrame>
      <p:sp>
        <p:nvSpPr>
          <p:cNvPr id="8" name="TextBox 7">
            <a:extLst>
              <a:ext uri="{FF2B5EF4-FFF2-40B4-BE49-F238E27FC236}">
                <a16:creationId xmlns:a16="http://schemas.microsoft.com/office/drawing/2014/main" id="{FF91DC5C-C5D5-BD5E-4BBC-286D6342B4A8}"/>
              </a:ext>
            </a:extLst>
          </p:cNvPr>
          <p:cNvSpPr txBox="1"/>
          <p:nvPr/>
        </p:nvSpPr>
        <p:spPr>
          <a:xfrm>
            <a:off x="387850" y="4995961"/>
            <a:ext cx="4256069" cy="338554"/>
          </a:xfrm>
          <a:prstGeom prst="rect">
            <a:avLst/>
          </a:prstGeom>
          <a:noFill/>
        </p:spPr>
        <p:txBody>
          <a:bodyPr wrap="square">
            <a:spAutoFit/>
          </a:bodyPr>
          <a:lstStyle/>
          <a:p>
            <a:r>
              <a:rPr lang="en-US" sz="1600" b="1"/>
              <a:t>Kubernetes vulnerability scoring system</a:t>
            </a:r>
          </a:p>
        </p:txBody>
      </p:sp>
    </p:spTree>
    <p:extLst>
      <p:ext uri="{BB962C8B-B14F-4D97-AF65-F5344CB8AC3E}">
        <p14:creationId xmlns:p14="http://schemas.microsoft.com/office/powerpoint/2010/main" val="240161987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39C2DA5-5308-3F24-CA60-094300E7A3E6}"/>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68A9BB4-F7AD-0E04-392D-7112EBFC24D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94E9542-BF3F-DF78-2791-CEDBC2A37EA6}"/>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a:t>Security Baseline</a:t>
            </a:r>
            <a:endParaRPr lang="en-US" sz="4200" kern="1200">
              <a:solidFill>
                <a:schemeClr val="tx1"/>
              </a:solidFill>
              <a:latin typeface="+mj-lt"/>
              <a:ea typeface="+mj-ea"/>
              <a:cs typeface="+mj-cs"/>
            </a:endParaRPr>
          </a:p>
        </p:txBody>
      </p:sp>
      <p:sp>
        <p:nvSpPr>
          <p:cNvPr id="12" name="sketch line">
            <a:extLst>
              <a:ext uri="{FF2B5EF4-FFF2-40B4-BE49-F238E27FC236}">
                <a16:creationId xmlns:a16="http://schemas.microsoft.com/office/drawing/2014/main" id="{79363150-8280-6536-B37A-ACFC2866301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99C5C387-43C8-C692-F176-13A97168ADF8}"/>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337701179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EFF0838-3C71-0400-7685-F824BA8C9D59}"/>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9080EE80-57F4-7C1E-81A7-1C6CD47BB5F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2791EDF-7A9B-3518-693A-3568EA0FD4A8}"/>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a:t>Confidential Containers Security Policy</a:t>
            </a:r>
            <a:endParaRPr lang="en-US" sz="4200" kern="1200">
              <a:solidFill>
                <a:schemeClr val="tx1"/>
              </a:solidFill>
              <a:latin typeface="+mj-lt"/>
              <a:ea typeface="+mj-ea"/>
              <a:cs typeface="+mj-cs"/>
            </a:endParaRPr>
          </a:p>
        </p:txBody>
      </p:sp>
      <p:sp>
        <p:nvSpPr>
          <p:cNvPr id="12" name="sketch line">
            <a:extLst>
              <a:ext uri="{FF2B5EF4-FFF2-40B4-BE49-F238E27FC236}">
                <a16:creationId xmlns:a16="http://schemas.microsoft.com/office/drawing/2014/main" id="{499C5107-3220-561C-FE99-7DB05D51F5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74A8A39B-C58C-D237-D3EA-B5F38785D384}"/>
              </a:ext>
            </a:extLst>
          </p:cNvPr>
          <p:cNvSpPr txBox="1"/>
          <p:nvPr/>
        </p:nvSpPr>
        <p:spPr>
          <a:xfrm>
            <a:off x="277402" y="1929282"/>
            <a:ext cx="11414726" cy="4656453"/>
          </a:xfrm>
          <a:prstGeom prst="rect">
            <a:avLst/>
          </a:prstGeom>
        </p:spPr>
        <p:txBody>
          <a:bodyPr vert="horz" lIns="91440" tIns="45720" rIns="91440" bIns="45720" rtlCol="0">
            <a:normAutofit/>
          </a:bodyPr>
          <a:lstStyle/>
          <a:p>
            <a:pPr marL="57150"/>
            <a:r>
              <a:rPr lang="en-US" sz="2400"/>
              <a:t>As described by the Confidential Computing Consortium (CCC), </a:t>
            </a:r>
          </a:p>
          <a:p>
            <a:pPr marL="57150"/>
            <a:r>
              <a:rPr lang="en-US" sz="2400"/>
              <a:t>"Confidential Computing is the protection of data in use by performing computation in a hardware-based, attested Trusted Execution Environment (TEE)." </a:t>
            </a:r>
          </a:p>
          <a:p>
            <a:pPr marL="57150"/>
            <a:endParaRPr lang="en-US" sz="2400"/>
          </a:p>
          <a:p>
            <a:pPr marL="57150"/>
            <a:r>
              <a:rPr lang="en-US" sz="2400"/>
              <a:t>AKS </a:t>
            </a:r>
            <a:r>
              <a:rPr lang="en-US" sz="2400" b="1"/>
              <a:t>Confidential Containers </a:t>
            </a:r>
            <a:r>
              <a:rPr lang="en-US" sz="2400"/>
              <a:t>are designed to protect Kubernetes pods data in use from unauthorized access from outside of these pods. Each pod is executed in a </a:t>
            </a:r>
            <a:r>
              <a:rPr lang="en-US" sz="2400" b="1"/>
              <a:t>Utility VM (UVM) </a:t>
            </a:r>
            <a:r>
              <a:rPr lang="en-US" sz="2400"/>
              <a:t>protected by the AMD SEV-SNP TEE by encrypting data in use and prevent access to the data by the Host Operating System (OS). </a:t>
            </a:r>
          </a:p>
          <a:p>
            <a:pPr marL="57150"/>
            <a:endParaRPr lang="en-US" sz="2400"/>
          </a:p>
          <a:p>
            <a:pPr marL="57150"/>
            <a:r>
              <a:rPr lang="en-US" sz="2400"/>
              <a:t>Microsoft engineers collaborated with the </a:t>
            </a:r>
            <a:r>
              <a:rPr lang="en-US" sz="2400" b="1"/>
              <a:t>Confidential Containers </a:t>
            </a:r>
            <a:r>
              <a:rPr lang="en-US" sz="2400"/>
              <a:t>(</a:t>
            </a:r>
            <a:r>
              <a:rPr lang="en-US" sz="2400" err="1"/>
              <a:t>CoCo</a:t>
            </a:r>
            <a:r>
              <a:rPr lang="en-US" sz="2400"/>
              <a:t>) and </a:t>
            </a:r>
            <a:r>
              <a:rPr lang="en-US" sz="2400" b="1"/>
              <a:t>Kata Containers</a:t>
            </a:r>
            <a:r>
              <a:rPr lang="en-US" sz="2400"/>
              <a:t> open-source communities on the design and implementation of the Confidential Containers.</a:t>
            </a:r>
          </a:p>
        </p:txBody>
      </p:sp>
    </p:spTree>
    <p:extLst>
      <p:ext uri="{BB962C8B-B14F-4D97-AF65-F5344CB8AC3E}">
        <p14:creationId xmlns:p14="http://schemas.microsoft.com/office/powerpoint/2010/main" val="247764648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8D44CB7-47B7-2624-F34B-C5B5521C0E71}"/>
            </a:ext>
          </a:extLst>
        </p:cNvPr>
        <p:cNvGrpSpPr/>
        <p:nvPr/>
      </p:nvGrpSpPr>
      <p:grpSpPr>
        <a:xfrm>
          <a:off x="0" y="0"/>
          <a:ext cx="0" cy="0"/>
          <a:chOff x="0" y="0"/>
          <a:chExt cx="0" cy="0"/>
        </a:xfrm>
      </p:grpSpPr>
      <p:sp useBgFill="1">
        <p:nvSpPr>
          <p:cNvPr id="20" name="Rectangle 19">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91E5A9A7-95C6-4F4F-B00E-C82E07FE62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7539" y="1417538"/>
            <a:ext cx="6875818" cy="4040744"/>
          </a:xfrm>
          <a:prstGeom prst="rect">
            <a:avLst/>
          </a:prstGeom>
          <a:gradFill>
            <a:gsLst>
              <a:gs pos="0">
                <a:srgbClr val="000000"/>
              </a:gs>
              <a:gs pos="100000">
                <a:schemeClr val="accent1">
                  <a:lumMod val="75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D07DD2DE-F619-49DD-B5E7-03A290FF4E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58495" y="2660473"/>
            <a:ext cx="4355594" cy="4038603"/>
          </a:xfrm>
          <a:prstGeom prst="rect">
            <a:avLst/>
          </a:prstGeom>
          <a:gradFill>
            <a:gsLst>
              <a:gs pos="0">
                <a:schemeClr val="accent1">
                  <a:alpha val="50000"/>
                </a:schemeClr>
              </a:gs>
              <a:gs pos="100000">
                <a:schemeClr val="accent1">
                  <a:lumMod val="50000"/>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85149191-5F60-4A28-AAFF-039F96B0F3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1180882" y="1638085"/>
            <a:ext cx="6857572" cy="3581401"/>
          </a:xfrm>
          <a:prstGeom prst="rect">
            <a:avLst/>
          </a:prstGeom>
          <a:gradFill>
            <a:gsLst>
              <a:gs pos="0">
                <a:srgbClr val="000000">
                  <a:alpha val="59000"/>
                </a:srgbClr>
              </a:gs>
              <a:gs pos="69000">
                <a:schemeClr val="accent1">
                  <a:alpha val="0"/>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Freeform: Shape 24">
            <a:extLst>
              <a:ext uri="{FF2B5EF4-FFF2-40B4-BE49-F238E27FC236}">
                <a16:creationId xmlns:a16="http://schemas.microsoft.com/office/drawing/2014/main" id="{F8260ED5-17F7-4158-B241-D51DD4CF1B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747355" y="1201312"/>
            <a:ext cx="4808302" cy="4088666"/>
          </a:xfrm>
          <a:custGeom>
            <a:avLst/>
            <a:gdLst>
              <a:gd name="connsiteX0" fmla="*/ 48844 w 4808302"/>
              <a:gd name="connsiteY0" fmla="*/ 2888671 h 4088666"/>
              <a:gd name="connsiteX1" fmla="*/ 0 w 4808302"/>
              <a:gd name="connsiteY1" fmla="*/ 2404151 h 4088666"/>
              <a:gd name="connsiteX2" fmla="*/ 2404151 w 4808302"/>
              <a:gd name="connsiteY2" fmla="*/ 0 h 4088666"/>
              <a:gd name="connsiteX3" fmla="*/ 4808302 w 4808302"/>
              <a:gd name="connsiteY3" fmla="*/ 2404151 h 4088666"/>
              <a:gd name="connsiteX4" fmla="*/ 4700216 w 4808302"/>
              <a:gd name="connsiteY4" fmla="*/ 3119072 h 4088666"/>
              <a:gd name="connsiteX5" fmla="*/ 4643143 w 4808302"/>
              <a:gd name="connsiteY5" fmla="*/ 3275009 h 4088666"/>
              <a:gd name="connsiteX6" fmla="*/ 690093 w 4808302"/>
              <a:gd name="connsiteY6" fmla="*/ 4088666 h 4088666"/>
              <a:gd name="connsiteX7" fmla="*/ 548991 w 4808302"/>
              <a:gd name="connsiteY7" fmla="*/ 3933414 h 4088666"/>
              <a:gd name="connsiteX8" fmla="*/ 48844 w 4808302"/>
              <a:gd name="connsiteY8" fmla="*/ 2888671 h 40886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808302" h="4088666">
                <a:moveTo>
                  <a:pt x="48844" y="2888671"/>
                </a:moveTo>
                <a:cubicBezTo>
                  <a:pt x="16818" y="2732167"/>
                  <a:pt x="0" y="2570123"/>
                  <a:pt x="0" y="2404151"/>
                </a:cubicBezTo>
                <a:cubicBezTo>
                  <a:pt x="0" y="1076375"/>
                  <a:pt x="1076375" y="0"/>
                  <a:pt x="2404151" y="0"/>
                </a:cubicBezTo>
                <a:cubicBezTo>
                  <a:pt x="3731927" y="0"/>
                  <a:pt x="4808302" y="1076375"/>
                  <a:pt x="4808302" y="2404151"/>
                </a:cubicBezTo>
                <a:cubicBezTo>
                  <a:pt x="4808302" y="2653109"/>
                  <a:pt x="4770461" y="2893229"/>
                  <a:pt x="4700216" y="3119072"/>
                </a:cubicBezTo>
                <a:lnTo>
                  <a:pt x="4643143" y="3275009"/>
                </a:lnTo>
                <a:lnTo>
                  <a:pt x="690093" y="4088666"/>
                </a:lnTo>
                <a:lnTo>
                  <a:pt x="548991" y="3933414"/>
                </a:lnTo>
                <a:cubicBezTo>
                  <a:pt x="304015" y="3636572"/>
                  <a:pt x="128908" y="3279932"/>
                  <a:pt x="48844" y="2888671"/>
                </a:cubicBezTo>
                <a:close/>
              </a:path>
            </a:pathLst>
          </a:custGeom>
          <a:gradFill>
            <a:gsLst>
              <a:gs pos="39000">
                <a:schemeClr val="accent1">
                  <a:lumMod val="60000"/>
                  <a:lumOff val="40000"/>
                  <a:alpha val="0"/>
                </a:schemeClr>
              </a:gs>
              <a:gs pos="100000">
                <a:schemeClr val="accent1">
                  <a:lumMod val="75000"/>
                  <a:alpha val="26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3C2397D9-EF84-75CC-8710-59B0EE00F9F2}"/>
              </a:ext>
            </a:extLst>
          </p:cNvPr>
          <p:cNvSpPr>
            <a:spLocks noGrp="1"/>
          </p:cNvSpPr>
          <p:nvPr>
            <p:ph type="title"/>
          </p:nvPr>
        </p:nvSpPr>
        <p:spPr>
          <a:xfrm>
            <a:off x="660041" y="2767106"/>
            <a:ext cx="2880828" cy="3071906"/>
          </a:xfrm>
        </p:spPr>
        <p:txBody>
          <a:bodyPr vert="horz" lIns="91440" tIns="45720" rIns="91440" bIns="45720" rtlCol="0" anchor="t">
            <a:normAutofit/>
          </a:bodyPr>
          <a:lstStyle/>
          <a:p>
            <a:r>
              <a:rPr lang="en-US" sz="4000" kern="1200">
                <a:solidFill>
                  <a:srgbClr val="FFFFFF"/>
                </a:solidFill>
                <a:latin typeface="+mj-lt"/>
                <a:ea typeface="+mj-ea"/>
                <a:cs typeface="+mj-cs"/>
              </a:rPr>
              <a:t>Confidential Containers Security Policy</a:t>
            </a:r>
          </a:p>
        </p:txBody>
      </p:sp>
      <p:pic>
        <p:nvPicPr>
          <p:cNvPr id="3" name="Picture 2" descr="Diagram of the AKS Confidential Containers security policy model.">
            <a:extLst>
              <a:ext uri="{FF2B5EF4-FFF2-40B4-BE49-F238E27FC236}">
                <a16:creationId xmlns:a16="http://schemas.microsoft.com/office/drawing/2014/main" id="{0DC5FB25-7985-0D25-C34C-C0DED68A0531}"/>
              </a:ext>
            </a:extLst>
          </p:cNvPr>
          <p:cNvPicPr>
            <a:picLocks noChangeAspect="1"/>
          </p:cNvPicPr>
          <p:nvPr/>
        </p:nvPicPr>
        <p:blipFill>
          <a:blip r:embed="rId3"/>
          <a:stretch>
            <a:fillRect/>
          </a:stretch>
        </p:blipFill>
        <p:spPr>
          <a:xfrm>
            <a:off x="4184183" y="205483"/>
            <a:ext cx="7764662" cy="6367022"/>
          </a:xfrm>
          <a:prstGeom prst="rect">
            <a:avLst/>
          </a:prstGeom>
        </p:spPr>
      </p:pic>
      <p:sp>
        <p:nvSpPr>
          <p:cNvPr id="4" name="Rectangle 3">
            <a:extLst>
              <a:ext uri="{FF2B5EF4-FFF2-40B4-BE49-F238E27FC236}">
                <a16:creationId xmlns:a16="http://schemas.microsoft.com/office/drawing/2014/main" id="{59EA2BE1-4662-2F3E-B62F-712A51E7DE39}"/>
              </a:ext>
            </a:extLst>
          </p:cNvPr>
          <p:cNvSpPr/>
          <p:nvPr/>
        </p:nvSpPr>
        <p:spPr>
          <a:xfrm>
            <a:off x="8418271" y="1273998"/>
            <a:ext cx="1177792" cy="472611"/>
          </a:xfrm>
          <a:prstGeom prst="rect">
            <a:avLst/>
          </a:prstGeom>
          <a:noFill/>
          <a:ln>
            <a:solidFill>
              <a:srgbClr val="EE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2795458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C4B4B87-9DA8-9CA9-7BB6-1915C2452A22}"/>
            </a:ext>
          </a:extLst>
        </p:cNvPr>
        <p:cNvGrpSpPr/>
        <p:nvPr/>
      </p:nvGrpSpPr>
      <p:grpSpPr>
        <a:xfrm>
          <a:off x="0" y="0"/>
          <a:ext cx="0" cy="0"/>
          <a:chOff x="0" y="0"/>
          <a:chExt cx="0" cy="0"/>
        </a:xfrm>
      </p:grpSpPr>
      <p:sp useBgFill="1">
        <p:nvSpPr>
          <p:cNvPr id="20" name="Rectangle 19">
            <a:extLst>
              <a:ext uri="{FF2B5EF4-FFF2-40B4-BE49-F238E27FC236}">
                <a16:creationId xmlns:a16="http://schemas.microsoft.com/office/drawing/2014/main" id="{654C9920-5BC8-8043-1634-10FB56C7D48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08805FA3-2F83-AF5B-62BC-B6E876CF7C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7539" y="1417538"/>
            <a:ext cx="6875818" cy="4040744"/>
          </a:xfrm>
          <a:prstGeom prst="rect">
            <a:avLst/>
          </a:prstGeom>
          <a:gradFill>
            <a:gsLst>
              <a:gs pos="0">
                <a:srgbClr val="000000"/>
              </a:gs>
              <a:gs pos="100000">
                <a:schemeClr val="accent1">
                  <a:lumMod val="75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40B14D18-980C-AD2E-6914-CD815FF957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58495" y="2660473"/>
            <a:ext cx="4355594" cy="4038603"/>
          </a:xfrm>
          <a:prstGeom prst="rect">
            <a:avLst/>
          </a:prstGeom>
          <a:gradFill>
            <a:gsLst>
              <a:gs pos="0">
                <a:schemeClr val="accent1">
                  <a:alpha val="50000"/>
                </a:schemeClr>
              </a:gs>
              <a:gs pos="100000">
                <a:schemeClr val="accent1">
                  <a:lumMod val="50000"/>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8EF76A39-5774-DB29-9976-48F7A094FC8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1180882" y="1638085"/>
            <a:ext cx="6857572" cy="3581401"/>
          </a:xfrm>
          <a:prstGeom prst="rect">
            <a:avLst/>
          </a:prstGeom>
          <a:gradFill>
            <a:gsLst>
              <a:gs pos="0">
                <a:srgbClr val="000000">
                  <a:alpha val="59000"/>
                </a:srgbClr>
              </a:gs>
              <a:gs pos="69000">
                <a:schemeClr val="accent1">
                  <a:alpha val="0"/>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Freeform: Shape 24">
            <a:extLst>
              <a:ext uri="{FF2B5EF4-FFF2-40B4-BE49-F238E27FC236}">
                <a16:creationId xmlns:a16="http://schemas.microsoft.com/office/drawing/2014/main" id="{149B054F-1F3D-E904-DC6D-B142C77938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747355" y="1201312"/>
            <a:ext cx="4808302" cy="4088666"/>
          </a:xfrm>
          <a:custGeom>
            <a:avLst/>
            <a:gdLst>
              <a:gd name="connsiteX0" fmla="*/ 48844 w 4808302"/>
              <a:gd name="connsiteY0" fmla="*/ 2888671 h 4088666"/>
              <a:gd name="connsiteX1" fmla="*/ 0 w 4808302"/>
              <a:gd name="connsiteY1" fmla="*/ 2404151 h 4088666"/>
              <a:gd name="connsiteX2" fmla="*/ 2404151 w 4808302"/>
              <a:gd name="connsiteY2" fmla="*/ 0 h 4088666"/>
              <a:gd name="connsiteX3" fmla="*/ 4808302 w 4808302"/>
              <a:gd name="connsiteY3" fmla="*/ 2404151 h 4088666"/>
              <a:gd name="connsiteX4" fmla="*/ 4700216 w 4808302"/>
              <a:gd name="connsiteY4" fmla="*/ 3119072 h 4088666"/>
              <a:gd name="connsiteX5" fmla="*/ 4643143 w 4808302"/>
              <a:gd name="connsiteY5" fmla="*/ 3275009 h 4088666"/>
              <a:gd name="connsiteX6" fmla="*/ 690093 w 4808302"/>
              <a:gd name="connsiteY6" fmla="*/ 4088666 h 4088666"/>
              <a:gd name="connsiteX7" fmla="*/ 548991 w 4808302"/>
              <a:gd name="connsiteY7" fmla="*/ 3933414 h 4088666"/>
              <a:gd name="connsiteX8" fmla="*/ 48844 w 4808302"/>
              <a:gd name="connsiteY8" fmla="*/ 2888671 h 40886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808302" h="4088666">
                <a:moveTo>
                  <a:pt x="48844" y="2888671"/>
                </a:moveTo>
                <a:cubicBezTo>
                  <a:pt x="16818" y="2732167"/>
                  <a:pt x="0" y="2570123"/>
                  <a:pt x="0" y="2404151"/>
                </a:cubicBezTo>
                <a:cubicBezTo>
                  <a:pt x="0" y="1076375"/>
                  <a:pt x="1076375" y="0"/>
                  <a:pt x="2404151" y="0"/>
                </a:cubicBezTo>
                <a:cubicBezTo>
                  <a:pt x="3731927" y="0"/>
                  <a:pt x="4808302" y="1076375"/>
                  <a:pt x="4808302" y="2404151"/>
                </a:cubicBezTo>
                <a:cubicBezTo>
                  <a:pt x="4808302" y="2653109"/>
                  <a:pt x="4770461" y="2893229"/>
                  <a:pt x="4700216" y="3119072"/>
                </a:cubicBezTo>
                <a:lnTo>
                  <a:pt x="4643143" y="3275009"/>
                </a:lnTo>
                <a:lnTo>
                  <a:pt x="690093" y="4088666"/>
                </a:lnTo>
                <a:lnTo>
                  <a:pt x="548991" y="3933414"/>
                </a:lnTo>
                <a:cubicBezTo>
                  <a:pt x="304015" y="3636572"/>
                  <a:pt x="128908" y="3279932"/>
                  <a:pt x="48844" y="2888671"/>
                </a:cubicBezTo>
                <a:close/>
              </a:path>
            </a:pathLst>
          </a:custGeom>
          <a:gradFill>
            <a:gsLst>
              <a:gs pos="39000">
                <a:schemeClr val="accent1">
                  <a:lumMod val="60000"/>
                  <a:lumOff val="40000"/>
                  <a:alpha val="0"/>
                </a:schemeClr>
              </a:gs>
              <a:gs pos="100000">
                <a:schemeClr val="accent1">
                  <a:lumMod val="75000"/>
                  <a:alpha val="26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DCA9EE9A-6785-B5A8-9D87-EEDC9A0DAE76}"/>
              </a:ext>
            </a:extLst>
          </p:cNvPr>
          <p:cNvSpPr>
            <a:spLocks noGrp="1"/>
          </p:cNvSpPr>
          <p:nvPr>
            <p:ph type="title"/>
          </p:nvPr>
        </p:nvSpPr>
        <p:spPr>
          <a:xfrm>
            <a:off x="660041" y="2767106"/>
            <a:ext cx="2880828" cy="3071906"/>
          </a:xfrm>
        </p:spPr>
        <p:txBody>
          <a:bodyPr vert="horz" lIns="91440" tIns="45720" rIns="91440" bIns="45720" rtlCol="0" anchor="t">
            <a:normAutofit/>
          </a:bodyPr>
          <a:lstStyle/>
          <a:p>
            <a:r>
              <a:rPr lang="en-US" sz="4000" kern="1200">
                <a:solidFill>
                  <a:srgbClr val="FFFFFF"/>
                </a:solidFill>
                <a:latin typeface="+mj-lt"/>
                <a:ea typeface="+mj-ea"/>
                <a:cs typeface="+mj-cs"/>
              </a:rPr>
              <a:t>Policy </a:t>
            </a:r>
            <a:br>
              <a:rPr lang="en-US" sz="4000" kern="1200">
                <a:solidFill>
                  <a:srgbClr val="FFFFFF"/>
                </a:solidFill>
                <a:latin typeface="+mj-lt"/>
                <a:ea typeface="+mj-ea"/>
                <a:cs typeface="+mj-cs"/>
              </a:rPr>
            </a:br>
            <a:r>
              <a:rPr lang="en-US" sz="4000" kern="1200">
                <a:solidFill>
                  <a:srgbClr val="FFFFFF"/>
                </a:solidFill>
                <a:latin typeface="+mj-lt"/>
                <a:ea typeface="+mj-ea"/>
                <a:cs typeface="+mj-cs"/>
              </a:rPr>
              <a:t>Contents</a:t>
            </a:r>
          </a:p>
        </p:txBody>
      </p:sp>
      <p:pic>
        <p:nvPicPr>
          <p:cNvPr id="6" name="Picture 5">
            <a:extLst>
              <a:ext uri="{FF2B5EF4-FFF2-40B4-BE49-F238E27FC236}">
                <a16:creationId xmlns:a16="http://schemas.microsoft.com/office/drawing/2014/main" id="{5D98CDE9-BD33-2A90-6DDE-DB98E8249304}"/>
              </a:ext>
            </a:extLst>
          </p:cNvPr>
          <p:cNvPicPr>
            <a:picLocks noChangeAspect="1"/>
          </p:cNvPicPr>
          <p:nvPr/>
        </p:nvPicPr>
        <p:blipFill>
          <a:blip r:embed="rId3"/>
          <a:stretch>
            <a:fillRect/>
          </a:stretch>
        </p:blipFill>
        <p:spPr>
          <a:xfrm>
            <a:off x="6096000" y="319330"/>
            <a:ext cx="4355454" cy="2585323"/>
          </a:xfrm>
          <a:prstGeom prst="rect">
            <a:avLst/>
          </a:prstGeom>
          <a:ln w="3175">
            <a:solidFill>
              <a:schemeClr val="tx1"/>
            </a:solidFill>
          </a:ln>
        </p:spPr>
      </p:pic>
      <p:sp>
        <p:nvSpPr>
          <p:cNvPr id="8" name="TextBox 7">
            <a:extLst>
              <a:ext uri="{FF2B5EF4-FFF2-40B4-BE49-F238E27FC236}">
                <a16:creationId xmlns:a16="http://schemas.microsoft.com/office/drawing/2014/main" id="{85F14FB2-DC2C-071F-AB45-3F3092A4D28D}"/>
              </a:ext>
            </a:extLst>
          </p:cNvPr>
          <p:cNvSpPr txBox="1"/>
          <p:nvPr/>
        </p:nvSpPr>
        <p:spPr>
          <a:xfrm>
            <a:off x="4495806" y="3437909"/>
            <a:ext cx="3552355" cy="2585323"/>
          </a:xfrm>
          <a:prstGeom prst="rect">
            <a:avLst/>
          </a:prstGeom>
          <a:noFill/>
          <a:ln w="3175">
            <a:solidFill>
              <a:schemeClr val="tx1"/>
            </a:solidFill>
          </a:ln>
        </p:spPr>
        <p:txBody>
          <a:bodyPr wrap="square">
            <a:spAutoFit/>
          </a:bodyPr>
          <a:lstStyle/>
          <a:p>
            <a:r>
              <a:rPr lang="en-US"/>
              <a:t>The security policy describes all the calls to agent’s </a:t>
            </a:r>
            <a:r>
              <a:rPr lang="en-US" err="1"/>
              <a:t>ttrpc</a:t>
            </a:r>
            <a:r>
              <a:rPr lang="en-US"/>
              <a:t> APIs (and the parameters of these API calls) that are expected for creating and managing the Confidential pod. </a:t>
            </a:r>
          </a:p>
          <a:p>
            <a:endParaRPr lang="en-US"/>
          </a:p>
          <a:p>
            <a:r>
              <a:rPr lang="en-US"/>
              <a:t>The policy document of each pod is a text file, using the Rego language. </a:t>
            </a:r>
          </a:p>
        </p:txBody>
      </p:sp>
      <p:sp>
        <p:nvSpPr>
          <p:cNvPr id="12" name="TextBox 11">
            <a:extLst>
              <a:ext uri="{FF2B5EF4-FFF2-40B4-BE49-F238E27FC236}">
                <a16:creationId xmlns:a16="http://schemas.microsoft.com/office/drawing/2014/main" id="{E74230B0-4FD0-E92E-95AC-57C76E5277A0}"/>
              </a:ext>
            </a:extLst>
          </p:cNvPr>
          <p:cNvSpPr txBox="1"/>
          <p:nvPr/>
        </p:nvSpPr>
        <p:spPr>
          <a:xfrm>
            <a:off x="8503225" y="4472878"/>
            <a:ext cx="3324070" cy="461665"/>
          </a:xfrm>
          <a:prstGeom prst="rect">
            <a:avLst/>
          </a:prstGeom>
          <a:solidFill>
            <a:srgbClr val="0070C0"/>
          </a:solidFill>
          <a:ln w="19050">
            <a:solidFill>
              <a:schemeClr val="tx2">
                <a:lumMod val="75000"/>
                <a:lumOff val="25000"/>
              </a:schemeClr>
            </a:solidFill>
          </a:ln>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schemeClr val="bg1"/>
                </a:solidFill>
                <a:effectLst/>
                <a:uLnTx/>
                <a:uFillTx/>
                <a:latin typeface="Aptos" panose="02110004020202020204"/>
                <a:ea typeface="+mn-ea"/>
                <a:cs typeface="+mn-cs"/>
              </a:rPr>
              <a:t>Rules</a:t>
            </a:r>
          </a:p>
        </p:txBody>
      </p:sp>
      <p:sp>
        <p:nvSpPr>
          <p:cNvPr id="13" name="TextBox 12">
            <a:extLst>
              <a:ext uri="{FF2B5EF4-FFF2-40B4-BE49-F238E27FC236}">
                <a16:creationId xmlns:a16="http://schemas.microsoft.com/office/drawing/2014/main" id="{027EBA2C-B6F4-996A-6960-54380EA43FC9}"/>
              </a:ext>
            </a:extLst>
          </p:cNvPr>
          <p:cNvSpPr txBox="1"/>
          <p:nvPr/>
        </p:nvSpPr>
        <p:spPr>
          <a:xfrm>
            <a:off x="8503225" y="3622111"/>
            <a:ext cx="3324070" cy="461665"/>
          </a:xfrm>
          <a:prstGeom prst="rect">
            <a:avLst/>
          </a:prstGeom>
          <a:solidFill>
            <a:srgbClr val="00B050"/>
          </a:solidFill>
          <a:ln w="19050">
            <a:solidFill>
              <a:srgbClr val="00B050"/>
            </a:solidFill>
          </a:ln>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schemeClr val="bg1"/>
                </a:solidFill>
                <a:effectLst/>
                <a:uLnTx/>
                <a:uFillTx/>
                <a:latin typeface="Aptos" panose="02110004020202020204"/>
                <a:ea typeface="+mn-ea"/>
                <a:cs typeface="+mn-cs"/>
              </a:rPr>
              <a:t>Data</a:t>
            </a:r>
          </a:p>
        </p:txBody>
      </p:sp>
      <p:sp>
        <p:nvSpPr>
          <p:cNvPr id="14" name="TextBox 13">
            <a:extLst>
              <a:ext uri="{FF2B5EF4-FFF2-40B4-BE49-F238E27FC236}">
                <a16:creationId xmlns:a16="http://schemas.microsoft.com/office/drawing/2014/main" id="{D16377C2-6A25-DA62-73B7-84E4E89E5226}"/>
              </a:ext>
            </a:extLst>
          </p:cNvPr>
          <p:cNvSpPr txBox="1"/>
          <p:nvPr/>
        </p:nvSpPr>
        <p:spPr>
          <a:xfrm>
            <a:off x="8530975" y="5323645"/>
            <a:ext cx="3291144" cy="461665"/>
          </a:xfrm>
          <a:prstGeom prst="rect">
            <a:avLst/>
          </a:prstGeom>
          <a:solidFill>
            <a:srgbClr val="EE0000"/>
          </a:solidFill>
          <a:ln w="19050">
            <a:solidFill>
              <a:srgbClr val="EE0000"/>
            </a:solidFill>
          </a:ln>
        </p:spPr>
        <p:txBody>
          <a:bodyPr wrap="square">
            <a:spAutoFit/>
          </a:bodyPr>
          <a:lstStyle/>
          <a:p>
            <a:pPr algn="ctr"/>
            <a:r>
              <a:rPr lang="en-US" sz="2400" b="1">
                <a:solidFill>
                  <a:schemeClr val="bg1"/>
                </a:solidFill>
                <a:latin typeface="Aptos" panose="020B0004020202020204" pitchFamily="34" charset="0"/>
              </a:rPr>
              <a:t>Default values</a:t>
            </a:r>
          </a:p>
        </p:txBody>
      </p:sp>
    </p:spTree>
    <p:extLst>
      <p:ext uri="{BB962C8B-B14F-4D97-AF65-F5344CB8AC3E}">
        <p14:creationId xmlns:p14="http://schemas.microsoft.com/office/powerpoint/2010/main" val="293050339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987A60D-FD90-67FB-8609-7A5014AF49E6}"/>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F474E80-1FEE-3FFA-43AD-FD252D3910A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D6F084CD-AA54-1B3F-84F2-0E8BB21CB0F6}"/>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65577F92-3A00-A7F9-E4FA-3091EE668470}"/>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Rego Policy Language</a:t>
            </a:r>
            <a:endParaRPr lang="en-US" sz="2400" kern="1200">
              <a:solidFill>
                <a:schemeClr val="tx1"/>
              </a:solidFill>
              <a:latin typeface="+mn-lt"/>
              <a:ea typeface="+mn-ea"/>
              <a:cs typeface="+mn-cs"/>
            </a:endParaRPr>
          </a:p>
        </p:txBody>
      </p:sp>
      <p:sp>
        <p:nvSpPr>
          <p:cNvPr id="10" name="sketch line">
            <a:extLst>
              <a:ext uri="{FF2B5EF4-FFF2-40B4-BE49-F238E27FC236}">
                <a16:creationId xmlns:a16="http://schemas.microsoft.com/office/drawing/2014/main" id="{310DB586-856C-8886-B553-9BF4223BF2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92456089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8D0CE98-898D-F543-A607-9D407F9CCE98}"/>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19C9C72F-67E0-D6A1-C2DE-A2D2DA66062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7186322-51D8-C634-EAED-519722EBAE1A}"/>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a:t>Security Controls by Azure Policy</a:t>
            </a:r>
            <a:endParaRPr lang="en-US" sz="4200" kern="1200">
              <a:solidFill>
                <a:schemeClr val="tx1"/>
              </a:solidFill>
              <a:latin typeface="+mj-lt"/>
              <a:ea typeface="+mj-ea"/>
              <a:cs typeface="+mj-cs"/>
            </a:endParaRPr>
          </a:p>
        </p:txBody>
      </p:sp>
      <p:sp>
        <p:nvSpPr>
          <p:cNvPr id="12" name="sketch line">
            <a:extLst>
              <a:ext uri="{FF2B5EF4-FFF2-40B4-BE49-F238E27FC236}">
                <a16:creationId xmlns:a16="http://schemas.microsoft.com/office/drawing/2014/main" id="{D57EFAA0-3116-99D6-8212-933F14FE66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368D2262-2771-47B9-499A-88D6B9AE27C0}"/>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22759430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6BA5808-220F-6CF6-A1D0-73F8AB7FCBC2}"/>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9F6B5A8A-949F-AD97-00C5-A0FAA2E457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useBgFill="1">
        <p:nvSpPr>
          <p:cNvPr id="9" name="Freeform: Shape 8">
            <a:extLst>
              <a:ext uri="{FF2B5EF4-FFF2-40B4-BE49-F238E27FC236}">
                <a16:creationId xmlns:a16="http://schemas.microsoft.com/office/drawing/2014/main" id="{D139F31B-C8CF-3E1B-FA1F-CD5EDF451D8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14425" y="0"/>
            <a:ext cx="9963150"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solidFill>
              <a:srgbClr val="EFEFEF"/>
            </a:solidFill>
          </a:ln>
          <a:effectLst>
            <a:outerShdw blurRad="139700" sx="102000" sy="102000" algn="ctr" rotWithShape="0">
              <a:schemeClr val="bg1">
                <a:lumMod val="85000"/>
                <a:alpha val="38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1" name="Freeform: Shape 10">
            <a:extLst>
              <a:ext uri="{FF2B5EF4-FFF2-40B4-BE49-F238E27FC236}">
                <a16:creationId xmlns:a16="http://schemas.microsoft.com/office/drawing/2014/main" id="{5D1E355D-D219-D1DD-E4F4-83E4F73BEC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1664" y="0"/>
            <a:ext cx="9948672"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2284B9DB-35FB-BC1F-9BE3-AEEFC1A53A55}"/>
              </a:ext>
            </a:extLst>
          </p:cNvPr>
          <p:cNvSpPr>
            <a:spLocks noGrp="1"/>
          </p:cNvSpPr>
          <p:nvPr>
            <p:ph type="title"/>
          </p:nvPr>
        </p:nvSpPr>
        <p:spPr>
          <a:xfrm>
            <a:off x="1524003" y="1999615"/>
            <a:ext cx="9144000" cy="2764028"/>
          </a:xfrm>
        </p:spPr>
        <p:txBody>
          <a:bodyPr vert="horz" lIns="91440" tIns="45720" rIns="91440" bIns="45720" rtlCol="0" anchor="ctr">
            <a:normAutofit/>
          </a:bodyPr>
          <a:lstStyle/>
          <a:p>
            <a:pPr algn="ctr"/>
            <a:r>
              <a:rPr lang="en-US" sz="7200" kern="1200">
                <a:solidFill>
                  <a:schemeClr val="tx1"/>
                </a:solidFill>
                <a:latin typeface="+mj-lt"/>
                <a:ea typeface="+mj-ea"/>
                <a:cs typeface="+mj-cs"/>
              </a:rPr>
              <a:t>Container Security</a:t>
            </a:r>
          </a:p>
        </p:txBody>
      </p:sp>
      <p:sp>
        <p:nvSpPr>
          <p:cNvPr id="13" name="Rectangle 12">
            <a:extLst>
              <a:ext uri="{FF2B5EF4-FFF2-40B4-BE49-F238E27FC236}">
                <a16:creationId xmlns:a16="http://schemas.microsoft.com/office/drawing/2014/main" id="{C75D472D-5271-1E4E-5947-6594573CFF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718560" y="5524786"/>
            <a:ext cx="4754880" cy="2743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06099149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B2370D2-7E60-3471-345C-415504C57182}"/>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FDE3F915-96CA-148F-41D4-95E754F1432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53A609E-77A2-AC17-3CE7-4F7978F0E5F8}"/>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a:t>Defender for Containers Overview</a:t>
            </a:r>
            <a:endParaRPr lang="en-US" sz="4200" kern="1200">
              <a:solidFill>
                <a:schemeClr val="tx1"/>
              </a:solidFill>
              <a:latin typeface="+mj-lt"/>
              <a:ea typeface="+mj-ea"/>
              <a:cs typeface="+mj-cs"/>
            </a:endParaRPr>
          </a:p>
        </p:txBody>
      </p:sp>
      <p:sp>
        <p:nvSpPr>
          <p:cNvPr id="12" name="sketch line">
            <a:extLst>
              <a:ext uri="{FF2B5EF4-FFF2-40B4-BE49-F238E27FC236}">
                <a16:creationId xmlns:a16="http://schemas.microsoft.com/office/drawing/2014/main" id="{DEEE2DDF-282C-AB0A-9F77-C7811240BEF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8BD11F4A-BBA0-3D8B-DCB4-B020052336C4}"/>
              </a:ext>
            </a:extLst>
          </p:cNvPr>
          <p:cNvSpPr txBox="1"/>
          <p:nvPr/>
        </p:nvSpPr>
        <p:spPr>
          <a:xfrm>
            <a:off x="390418" y="2446214"/>
            <a:ext cx="11301710" cy="3855193"/>
          </a:xfrm>
          <a:prstGeom prst="rect">
            <a:avLst/>
          </a:prstGeom>
        </p:spPr>
        <p:txBody>
          <a:bodyPr vert="horz" lIns="91440" tIns="45720" rIns="91440" bIns="45720" rtlCol="0">
            <a:normAutofit/>
          </a:bodyPr>
          <a:lstStyle/>
          <a:p>
            <a:pPr marL="514350" indent="-457200">
              <a:lnSpc>
                <a:spcPct val="90000"/>
              </a:lnSpc>
              <a:spcBef>
                <a:spcPts val="600"/>
              </a:spcBef>
              <a:spcAft>
                <a:spcPts val="1200"/>
              </a:spcAft>
              <a:buFont typeface="Arial" panose="020B0604020202020204" pitchFamily="34" charset="0"/>
              <a:buChar char="•"/>
            </a:pPr>
            <a:r>
              <a:rPr lang="en-US" sz="2800"/>
              <a:t>Microsoft Defender for Containers is a cloud-native solution that enhances, monitors, and maintains the security of your containerized assets. </a:t>
            </a:r>
          </a:p>
          <a:p>
            <a:pPr marL="514350" indent="-457200">
              <a:lnSpc>
                <a:spcPct val="90000"/>
              </a:lnSpc>
              <a:spcBef>
                <a:spcPts val="600"/>
              </a:spcBef>
              <a:spcAft>
                <a:spcPts val="1200"/>
              </a:spcAft>
              <a:buFont typeface="Arial" panose="020B0604020202020204" pitchFamily="34" charset="0"/>
              <a:buChar char="•"/>
            </a:pPr>
            <a:r>
              <a:rPr lang="en-US" sz="2800"/>
              <a:t>These assets include Kubernetes clusters, nodes, workloads, registries, images, and more. It protects applications across </a:t>
            </a:r>
            <a:r>
              <a:rPr lang="en-US" sz="2800" err="1"/>
              <a:t>multicloud</a:t>
            </a:r>
            <a:r>
              <a:rPr lang="en-US" sz="2800"/>
              <a:t> and on-premises environments.</a:t>
            </a:r>
          </a:p>
        </p:txBody>
      </p:sp>
    </p:spTree>
    <p:extLst>
      <p:ext uri="{BB962C8B-B14F-4D97-AF65-F5344CB8AC3E}">
        <p14:creationId xmlns:p14="http://schemas.microsoft.com/office/powerpoint/2010/main" val="291300011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D154B99-AEFD-F0D4-78AD-D25641D3A3CB}"/>
            </a:ext>
          </a:extLst>
        </p:cNvPr>
        <p:cNvGrpSpPr/>
        <p:nvPr/>
      </p:nvGrpSpPr>
      <p:grpSpPr>
        <a:xfrm>
          <a:off x="0" y="0"/>
          <a:ext cx="0" cy="0"/>
          <a:chOff x="0" y="0"/>
          <a:chExt cx="0" cy="0"/>
        </a:xfrm>
      </p:grpSpPr>
      <p:sp useBgFill="1">
        <p:nvSpPr>
          <p:cNvPr id="18" name="Rectangle 17">
            <a:extLst>
              <a:ext uri="{FF2B5EF4-FFF2-40B4-BE49-F238E27FC236}">
                <a16:creationId xmlns:a16="http://schemas.microsoft.com/office/drawing/2014/main" id="{2659FDB4-FCBE-4A89-B46D-43D4FA54464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8313"/>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bg1"/>
              </a:solidFill>
            </a:endParaRPr>
          </a:p>
        </p:txBody>
      </p:sp>
      <p:sp>
        <p:nvSpPr>
          <p:cNvPr id="2" name="Title 1">
            <a:extLst>
              <a:ext uri="{FF2B5EF4-FFF2-40B4-BE49-F238E27FC236}">
                <a16:creationId xmlns:a16="http://schemas.microsoft.com/office/drawing/2014/main" id="{D9ED1BFA-F4EE-94B9-3263-198A2EC3B11C}"/>
              </a:ext>
            </a:extLst>
          </p:cNvPr>
          <p:cNvSpPr>
            <a:spLocks noGrp="1"/>
          </p:cNvSpPr>
          <p:nvPr>
            <p:ph type="title"/>
          </p:nvPr>
        </p:nvSpPr>
        <p:spPr>
          <a:xfrm>
            <a:off x="479394" y="1070800"/>
            <a:ext cx="3939688" cy="5583126"/>
          </a:xfrm>
        </p:spPr>
        <p:txBody>
          <a:bodyPr vert="horz" lIns="91440" tIns="45720" rIns="91440" bIns="45720" rtlCol="0" anchor="ctr">
            <a:normAutofit/>
          </a:bodyPr>
          <a:lstStyle/>
          <a:p>
            <a:pPr algn="r"/>
            <a:r>
              <a:rPr lang="en-US" sz="7400" kern="1200">
                <a:solidFill>
                  <a:schemeClr val="tx1"/>
                </a:solidFill>
                <a:latin typeface="+mj-lt"/>
                <a:ea typeface="+mj-ea"/>
                <a:cs typeface="+mj-cs"/>
              </a:rPr>
              <a:t>5 Core Domains of Container Security</a:t>
            </a:r>
          </a:p>
        </p:txBody>
      </p:sp>
      <p:cxnSp>
        <p:nvCxnSpPr>
          <p:cNvPr id="20" name="Straight Connector 19">
            <a:extLst>
              <a:ext uri="{FF2B5EF4-FFF2-40B4-BE49-F238E27FC236}">
                <a16:creationId xmlns:a16="http://schemas.microsoft.com/office/drawing/2014/main" id="{C8F51B3F-8331-4E4A-AE96-D47B1006EEA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728053" y="1132114"/>
            <a:ext cx="0" cy="5717573"/>
          </a:xfrm>
          <a:prstGeom prst="line">
            <a:avLst/>
          </a:prstGeom>
          <a:ln w="25400" cap="sq">
            <a:gradFill flip="none" rotWithShape="1">
              <a:gsLst>
                <a:gs pos="0">
                  <a:schemeClr val="accent1"/>
                </a:gs>
                <a:gs pos="100000">
                  <a:schemeClr val="accent2"/>
                </a:gs>
              </a:gsLst>
              <a:lin ang="16200000" scaled="1"/>
              <a:tileRect/>
            </a:gradFill>
            <a:bevel/>
          </a:ln>
        </p:spPr>
        <p:style>
          <a:lnRef idx="1">
            <a:schemeClr val="accent1"/>
          </a:lnRef>
          <a:fillRef idx="0">
            <a:schemeClr val="accent1"/>
          </a:fillRef>
          <a:effectRef idx="0">
            <a:schemeClr val="accent1"/>
          </a:effectRef>
          <a:fontRef idx="minor">
            <a:schemeClr val="tx1"/>
          </a:fontRef>
        </p:style>
      </p:cxnSp>
      <p:graphicFrame>
        <p:nvGraphicFramePr>
          <p:cNvPr id="14" name="TextBox 3">
            <a:extLst>
              <a:ext uri="{FF2B5EF4-FFF2-40B4-BE49-F238E27FC236}">
                <a16:creationId xmlns:a16="http://schemas.microsoft.com/office/drawing/2014/main" id="{091E8E8A-9B63-1BD0-2135-BAEF4111BD35}"/>
              </a:ext>
            </a:extLst>
          </p:cNvPr>
          <p:cNvGraphicFramePr/>
          <p:nvPr>
            <p:extLst>
              <p:ext uri="{D42A27DB-BD31-4B8C-83A1-F6EECF244321}">
                <p14:modId xmlns:p14="http://schemas.microsoft.com/office/powerpoint/2010/main" val="3091524098"/>
              </p:ext>
            </p:extLst>
          </p:nvPr>
        </p:nvGraphicFramePr>
        <p:xfrm>
          <a:off x="5108535" y="1070800"/>
          <a:ext cx="6245265" cy="558934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13821950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EBA1177-6CFF-695D-B855-91545CA0F0D3}"/>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A3C2FBF2-DCA5-9765-6705-434177A9927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487624F7-3967-AA9B-CC69-E5C3447C3491}"/>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9F74E0BB-ABB5-76A7-F5BC-D78284D4C597}"/>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Deploy Defender for Containers Deployment Overview</a:t>
            </a:r>
            <a:endParaRPr lang="en-US" sz="2400" kern="1200">
              <a:solidFill>
                <a:schemeClr val="tx1"/>
              </a:solidFill>
              <a:latin typeface="+mn-lt"/>
              <a:ea typeface="+mn-ea"/>
              <a:cs typeface="+mn-cs"/>
            </a:endParaRPr>
          </a:p>
        </p:txBody>
      </p:sp>
      <p:sp>
        <p:nvSpPr>
          <p:cNvPr id="10" name="sketch line">
            <a:extLst>
              <a:ext uri="{FF2B5EF4-FFF2-40B4-BE49-F238E27FC236}">
                <a16:creationId xmlns:a16="http://schemas.microsoft.com/office/drawing/2014/main" id="{85847363-10C7-DFE6-E56E-2108504758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62613476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36B5FAC-B681-9B3B-659B-6FB65D2686AB}"/>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9139C915-D76B-FD19-B71C-4865C77944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6EF0375-D30A-1066-2D7E-11E0B5CE8D47}"/>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a:t>Confidential Containers Overview</a:t>
            </a:r>
          </a:p>
        </p:txBody>
      </p:sp>
      <p:sp>
        <p:nvSpPr>
          <p:cNvPr id="12" name="sketch line">
            <a:extLst>
              <a:ext uri="{FF2B5EF4-FFF2-40B4-BE49-F238E27FC236}">
                <a16:creationId xmlns:a16="http://schemas.microsoft.com/office/drawing/2014/main" id="{DD280555-C123-2991-595F-964182287B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215652CA-C997-7BB8-96AB-F79C3272BA4F}"/>
              </a:ext>
            </a:extLst>
          </p:cNvPr>
          <p:cNvSpPr txBox="1"/>
          <p:nvPr/>
        </p:nvSpPr>
        <p:spPr>
          <a:xfrm>
            <a:off x="320040" y="2055813"/>
            <a:ext cx="11635740" cy="4391010"/>
          </a:xfrm>
          <a:prstGeom prst="rect">
            <a:avLst/>
          </a:prstGeom>
          <a:noFill/>
        </p:spPr>
        <p:txBody>
          <a:bodyPr wrap="square">
            <a:spAutoFit/>
          </a:bodyPr>
          <a:lstStyle/>
          <a:p>
            <a:pPr>
              <a:lnSpc>
                <a:spcPct val="90000"/>
              </a:lnSpc>
            </a:pPr>
            <a:r>
              <a:rPr lang="en-US" sz="2400"/>
              <a:t>The Confidential Containers preview is set to sunset in </a:t>
            </a:r>
            <a:r>
              <a:rPr lang="en-US" sz="2400" b="1"/>
              <a:t>March 2026</a:t>
            </a:r>
            <a:r>
              <a:rPr lang="en-US" sz="2400"/>
              <a:t>. </a:t>
            </a:r>
            <a:r>
              <a:rPr lang="en-US" sz="2400" b="1" u="sng">
                <a:highlight>
                  <a:srgbClr val="FFFF00"/>
                </a:highlight>
              </a:rPr>
              <a:t>After this date, customers with existing Confidential Container node pools should expect to see reduced functionality, and you won't be able to spin up any new nodes with the KataCcIsolation runtime</a:t>
            </a:r>
            <a:r>
              <a:rPr lang="en-US" sz="2400"/>
              <a:t>. Customers currently using Confidential Container node pools can continue using them as normal. If you want to move off Confidential Containers, consider the following alternatives:</a:t>
            </a:r>
          </a:p>
          <a:p>
            <a:pPr indent="-228600">
              <a:lnSpc>
                <a:spcPct val="90000"/>
              </a:lnSpc>
              <a:spcBef>
                <a:spcPts val="1200"/>
              </a:spcBef>
              <a:buFont typeface="Arial" panose="020B0604020202020204" pitchFamily="34" charset="0"/>
              <a:buChar char="•"/>
            </a:pPr>
            <a:r>
              <a:rPr lang="en-US" sz="2400" b="1" u="sng">
                <a:hlinkClick r:id="rId3"/>
              </a:rPr>
              <a:t>Confidential VMs on AKS</a:t>
            </a:r>
            <a:r>
              <a:rPr lang="en-US" sz="2400"/>
              <a:t>: Offers a similar hardware-based TEE that leverages AMD SEV-SNP security features, without the addition of per-VM isolation for workloads seen in Confidential Containers.</a:t>
            </a:r>
          </a:p>
          <a:p>
            <a:pPr indent="-228600">
              <a:lnSpc>
                <a:spcPct val="90000"/>
              </a:lnSpc>
              <a:spcBef>
                <a:spcPts val="1200"/>
              </a:spcBef>
              <a:buFont typeface="Arial" panose="020B0604020202020204" pitchFamily="34" charset="0"/>
              <a:buChar char="•"/>
            </a:pPr>
            <a:r>
              <a:rPr lang="en-US" sz="2400" b="1" u="sng">
                <a:hlinkClick r:id="rId4"/>
              </a:rPr>
              <a:t>Application enclave support</a:t>
            </a:r>
            <a:r>
              <a:rPr lang="en-US" sz="2400"/>
              <a:t>: Provides users with Intel SGX confidential computing VM nodes that support hardware-based, process-level container isolation through the Intel SGX trusted execution environment.</a:t>
            </a:r>
          </a:p>
        </p:txBody>
      </p:sp>
    </p:spTree>
    <p:extLst>
      <p:ext uri="{BB962C8B-B14F-4D97-AF65-F5344CB8AC3E}">
        <p14:creationId xmlns:p14="http://schemas.microsoft.com/office/powerpoint/2010/main" val="106860663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0192EFA-BBF1-90E7-684A-F54449BAC68C}"/>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6F8880DB-B526-DFB9-A89E-05F53BCFE31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B4A383E-6569-B1D7-A5A6-EF5DAB12C386}"/>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a:t>Confidential Containers Overview</a:t>
            </a:r>
          </a:p>
        </p:txBody>
      </p:sp>
      <p:sp>
        <p:nvSpPr>
          <p:cNvPr id="12" name="sketch line">
            <a:extLst>
              <a:ext uri="{FF2B5EF4-FFF2-40B4-BE49-F238E27FC236}">
                <a16:creationId xmlns:a16="http://schemas.microsoft.com/office/drawing/2014/main" id="{6BFAA5E0-284F-1EB3-2AD5-264E127837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C6B486DB-090B-E5F0-B580-8B1E7C655C3A}"/>
              </a:ext>
            </a:extLst>
          </p:cNvPr>
          <p:cNvSpPr txBox="1"/>
          <p:nvPr/>
        </p:nvSpPr>
        <p:spPr>
          <a:xfrm>
            <a:off x="320040" y="2055813"/>
            <a:ext cx="11635740" cy="3061416"/>
          </a:xfrm>
          <a:prstGeom prst="rect">
            <a:avLst/>
          </a:prstGeom>
          <a:noFill/>
        </p:spPr>
        <p:txBody>
          <a:bodyPr wrap="square">
            <a:spAutoFit/>
          </a:bodyPr>
          <a:lstStyle/>
          <a:p>
            <a:pPr indent="-228600">
              <a:lnSpc>
                <a:spcPct val="90000"/>
              </a:lnSpc>
              <a:spcBef>
                <a:spcPts val="1200"/>
              </a:spcBef>
              <a:buFont typeface="Arial" panose="020B0604020202020204" pitchFamily="34" charset="0"/>
              <a:buChar char="•"/>
            </a:pPr>
            <a:r>
              <a:rPr lang="en-US" sz="2400" b="1" u="sng">
                <a:hlinkClick r:id="rId3"/>
              </a:rPr>
              <a:t>Confidential Containers on Azure Container Instances</a:t>
            </a:r>
            <a:r>
              <a:rPr lang="en-US" sz="2400"/>
              <a:t>: Allows for lift-and-shift deployments on containers backed by AMD SEV-SNP. Functionality includes performing full guest attestation, access to </a:t>
            </a:r>
            <a:r>
              <a:rPr lang="en-US" sz="2400" err="1"/>
              <a:t>toolings</a:t>
            </a:r>
            <a:r>
              <a:rPr lang="en-US" sz="2400"/>
              <a:t> to generate policies, and utilizing sidecar containers for secure key releases. ACI nodes can be run on AKS via </a:t>
            </a:r>
            <a:r>
              <a:rPr lang="en-US" sz="2400" b="1" u="sng">
                <a:hlinkClick r:id="rId4"/>
              </a:rPr>
              <a:t>virtual nodes</a:t>
            </a:r>
            <a:r>
              <a:rPr lang="en-US" sz="2400"/>
              <a:t>.</a:t>
            </a:r>
          </a:p>
          <a:p>
            <a:pPr indent="-228600">
              <a:lnSpc>
                <a:spcPct val="90000"/>
              </a:lnSpc>
              <a:spcBef>
                <a:spcPts val="1200"/>
              </a:spcBef>
              <a:buFont typeface="Arial" panose="020B0604020202020204" pitchFamily="34" charset="0"/>
              <a:buChar char="•"/>
            </a:pPr>
            <a:r>
              <a:rPr lang="en-US" sz="2400" b="1" u="sng">
                <a:hlinkClick r:id="rId5"/>
              </a:rPr>
              <a:t>Azure RedHat OpenShift Confidential Containers</a:t>
            </a:r>
            <a:r>
              <a:rPr lang="en-US" sz="2400"/>
              <a:t>: Offers a similar AMD SEV-SNP backed TEE and utilizes the Kata runtime for per-container level isolation.</a:t>
            </a:r>
          </a:p>
          <a:p>
            <a:pPr indent="-228600">
              <a:lnSpc>
                <a:spcPct val="90000"/>
              </a:lnSpc>
              <a:spcBef>
                <a:spcPts val="1200"/>
              </a:spcBef>
              <a:buFont typeface="Arial" panose="020B0604020202020204" pitchFamily="34" charset="0"/>
              <a:buChar char="•"/>
            </a:pPr>
            <a:r>
              <a:rPr lang="en-US" sz="2400" b="1" u="sng">
                <a:hlinkClick r:id="rId6"/>
              </a:rPr>
              <a:t>Open source Confidential Containers</a:t>
            </a:r>
            <a:r>
              <a:rPr lang="en-US" sz="2400"/>
              <a:t>: Gives a similar AMD SEV-SNP backed TEE that comes with per-container isolation through Kata.</a:t>
            </a:r>
          </a:p>
        </p:txBody>
      </p:sp>
    </p:spTree>
    <p:extLst>
      <p:ext uri="{BB962C8B-B14F-4D97-AF65-F5344CB8AC3E}">
        <p14:creationId xmlns:p14="http://schemas.microsoft.com/office/powerpoint/2010/main" val="128123128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B1B642-2141-6EA4-0CC4-75107C005627}"/>
              </a:ext>
            </a:extLst>
          </p:cNvPr>
          <p:cNvSpPr>
            <a:spLocks noGrp="1"/>
          </p:cNvSpPr>
          <p:nvPr>
            <p:ph type="title"/>
          </p:nvPr>
        </p:nvSpPr>
        <p:spPr/>
        <p:txBody>
          <a:bodyPr/>
          <a:lstStyle/>
          <a:p>
            <a:r>
              <a:rPr lang="en-US"/>
              <a:t>Confidential Computing</a:t>
            </a:r>
          </a:p>
        </p:txBody>
      </p:sp>
      <p:sp>
        <p:nvSpPr>
          <p:cNvPr id="3" name="Content Placeholder 2">
            <a:extLst>
              <a:ext uri="{FF2B5EF4-FFF2-40B4-BE49-F238E27FC236}">
                <a16:creationId xmlns:a16="http://schemas.microsoft.com/office/drawing/2014/main" id="{3F2C9DA4-85EB-9F8F-5433-A6D045CA24E2}"/>
              </a:ext>
            </a:extLst>
          </p:cNvPr>
          <p:cNvSpPr>
            <a:spLocks noGrp="1"/>
          </p:cNvSpPr>
          <p:nvPr>
            <p:ph idx="1"/>
          </p:nvPr>
        </p:nvSpPr>
        <p:spPr>
          <a:xfrm>
            <a:off x="92364" y="1450108"/>
            <a:ext cx="11261436" cy="5618511"/>
          </a:xfrm>
        </p:spPr>
        <p:txBody>
          <a:bodyPr>
            <a:normAutofit lnSpcReduction="10000"/>
          </a:bodyPr>
          <a:lstStyle/>
          <a:p>
            <a:pPr marL="0" indent="0">
              <a:buNone/>
            </a:pPr>
            <a:r>
              <a:rPr lang="en-US" sz="2000" err="1"/>
              <a:t>Quickstart</a:t>
            </a:r>
            <a:r>
              <a:rPr lang="en-US" sz="2000"/>
              <a:t>: Deploy an AKS cluster with confidential computing Intel SGX agent nodes by using the Azure CLI</a:t>
            </a:r>
          </a:p>
          <a:p>
            <a:pPr marL="0" indent="0">
              <a:buNone/>
            </a:pPr>
            <a:r>
              <a:rPr lang="en-US" sz="2000"/>
              <a:t>https://learn.microsoft.com/en-us/azure/confidential-computing/confidential-enclave-nodes-aks-get-started</a:t>
            </a:r>
          </a:p>
          <a:p>
            <a:pPr marL="0" indent="0">
              <a:buNone/>
            </a:pPr>
            <a:endParaRPr lang="en-US" sz="2000"/>
          </a:p>
          <a:p>
            <a:pPr marL="0" indent="0">
              <a:buNone/>
            </a:pPr>
            <a:r>
              <a:rPr lang="en-US" sz="2000"/>
              <a:t>Enclave Aware Containers with Intel SGX</a:t>
            </a:r>
          </a:p>
          <a:p>
            <a:pPr marL="0" indent="0">
              <a:buNone/>
            </a:pPr>
            <a:r>
              <a:rPr lang="en-US" sz="2000"/>
              <a:t>https://learn.microsoft.com/en-us/azure/confidential-computing/enclave-aware-containers</a:t>
            </a:r>
          </a:p>
          <a:p>
            <a:pPr marL="0" indent="0">
              <a:buNone/>
            </a:pPr>
            <a:endParaRPr lang="en-US" sz="2000"/>
          </a:p>
          <a:p>
            <a:pPr marL="0" indent="0">
              <a:buNone/>
            </a:pPr>
            <a:r>
              <a:rPr lang="en-US" sz="2000"/>
              <a:t>Confidential computing plugin for Confidential VMs</a:t>
            </a:r>
          </a:p>
          <a:p>
            <a:pPr marL="0" indent="0">
              <a:buNone/>
            </a:pPr>
            <a:r>
              <a:rPr lang="en-US" sz="2000">
                <a:hlinkClick r:id="rId2"/>
              </a:rPr>
              <a:t>https://learn.microsoft.com/en-us/azure/confidential-computing/confidential-nodes-aks-addon</a:t>
            </a:r>
            <a:endParaRPr lang="en-US" sz="2000"/>
          </a:p>
          <a:p>
            <a:pPr marL="0" indent="0">
              <a:buNone/>
            </a:pPr>
            <a:endParaRPr lang="en-US" sz="2000"/>
          </a:p>
          <a:p>
            <a:pPr marL="0" indent="0">
              <a:buNone/>
            </a:pPr>
            <a:r>
              <a:rPr lang="en-US" sz="2000"/>
              <a:t>AMD SEV-SNP confidential VM nodes are now generally available in AKS</a:t>
            </a:r>
          </a:p>
          <a:p>
            <a:pPr marL="0" indent="0">
              <a:buNone/>
            </a:pPr>
            <a:r>
              <a:rPr lang="en-US" sz="2000">
                <a:hlinkClick r:id="rId3"/>
              </a:rPr>
              <a:t>https://techcommunity.microsoft.com/blog/azureconfidentialcomputingblog/amd-sev-snp-confidential-vm-nodes-are-now-generally-available-in-aks/3649065</a:t>
            </a:r>
            <a:r>
              <a:rPr lang="en-US" sz="2000"/>
              <a:t> </a:t>
            </a:r>
          </a:p>
          <a:p>
            <a:pPr marL="0" indent="0">
              <a:buNone/>
            </a:pPr>
            <a:r>
              <a:rPr lang="en-US" sz="2000"/>
              <a:t>Application enclaves</a:t>
            </a:r>
          </a:p>
          <a:p>
            <a:pPr marL="0" indent="0">
              <a:buNone/>
            </a:pPr>
            <a:r>
              <a:rPr lang="en-US" sz="2000">
                <a:hlinkClick r:id="rId4"/>
              </a:rPr>
              <a:t>https://learn.microsoft.com/en-us/azure/confidential-computing/application-development</a:t>
            </a:r>
            <a:r>
              <a:rPr lang="en-US" sz="2000"/>
              <a:t> </a:t>
            </a:r>
          </a:p>
          <a:p>
            <a:pPr marL="0" indent="0">
              <a:buNone/>
            </a:pPr>
            <a:endParaRPr lang="en-US" sz="2000"/>
          </a:p>
        </p:txBody>
      </p:sp>
    </p:spTree>
    <p:extLst>
      <p:ext uri="{BB962C8B-B14F-4D97-AF65-F5344CB8AC3E}">
        <p14:creationId xmlns:p14="http://schemas.microsoft.com/office/powerpoint/2010/main" val="231036398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1F2540B-F980-1704-880E-142215BC2BE0}"/>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6CB82FA1-063B-D0B3-1043-D6FD50770FF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13255CB-D148-FE27-E8D2-B3D943DF0EBE}"/>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a:t>Confidential VM node pool support on AKS with AMD SEV-SNP confidential VMs</a:t>
            </a:r>
          </a:p>
        </p:txBody>
      </p:sp>
      <p:sp>
        <p:nvSpPr>
          <p:cNvPr id="12" name="sketch line">
            <a:extLst>
              <a:ext uri="{FF2B5EF4-FFF2-40B4-BE49-F238E27FC236}">
                <a16:creationId xmlns:a16="http://schemas.microsoft.com/office/drawing/2014/main" id="{493C123E-ED60-EF5C-C861-0D07F1DC2D9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F98703F8-B1EC-1284-0EB7-31E9A6531379}"/>
              </a:ext>
            </a:extLst>
          </p:cNvPr>
          <p:cNvSpPr txBox="1"/>
          <p:nvPr/>
        </p:nvSpPr>
        <p:spPr>
          <a:xfrm>
            <a:off x="669036" y="2258090"/>
            <a:ext cx="10997100" cy="1569660"/>
          </a:xfrm>
          <a:prstGeom prst="rect">
            <a:avLst/>
          </a:prstGeom>
          <a:noFill/>
        </p:spPr>
        <p:txBody>
          <a:bodyPr wrap="square">
            <a:spAutoFit/>
          </a:bodyPr>
          <a:lstStyle/>
          <a:p>
            <a:r>
              <a:rPr lang="en-US" sz="2400"/>
              <a:t>AKS now supports confidential VM node pools with Azure confidential VMs. These confidential VMs are the generally available DCasv5 and ECasv5 confidential VM-series utilizing 3rd Gen AMD EPYCTM processors with Secure Encrypted Virtualization-Secure Nested Paging (SEV-SNP) security features. </a:t>
            </a:r>
          </a:p>
        </p:txBody>
      </p:sp>
    </p:spTree>
    <p:extLst>
      <p:ext uri="{BB962C8B-B14F-4D97-AF65-F5344CB8AC3E}">
        <p14:creationId xmlns:p14="http://schemas.microsoft.com/office/powerpoint/2010/main" val="19984515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BC2B979-AF8D-C8FB-F906-631D46B4EE2B}"/>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AA774705-FB41-0712-0547-6D83C904BE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F4E9791-456F-9A5E-6069-51DDB09A32BA}"/>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a:t>Application enclave support with Intel SGX based confidential computing nodes on AKS</a:t>
            </a:r>
          </a:p>
        </p:txBody>
      </p:sp>
      <p:sp>
        <p:nvSpPr>
          <p:cNvPr id="12" name="sketch line">
            <a:extLst>
              <a:ext uri="{FF2B5EF4-FFF2-40B4-BE49-F238E27FC236}">
                <a16:creationId xmlns:a16="http://schemas.microsoft.com/office/drawing/2014/main" id="{62C84C42-7D5B-600F-BEAA-E0544E7EAEE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41DE4449-0C4A-22B6-37C1-1C47C4481620}"/>
              </a:ext>
            </a:extLst>
          </p:cNvPr>
          <p:cNvSpPr txBox="1"/>
          <p:nvPr/>
        </p:nvSpPr>
        <p:spPr>
          <a:xfrm>
            <a:off x="669036" y="2258090"/>
            <a:ext cx="11288502" cy="3200876"/>
          </a:xfrm>
          <a:prstGeom prst="rect">
            <a:avLst/>
          </a:prstGeom>
          <a:noFill/>
        </p:spPr>
        <p:txBody>
          <a:bodyPr wrap="square">
            <a:spAutoFit/>
          </a:bodyPr>
          <a:lstStyle/>
          <a:p>
            <a:pPr marL="342900" indent="-342900">
              <a:spcAft>
                <a:spcPts val="600"/>
              </a:spcAft>
              <a:buFont typeface="Arial" panose="020B0604020202020204" pitchFamily="34" charset="0"/>
              <a:buChar char="•"/>
            </a:pPr>
            <a:r>
              <a:rPr lang="en-US" sz="2400"/>
              <a:t>Azure Kubernetes Service (AKS) supports adding Intel SGX confidential computing VM nodes as agent pools in a cluster. </a:t>
            </a:r>
          </a:p>
          <a:p>
            <a:pPr marL="342900" indent="-342900">
              <a:spcAft>
                <a:spcPts val="600"/>
              </a:spcAft>
              <a:buFont typeface="Arial" panose="020B0604020202020204" pitchFamily="34" charset="0"/>
              <a:buChar char="•"/>
            </a:pPr>
            <a:r>
              <a:rPr lang="en-US" sz="2400"/>
              <a:t>These nodes allow you to run sensitive workloads within a hardware-based TEE. TEEs allow user-level code from containers to allocate private regions of memory to execute the code with CPU directly. </a:t>
            </a:r>
          </a:p>
          <a:p>
            <a:pPr marL="342900" indent="-342900">
              <a:buFont typeface="Arial" panose="020B0604020202020204" pitchFamily="34" charset="0"/>
              <a:buChar char="•"/>
            </a:pPr>
            <a:r>
              <a:rPr lang="en-US" sz="2400"/>
              <a:t>These private memory regions that execute directly with CPU are called enclaves. Enclaves help protect the data confidentiality, data integrity and code integrity from other processes running on the same nodes, as well as Azure operator. </a:t>
            </a:r>
          </a:p>
        </p:txBody>
      </p:sp>
    </p:spTree>
    <p:extLst>
      <p:ext uri="{BB962C8B-B14F-4D97-AF65-F5344CB8AC3E}">
        <p14:creationId xmlns:p14="http://schemas.microsoft.com/office/powerpoint/2010/main" val="192662528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99FD2E0-5BF2-BD9B-D9EB-C4894E1DD13B}"/>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FB0E9AE1-33F4-7D18-B5FC-830C3631E9B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24AE300-C3FA-174E-DC87-A762B31EB93C}"/>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a:t>Application enclave support with Intel SGX based confidential computing nodes on AKS</a:t>
            </a:r>
          </a:p>
        </p:txBody>
      </p:sp>
      <p:sp>
        <p:nvSpPr>
          <p:cNvPr id="12" name="sketch line">
            <a:extLst>
              <a:ext uri="{FF2B5EF4-FFF2-40B4-BE49-F238E27FC236}">
                <a16:creationId xmlns:a16="http://schemas.microsoft.com/office/drawing/2014/main" id="{D13CFDE4-7179-AEE1-3E65-CA940682A1A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FCB98725-4101-84EC-D978-E5D821C76535}"/>
              </a:ext>
            </a:extLst>
          </p:cNvPr>
          <p:cNvSpPr txBox="1"/>
          <p:nvPr/>
        </p:nvSpPr>
        <p:spPr>
          <a:xfrm>
            <a:off x="669036" y="2258090"/>
            <a:ext cx="11328696" cy="2831544"/>
          </a:xfrm>
          <a:prstGeom prst="rect">
            <a:avLst/>
          </a:prstGeom>
          <a:noFill/>
        </p:spPr>
        <p:txBody>
          <a:bodyPr wrap="square">
            <a:spAutoFit/>
          </a:bodyPr>
          <a:lstStyle/>
          <a:p>
            <a:pPr marL="342900" indent="-342900">
              <a:spcAft>
                <a:spcPts val="600"/>
              </a:spcAft>
              <a:buFont typeface="Arial" panose="020B0604020202020204" pitchFamily="34" charset="0"/>
              <a:buChar char="•"/>
            </a:pPr>
            <a:r>
              <a:rPr lang="en-US" sz="2400"/>
              <a:t>The Intel SGX execution model also removes the intermediate layers of Guest OS, Host OS and Hypervisor thus reducing the attack surface area. </a:t>
            </a:r>
          </a:p>
          <a:p>
            <a:pPr marL="342900" indent="-342900">
              <a:spcAft>
                <a:spcPts val="600"/>
              </a:spcAft>
              <a:buFont typeface="Arial" panose="020B0604020202020204" pitchFamily="34" charset="0"/>
              <a:buChar char="•"/>
            </a:pPr>
            <a:r>
              <a:rPr lang="en-US" sz="2400"/>
              <a:t>The hardware based per container isolated execution model in a node allows applications to directly execute with the CPU, while keeping the special block of memory encrypted per container. </a:t>
            </a:r>
          </a:p>
          <a:p>
            <a:pPr marL="342900" indent="-342900">
              <a:buFont typeface="Arial" panose="020B0604020202020204" pitchFamily="34" charset="0"/>
              <a:buChar char="•"/>
            </a:pPr>
            <a:r>
              <a:rPr lang="en-US" sz="2400"/>
              <a:t>Confidential computing nodes with confidential containers are a great addition to your zero-trust, security planning and defense-in-depth container strategy.</a:t>
            </a:r>
          </a:p>
        </p:txBody>
      </p:sp>
    </p:spTree>
    <p:extLst>
      <p:ext uri="{BB962C8B-B14F-4D97-AF65-F5344CB8AC3E}">
        <p14:creationId xmlns:p14="http://schemas.microsoft.com/office/powerpoint/2010/main" val="328416661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15D9C2D-0E00-E4C1-F53D-586C54AD5342}"/>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5B236ECE-CA6E-0642-47DD-A1B9EC6AEB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FE68DFA-9F4D-684A-8700-A75935CC92EC}"/>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1FF07DF9-2609-8983-50BE-04B59F04EFAB}"/>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Intel SGX Demo</a:t>
            </a:r>
            <a:endParaRPr lang="en-US" sz="2400" kern="1200">
              <a:solidFill>
                <a:schemeClr val="tx1"/>
              </a:solidFill>
              <a:latin typeface="+mn-lt"/>
              <a:ea typeface="+mn-ea"/>
              <a:cs typeface="+mn-cs"/>
            </a:endParaRPr>
          </a:p>
        </p:txBody>
      </p:sp>
      <p:sp>
        <p:nvSpPr>
          <p:cNvPr id="10" name="sketch line">
            <a:extLst>
              <a:ext uri="{FF2B5EF4-FFF2-40B4-BE49-F238E27FC236}">
                <a16:creationId xmlns:a16="http://schemas.microsoft.com/office/drawing/2014/main" id="{C151F62F-2293-2ED3-BBC3-83BF0BE3E88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4041446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84F0A09-FB73-FD7B-66C5-3076D65144E8}"/>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895C28E3-64F1-9163-F785-0F91BE1E0BB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73E9B17B-0F72-5F03-F8C1-A9256FAFE5FD}"/>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95D92544-64D4-B754-44E9-FC2F9D0DB586}"/>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AMD SVE-SNP Demo</a:t>
            </a:r>
            <a:endParaRPr lang="en-US" sz="2400" kern="1200">
              <a:solidFill>
                <a:schemeClr val="tx1"/>
              </a:solidFill>
              <a:latin typeface="+mn-lt"/>
              <a:ea typeface="+mn-ea"/>
              <a:cs typeface="+mn-cs"/>
            </a:endParaRPr>
          </a:p>
        </p:txBody>
      </p:sp>
      <p:sp>
        <p:nvSpPr>
          <p:cNvPr id="10" name="sketch line">
            <a:extLst>
              <a:ext uri="{FF2B5EF4-FFF2-40B4-BE49-F238E27FC236}">
                <a16:creationId xmlns:a16="http://schemas.microsoft.com/office/drawing/2014/main" id="{0B517738-49D2-ECA7-56EF-5E9887BD1C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5141500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990A599-BC58-AF48-7BBB-AD77EB57F2AC}"/>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EEF7529A-3AEA-7E63-3200-A998B1EFF76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useBgFill="1">
        <p:nvSpPr>
          <p:cNvPr id="9" name="Freeform: Shape 8">
            <a:extLst>
              <a:ext uri="{FF2B5EF4-FFF2-40B4-BE49-F238E27FC236}">
                <a16:creationId xmlns:a16="http://schemas.microsoft.com/office/drawing/2014/main" id="{6F2D7BD8-FB23-275C-0526-A205AD4FD52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14425" y="0"/>
            <a:ext cx="9963150"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solidFill>
              <a:srgbClr val="EFEFEF"/>
            </a:solidFill>
          </a:ln>
          <a:effectLst>
            <a:outerShdw blurRad="139700" sx="102000" sy="102000" algn="ctr" rotWithShape="0">
              <a:schemeClr val="bg1">
                <a:lumMod val="85000"/>
                <a:alpha val="38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1" name="Freeform: Shape 10">
            <a:extLst>
              <a:ext uri="{FF2B5EF4-FFF2-40B4-BE49-F238E27FC236}">
                <a16:creationId xmlns:a16="http://schemas.microsoft.com/office/drawing/2014/main" id="{9F730528-57D9-454B-0B3D-FD5251C192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1664" y="0"/>
            <a:ext cx="9948672"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54D22FFF-226F-6940-DBC4-0B5019F7DB60}"/>
              </a:ext>
            </a:extLst>
          </p:cNvPr>
          <p:cNvSpPr>
            <a:spLocks noGrp="1"/>
          </p:cNvSpPr>
          <p:nvPr>
            <p:ph type="title"/>
          </p:nvPr>
        </p:nvSpPr>
        <p:spPr>
          <a:xfrm>
            <a:off x="1524003" y="1999615"/>
            <a:ext cx="9144000" cy="2764028"/>
          </a:xfrm>
        </p:spPr>
        <p:txBody>
          <a:bodyPr vert="horz" lIns="91440" tIns="45720" rIns="91440" bIns="45720" rtlCol="0" anchor="ctr">
            <a:normAutofit/>
          </a:bodyPr>
          <a:lstStyle/>
          <a:p>
            <a:pPr algn="ctr"/>
            <a:r>
              <a:rPr lang="en-US" sz="7200" kern="1200">
                <a:solidFill>
                  <a:schemeClr val="tx1"/>
                </a:solidFill>
                <a:latin typeface="+mj-lt"/>
                <a:ea typeface="+mj-ea"/>
                <a:cs typeface="+mj-cs"/>
              </a:rPr>
              <a:t>Image Security</a:t>
            </a:r>
          </a:p>
        </p:txBody>
      </p:sp>
      <p:sp>
        <p:nvSpPr>
          <p:cNvPr id="13" name="Rectangle 12">
            <a:extLst>
              <a:ext uri="{FF2B5EF4-FFF2-40B4-BE49-F238E27FC236}">
                <a16:creationId xmlns:a16="http://schemas.microsoft.com/office/drawing/2014/main" id="{3353804F-BD6C-391D-FBA9-D1569421E21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718560" y="5524786"/>
            <a:ext cx="4754880" cy="2743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89027717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460AB95-D975-29BC-B629-2BFAD8E412EF}"/>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3EB9CD5A-D88F-7921-62A5-2444BEA09A3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034B7BC-1135-4AEA-F562-70ABA73F7787}"/>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a:t>Container Image Management Best Practices</a:t>
            </a:r>
          </a:p>
        </p:txBody>
      </p:sp>
      <p:sp>
        <p:nvSpPr>
          <p:cNvPr id="12" name="sketch line">
            <a:extLst>
              <a:ext uri="{FF2B5EF4-FFF2-40B4-BE49-F238E27FC236}">
                <a16:creationId xmlns:a16="http://schemas.microsoft.com/office/drawing/2014/main" id="{8C9B938F-4718-05F4-0C7C-106854DA548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1DFC363F-D4BB-BFE4-D61A-79A979DA80B0}"/>
              </a:ext>
            </a:extLst>
          </p:cNvPr>
          <p:cNvSpPr txBox="1"/>
          <p:nvPr/>
        </p:nvSpPr>
        <p:spPr>
          <a:xfrm>
            <a:off x="125730" y="2183324"/>
            <a:ext cx="11978640"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Container and container image security is a major priority when developing and running applications in Azure Kubernetes Service (AKS). </a:t>
            </a:r>
          </a:p>
          <a:p>
            <a:pPr marL="285750" indent="-228600">
              <a:lnSpc>
                <a:spcPct val="90000"/>
              </a:lnSpc>
              <a:spcBef>
                <a:spcPts val="600"/>
              </a:spcBef>
              <a:spcAft>
                <a:spcPts val="1200"/>
              </a:spcAft>
              <a:buFont typeface="Arial" panose="020B0604020202020204" pitchFamily="34" charset="0"/>
              <a:buChar char="•"/>
            </a:pPr>
            <a:r>
              <a:rPr lang="en-US" sz="2800"/>
              <a:t>Containers with </a:t>
            </a:r>
            <a:r>
              <a:rPr lang="en-US" sz="2800" b="1"/>
              <a:t>outdated base images</a:t>
            </a:r>
            <a:r>
              <a:rPr lang="en-US" sz="2800"/>
              <a:t> or </a:t>
            </a:r>
            <a:r>
              <a:rPr lang="en-US" sz="2800" b="1"/>
              <a:t>unpatched application runtimes </a:t>
            </a:r>
            <a:r>
              <a:rPr lang="en-US" sz="2800"/>
              <a:t>introduce security risks and possible attack vectors. </a:t>
            </a:r>
          </a:p>
          <a:p>
            <a:pPr marL="285750" indent="-228600">
              <a:lnSpc>
                <a:spcPct val="90000"/>
              </a:lnSpc>
              <a:spcBef>
                <a:spcPts val="600"/>
              </a:spcBef>
              <a:spcAft>
                <a:spcPts val="1200"/>
              </a:spcAft>
              <a:buFont typeface="Arial" panose="020B0604020202020204" pitchFamily="34" charset="0"/>
              <a:buChar char="•"/>
            </a:pPr>
            <a:r>
              <a:rPr lang="en-US" sz="2800"/>
              <a:t>You can minimize these risks by integrating and </a:t>
            </a:r>
            <a:r>
              <a:rPr lang="en-US" sz="2800" b="1"/>
              <a:t>running</a:t>
            </a:r>
            <a:r>
              <a:rPr lang="en-US" sz="2800"/>
              <a:t> </a:t>
            </a:r>
            <a:r>
              <a:rPr lang="en-US" sz="2800" b="1"/>
              <a:t>scan</a:t>
            </a:r>
            <a:r>
              <a:rPr lang="en-US" sz="2800"/>
              <a:t> and </a:t>
            </a:r>
            <a:r>
              <a:rPr lang="en-US" sz="2800" b="1"/>
              <a:t>remediation</a:t>
            </a:r>
            <a:r>
              <a:rPr lang="en-US" sz="2800"/>
              <a:t> tools in your containers at build and runtime. </a:t>
            </a:r>
          </a:p>
          <a:p>
            <a:pPr marL="285750" indent="-228600">
              <a:lnSpc>
                <a:spcPct val="90000"/>
              </a:lnSpc>
              <a:spcBef>
                <a:spcPts val="600"/>
              </a:spcBef>
              <a:spcAft>
                <a:spcPts val="1200"/>
              </a:spcAft>
              <a:buFont typeface="Arial" panose="020B0604020202020204" pitchFamily="34" charset="0"/>
              <a:buChar char="•"/>
            </a:pPr>
            <a:r>
              <a:rPr lang="en-US" sz="2800"/>
              <a:t>The earlier you catch the vulnerability or outdated base image, the more secure your application is.</a:t>
            </a:r>
          </a:p>
        </p:txBody>
      </p:sp>
    </p:spTree>
    <p:extLst>
      <p:ext uri="{BB962C8B-B14F-4D97-AF65-F5344CB8AC3E}">
        <p14:creationId xmlns:p14="http://schemas.microsoft.com/office/powerpoint/2010/main" val="29153959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0494636-2B51-11B2-E696-58E2B4ACC938}"/>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FD0366F4-81B1-F265-B102-91C7200DD24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08C2008-B9FD-F515-670D-D3A99B922C6D}"/>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a:t>Secure the Images and Runtime</a:t>
            </a:r>
          </a:p>
        </p:txBody>
      </p:sp>
      <p:sp>
        <p:nvSpPr>
          <p:cNvPr id="12" name="sketch line">
            <a:extLst>
              <a:ext uri="{FF2B5EF4-FFF2-40B4-BE49-F238E27FC236}">
                <a16:creationId xmlns:a16="http://schemas.microsoft.com/office/drawing/2014/main" id="{D9744DDB-D86D-6CE1-A3A2-3C9A16BFE3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descr="Scan and remediate container images, validate, and deploy">
            <a:extLst>
              <a:ext uri="{FF2B5EF4-FFF2-40B4-BE49-F238E27FC236}">
                <a16:creationId xmlns:a16="http://schemas.microsoft.com/office/drawing/2014/main" id="{851D5C23-ADE7-0111-BE21-8D19AF66D9A8}"/>
              </a:ext>
            </a:extLst>
          </p:cNvPr>
          <p:cNvPicPr>
            <a:picLocks noChangeAspect="1"/>
          </p:cNvPicPr>
          <p:nvPr/>
        </p:nvPicPr>
        <p:blipFill>
          <a:blip r:embed="rId3"/>
          <a:stretch>
            <a:fillRect/>
          </a:stretch>
        </p:blipFill>
        <p:spPr>
          <a:xfrm>
            <a:off x="5061585" y="2173354"/>
            <a:ext cx="6915060" cy="3419654"/>
          </a:xfrm>
          <a:prstGeom prst="rect">
            <a:avLst/>
          </a:prstGeom>
        </p:spPr>
      </p:pic>
      <p:sp>
        <p:nvSpPr>
          <p:cNvPr id="6" name="TextBox 5">
            <a:extLst>
              <a:ext uri="{FF2B5EF4-FFF2-40B4-BE49-F238E27FC236}">
                <a16:creationId xmlns:a16="http://schemas.microsoft.com/office/drawing/2014/main" id="{69CED3A3-3754-354D-CE02-C4CEEF7F65D3}"/>
              </a:ext>
            </a:extLst>
          </p:cNvPr>
          <p:cNvSpPr txBox="1"/>
          <p:nvPr/>
        </p:nvSpPr>
        <p:spPr>
          <a:xfrm>
            <a:off x="180023" y="2025088"/>
            <a:ext cx="4701539" cy="2554545"/>
          </a:xfrm>
          <a:prstGeom prst="rect">
            <a:avLst/>
          </a:prstGeom>
          <a:noFill/>
        </p:spPr>
        <p:txBody>
          <a:bodyPr wrap="square">
            <a:spAutoFit/>
          </a:bodyPr>
          <a:lstStyle/>
          <a:p>
            <a:pPr>
              <a:spcAft>
                <a:spcPts val="600"/>
              </a:spcAft>
            </a:pPr>
            <a:r>
              <a:rPr lang="en-US" sz="2000" b="1"/>
              <a:t>Best Practice</a:t>
            </a:r>
          </a:p>
          <a:p>
            <a:pPr marL="285750" indent="-285750">
              <a:spcAft>
                <a:spcPts val="600"/>
              </a:spcAft>
              <a:buFont typeface="Arial" panose="020B0604020202020204" pitchFamily="34" charset="0"/>
              <a:buChar char="•"/>
            </a:pPr>
            <a:r>
              <a:rPr lang="en-US" sz="2000"/>
              <a:t>Scan your container images for vulnerabilities.</a:t>
            </a:r>
          </a:p>
          <a:p>
            <a:pPr marL="285750" indent="-285750">
              <a:spcAft>
                <a:spcPts val="600"/>
              </a:spcAft>
              <a:buFont typeface="Arial" panose="020B0604020202020204" pitchFamily="34" charset="0"/>
              <a:buChar char="•"/>
            </a:pPr>
            <a:r>
              <a:rPr lang="en-US" sz="2000"/>
              <a:t>Only deploy validated images.</a:t>
            </a:r>
          </a:p>
          <a:p>
            <a:pPr marL="285750" indent="-285750">
              <a:spcAft>
                <a:spcPts val="600"/>
              </a:spcAft>
              <a:buFont typeface="Arial" panose="020B0604020202020204" pitchFamily="34" charset="0"/>
              <a:buChar char="•"/>
            </a:pPr>
            <a:r>
              <a:rPr lang="en-US" sz="2000"/>
              <a:t>Regularly update the base images and application runtime.</a:t>
            </a:r>
          </a:p>
          <a:p>
            <a:pPr marL="285750" indent="-285750">
              <a:spcAft>
                <a:spcPts val="600"/>
              </a:spcAft>
              <a:buFont typeface="Arial" panose="020B0604020202020204" pitchFamily="34" charset="0"/>
              <a:buChar char="•"/>
            </a:pPr>
            <a:r>
              <a:rPr lang="en-US" sz="2000"/>
              <a:t>Redeploy workloads in the AKS cluster.</a:t>
            </a:r>
          </a:p>
        </p:txBody>
      </p:sp>
    </p:spTree>
    <p:extLst>
      <p:ext uri="{BB962C8B-B14F-4D97-AF65-F5344CB8AC3E}">
        <p14:creationId xmlns:p14="http://schemas.microsoft.com/office/powerpoint/2010/main" val="58472132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9D237F0-1D3D-6578-3D05-60C4E3EB4448}"/>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89CB1BDB-E5D7-3932-3B9D-09D1C14FA92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C5D4A4D-B7AF-ACA0-81A8-5DA379C8E675}"/>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a:t>Secure the Images and Runtime</a:t>
            </a:r>
          </a:p>
        </p:txBody>
      </p:sp>
      <p:sp>
        <p:nvSpPr>
          <p:cNvPr id="12" name="sketch line">
            <a:extLst>
              <a:ext uri="{FF2B5EF4-FFF2-40B4-BE49-F238E27FC236}">
                <a16:creationId xmlns:a16="http://schemas.microsoft.com/office/drawing/2014/main" id="{89D7EE41-1CBC-E962-9EDC-6FA6F7B629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descr="Scan and remediate container images, validate, and deploy">
            <a:extLst>
              <a:ext uri="{FF2B5EF4-FFF2-40B4-BE49-F238E27FC236}">
                <a16:creationId xmlns:a16="http://schemas.microsoft.com/office/drawing/2014/main" id="{54374B05-24CF-A5D2-7974-2D75439F8BF6}"/>
              </a:ext>
            </a:extLst>
          </p:cNvPr>
          <p:cNvPicPr>
            <a:picLocks noChangeAspect="1"/>
          </p:cNvPicPr>
          <p:nvPr/>
        </p:nvPicPr>
        <p:blipFill>
          <a:blip r:embed="rId3"/>
          <a:stretch>
            <a:fillRect/>
          </a:stretch>
        </p:blipFill>
        <p:spPr>
          <a:xfrm>
            <a:off x="5549074" y="2674208"/>
            <a:ext cx="6461379" cy="3195298"/>
          </a:xfrm>
          <a:prstGeom prst="rect">
            <a:avLst/>
          </a:prstGeom>
        </p:spPr>
      </p:pic>
      <p:sp>
        <p:nvSpPr>
          <p:cNvPr id="6" name="TextBox 5">
            <a:extLst>
              <a:ext uri="{FF2B5EF4-FFF2-40B4-BE49-F238E27FC236}">
                <a16:creationId xmlns:a16="http://schemas.microsoft.com/office/drawing/2014/main" id="{74CF3BC8-F3A9-632F-56A6-12C5CFC5A783}"/>
              </a:ext>
            </a:extLst>
          </p:cNvPr>
          <p:cNvSpPr txBox="1"/>
          <p:nvPr/>
        </p:nvSpPr>
        <p:spPr>
          <a:xfrm>
            <a:off x="669036" y="2299084"/>
            <a:ext cx="4701539" cy="2554545"/>
          </a:xfrm>
          <a:prstGeom prst="rect">
            <a:avLst/>
          </a:prstGeom>
          <a:noFill/>
        </p:spPr>
        <p:txBody>
          <a:bodyPr wrap="square">
            <a:spAutoFit/>
          </a:bodyPr>
          <a:lstStyle/>
          <a:p>
            <a:pPr>
              <a:spcAft>
                <a:spcPts val="600"/>
              </a:spcAft>
            </a:pPr>
            <a:r>
              <a:rPr lang="en-US" sz="2000" b="1"/>
              <a:t>Best Practice</a:t>
            </a:r>
          </a:p>
          <a:p>
            <a:pPr marL="285750" indent="-285750">
              <a:spcAft>
                <a:spcPts val="600"/>
              </a:spcAft>
              <a:buFont typeface="Arial" panose="020B0604020202020204" pitchFamily="34" charset="0"/>
              <a:buChar char="•"/>
            </a:pPr>
            <a:r>
              <a:rPr lang="en-US" sz="2000"/>
              <a:t>Scan your container images for vulnerabilities.</a:t>
            </a:r>
          </a:p>
          <a:p>
            <a:pPr marL="285750" indent="-285750">
              <a:spcAft>
                <a:spcPts val="600"/>
              </a:spcAft>
              <a:buFont typeface="Arial" panose="020B0604020202020204" pitchFamily="34" charset="0"/>
              <a:buChar char="•"/>
            </a:pPr>
            <a:r>
              <a:rPr lang="en-US" sz="2000"/>
              <a:t>Only deploy validated images.</a:t>
            </a:r>
          </a:p>
          <a:p>
            <a:pPr marL="285750" indent="-285750">
              <a:spcAft>
                <a:spcPts val="600"/>
              </a:spcAft>
              <a:buFont typeface="Arial" panose="020B0604020202020204" pitchFamily="34" charset="0"/>
              <a:buChar char="•"/>
            </a:pPr>
            <a:r>
              <a:rPr lang="en-US" sz="2000"/>
              <a:t>Regularly update the base images and application runtime.</a:t>
            </a:r>
          </a:p>
          <a:p>
            <a:pPr marL="285750" indent="-285750">
              <a:spcAft>
                <a:spcPts val="600"/>
              </a:spcAft>
              <a:buFont typeface="Arial" panose="020B0604020202020204" pitchFamily="34" charset="0"/>
              <a:buChar char="•"/>
            </a:pPr>
            <a:r>
              <a:rPr lang="en-US" sz="2000"/>
              <a:t>Redeploy workloads in the AKS cluster.</a:t>
            </a:r>
          </a:p>
        </p:txBody>
      </p:sp>
    </p:spTree>
    <p:extLst>
      <p:ext uri="{BB962C8B-B14F-4D97-AF65-F5344CB8AC3E}">
        <p14:creationId xmlns:p14="http://schemas.microsoft.com/office/powerpoint/2010/main" val="297907581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51CD18F-69C8-E126-5B86-D91A011EDC24}"/>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CCF7BFC9-BC5E-4ED3-1112-2DA33507F4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7FE546D-06D1-9B8E-85C0-F2ED31B4AE46}"/>
              </a:ext>
            </a:extLst>
          </p:cNvPr>
          <p:cNvSpPr>
            <a:spLocks noGrp="1"/>
          </p:cNvSpPr>
          <p:nvPr>
            <p:ph type="title"/>
          </p:nvPr>
        </p:nvSpPr>
        <p:spPr>
          <a:xfrm>
            <a:off x="365760" y="365125"/>
            <a:ext cx="11898630" cy="1325563"/>
          </a:xfrm>
        </p:spPr>
        <p:txBody>
          <a:bodyPr vert="horz" lIns="91440" tIns="45720" rIns="91440" bIns="45720" rtlCol="0" anchor="ctr">
            <a:normAutofit/>
          </a:bodyPr>
          <a:lstStyle/>
          <a:p>
            <a:r>
              <a:rPr lang="en-US" sz="4200"/>
              <a:t>Automatically build new images on base image update</a:t>
            </a:r>
          </a:p>
        </p:txBody>
      </p:sp>
      <p:sp>
        <p:nvSpPr>
          <p:cNvPr id="12" name="sketch line">
            <a:extLst>
              <a:ext uri="{FF2B5EF4-FFF2-40B4-BE49-F238E27FC236}">
                <a16:creationId xmlns:a16="http://schemas.microsoft.com/office/drawing/2014/main" id="{5151F16D-DE8C-75D3-0AA4-357BC12DC11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7FC6D0A1-B14A-A77D-1FFA-B06A53B60559}"/>
              </a:ext>
            </a:extLst>
          </p:cNvPr>
          <p:cNvSpPr txBox="1"/>
          <p:nvPr/>
        </p:nvSpPr>
        <p:spPr>
          <a:xfrm>
            <a:off x="509016" y="1804353"/>
            <a:ext cx="10853928" cy="1846659"/>
          </a:xfrm>
          <a:prstGeom prst="rect">
            <a:avLst/>
          </a:prstGeom>
          <a:noFill/>
        </p:spPr>
        <p:txBody>
          <a:bodyPr wrap="square">
            <a:spAutoFit/>
          </a:bodyPr>
          <a:lstStyle/>
          <a:p>
            <a:pPr>
              <a:spcAft>
                <a:spcPts val="600"/>
              </a:spcAft>
            </a:pPr>
            <a:r>
              <a:rPr lang="en-US" sz="2400" b="1"/>
              <a:t>Best Practice</a:t>
            </a:r>
          </a:p>
          <a:p>
            <a:pPr>
              <a:spcAft>
                <a:spcPts val="600"/>
              </a:spcAft>
            </a:pPr>
            <a:r>
              <a:rPr lang="en-US" sz="2000"/>
              <a:t>As you use base images for application images, </a:t>
            </a:r>
            <a:r>
              <a:rPr lang="en-US" sz="2000" b="1"/>
              <a:t>use automation</a:t>
            </a:r>
            <a:r>
              <a:rPr lang="en-US" sz="2000"/>
              <a:t> to build new images when the base image is updated. </a:t>
            </a:r>
          </a:p>
          <a:p>
            <a:pPr>
              <a:spcAft>
                <a:spcPts val="600"/>
              </a:spcAft>
            </a:pPr>
            <a:r>
              <a:rPr lang="en-US" sz="2000"/>
              <a:t>Since updated base images typically include security fixes, </a:t>
            </a:r>
            <a:r>
              <a:rPr lang="en-US" sz="2000" b="1"/>
              <a:t>update any downstream application container images</a:t>
            </a:r>
            <a:r>
              <a:rPr lang="en-US" sz="2000"/>
              <a:t>.</a:t>
            </a:r>
          </a:p>
        </p:txBody>
      </p:sp>
      <p:sp>
        <p:nvSpPr>
          <p:cNvPr id="6" name="TextBox 5">
            <a:extLst>
              <a:ext uri="{FF2B5EF4-FFF2-40B4-BE49-F238E27FC236}">
                <a16:creationId xmlns:a16="http://schemas.microsoft.com/office/drawing/2014/main" id="{F49137D3-B37B-29E4-A402-2DBBE05B0483}"/>
              </a:ext>
            </a:extLst>
          </p:cNvPr>
          <p:cNvSpPr txBox="1"/>
          <p:nvPr/>
        </p:nvSpPr>
        <p:spPr>
          <a:xfrm>
            <a:off x="469773" y="4051062"/>
            <a:ext cx="11249406" cy="2339102"/>
          </a:xfrm>
          <a:prstGeom prst="rect">
            <a:avLst/>
          </a:prstGeom>
          <a:noFill/>
        </p:spPr>
        <p:txBody>
          <a:bodyPr wrap="square">
            <a:spAutoFit/>
          </a:bodyPr>
          <a:lstStyle/>
          <a:p>
            <a:pPr marL="285750" indent="-285750">
              <a:spcAft>
                <a:spcPts val="600"/>
              </a:spcAft>
              <a:buFont typeface="Arial" panose="020B0604020202020204" pitchFamily="34" charset="0"/>
              <a:buChar char="•"/>
            </a:pPr>
            <a:r>
              <a:rPr lang="en-US" b="1"/>
              <a:t>Integrate</a:t>
            </a:r>
            <a:r>
              <a:rPr lang="en-US"/>
              <a:t> this build process </a:t>
            </a:r>
            <a:r>
              <a:rPr lang="en-US" b="1"/>
              <a:t>into</a:t>
            </a:r>
            <a:r>
              <a:rPr lang="en-US"/>
              <a:t> validation and deployment </a:t>
            </a:r>
            <a:r>
              <a:rPr lang="en-US" b="1"/>
              <a:t>pipelines</a:t>
            </a:r>
            <a:r>
              <a:rPr lang="en-US"/>
              <a:t> such as Azure Pipelines or Jenkins. </a:t>
            </a:r>
          </a:p>
          <a:p>
            <a:pPr marL="285750" indent="-285750">
              <a:spcAft>
                <a:spcPts val="600"/>
              </a:spcAft>
              <a:buFont typeface="Arial" panose="020B0604020202020204" pitchFamily="34" charset="0"/>
              <a:buChar char="•"/>
            </a:pPr>
            <a:r>
              <a:rPr lang="en-US"/>
              <a:t>These pipelines </a:t>
            </a:r>
            <a:r>
              <a:rPr lang="en-US" b="1"/>
              <a:t>ensure</a:t>
            </a:r>
            <a:r>
              <a:rPr lang="en-US"/>
              <a:t> your applications continue to run on the </a:t>
            </a:r>
            <a:r>
              <a:rPr lang="en-US" b="1"/>
              <a:t>updated based images</a:t>
            </a:r>
            <a:r>
              <a:rPr lang="en-US"/>
              <a:t>. </a:t>
            </a:r>
          </a:p>
          <a:p>
            <a:pPr marL="285750" indent="-285750">
              <a:spcAft>
                <a:spcPts val="600"/>
              </a:spcAft>
              <a:buFont typeface="Arial" panose="020B0604020202020204" pitchFamily="34" charset="0"/>
              <a:buChar char="•"/>
            </a:pPr>
            <a:r>
              <a:rPr lang="en-US"/>
              <a:t>Once your application container images are validated, you can then update AKS deployments to run the latest secure images.</a:t>
            </a:r>
          </a:p>
          <a:p>
            <a:pPr marL="285750" indent="-285750">
              <a:spcAft>
                <a:spcPts val="600"/>
              </a:spcAft>
              <a:buFont typeface="Arial" panose="020B0604020202020204" pitchFamily="34" charset="0"/>
              <a:buChar char="•"/>
            </a:pPr>
            <a:r>
              <a:rPr lang="en-US" b="1"/>
              <a:t>Azure Container Registry Tasks </a:t>
            </a:r>
            <a:r>
              <a:rPr lang="en-US"/>
              <a:t>can also automatically update container images when the base image is updated. </a:t>
            </a:r>
          </a:p>
          <a:p>
            <a:pPr marL="285750" indent="-285750">
              <a:spcAft>
                <a:spcPts val="600"/>
              </a:spcAft>
              <a:buFont typeface="Arial" panose="020B0604020202020204" pitchFamily="34" charset="0"/>
              <a:buChar char="•"/>
            </a:pPr>
            <a:r>
              <a:rPr lang="en-US"/>
              <a:t>With this feature, you build a few base images and keep them updated with bug and security fixes.</a:t>
            </a:r>
          </a:p>
        </p:txBody>
      </p:sp>
    </p:spTree>
    <p:extLst>
      <p:ext uri="{BB962C8B-B14F-4D97-AF65-F5344CB8AC3E}">
        <p14:creationId xmlns:p14="http://schemas.microsoft.com/office/powerpoint/2010/main" val="329664658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C00C037-AFFA-AD4D-0577-266BF1F12B04}"/>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FA85FA43-3905-293E-3DFC-96C521F65E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C232FD4-44FB-394C-5FD0-8B6110C2B042}"/>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a:t>Validate Signed Images with Image Integrity</a:t>
            </a:r>
          </a:p>
        </p:txBody>
      </p:sp>
      <p:sp>
        <p:nvSpPr>
          <p:cNvPr id="12" name="sketch line">
            <a:extLst>
              <a:ext uri="{FF2B5EF4-FFF2-40B4-BE49-F238E27FC236}">
                <a16:creationId xmlns:a16="http://schemas.microsoft.com/office/drawing/2014/main" id="{8839FFE9-9C4A-7551-6050-42659C9842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B6442F29-045E-DD47-1C4B-BB4C9BA22F0E}"/>
              </a:ext>
            </a:extLst>
          </p:cNvPr>
          <p:cNvSpPr txBox="1"/>
          <p:nvPr/>
        </p:nvSpPr>
        <p:spPr>
          <a:xfrm>
            <a:off x="586740" y="2218106"/>
            <a:ext cx="11391900" cy="2831544"/>
          </a:xfrm>
          <a:prstGeom prst="rect">
            <a:avLst/>
          </a:prstGeom>
          <a:noFill/>
        </p:spPr>
        <p:txBody>
          <a:bodyPr wrap="square">
            <a:spAutoFit/>
          </a:bodyPr>
          <a:lstStyle/>
          <a:p>
            <a:pPr>
              <a:spcAft>
                <a:spcPts val="600"/>
              </a:spcAft>
            </a:pPr>
            <a:r>
              <a:rPr lang="en-US" sz="2400"/>
              <a:t>Using signed container images helps verify that your deployments are built from a trusted entity and that images haven't been tampered with since their creation. </a:t>
            </a:r>
          </a:p>
          <a:p>
            <a:pPr>
              <a:spcAft>
                <a:spcPts val="600"/>
              </a:spcAft>
            </a:pPr>
            <a:r>
              <a:rPr lang="en-US" sz="2400"/>
              <a:t>Image Integrity is a service that allows you to add an Azure Policy built-in definition to verify that only signed images are deployed to your AKS clusters.</a:t>
            </a:r>
          </a:p>
          <a:p>
            <a:r>
              <a:rPr lang="en-US" sz="2400" b="1"/>
              <a:t>Image Integrity </a:t>
            </a:r>
            <a:r>
              <a:rPr lang="en-US" sz="2400"/>
              <a:t>is a feature based on </a:t>
            </a:r>
            <a:r>
              <a:rPr lang="en-US" sz="2400" b="1"/>
              <a:t>Ratify</a:t>
            </a:r>
            <a:r>
              <a:rPr lang="en-US" sz="2400"/>
              <a:t>. On an AKS cluster, the feature name and property name is </a:t>
            </a:r>
            <a:r>
              <a:rPr lang="en-US" sz="2400" b="1" err="1">
                <a:latin typeface="Consolas" panose="020B0609020204030204" pitchFamily="49" charset="0"/>
              </a:rPr>
              <a:t>ImageIntegrity</a:t>
            </a:r>
            <a:r>
              <a:rPr lang="en-US" sz="2400"/>
              <a:t>, while the relevant Image Integrity pods' names contain </a:t>
            </a:r>
            <a:r>
              <a:rPr lang="en-US" sz="2400" b="1">
                <a:latin typeface="Consolas" panose="020B0609020204030204" pitchFamily="49" charset="0"/>
              </a:rPr>
              <a:t>Ratify</a:t>
            </a:r>
            <a:r>
              <a:rPr lang="en-US" sz="2400"/>
              <a:t>.</a:t>
            </a:r>
          </a:p>
        </p:txBody>
      </p:sp>
    </p:spTree>
    <p:extLst>
      <p:ext uri="{BB962C8B-B14F-4D97-AF65-F5344CB8AC3E}">
        <p14:creationId xmlns:p14="http://schemas.microsoft.com/office/powerpoint/2010/main" val="125851800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45C1A1D-98E6-B6AC-CD87-4911B9499EB6}"/>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F065F982-CFD4-65B9-426B-B1AA629CF31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07623CC-D164-0F33-F17F-136D9D19C362}"/>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a:t>Validate Signed Images with Image Integrity</a:t>
            </a:r>
          </a:p>
        </p:txBody>
      </p:sp>
      <p:sp>
        <p:nvSpPr>
          <p:cNvPr id="12" name="sketch line">
            <a:extLst>
              <a:ext uri="{FF2B5EF4-FFF2-40B4-BE49-F238E27FC236}">
                <a16:creationId xmlns:a16="http://schemas.microsoft.com/office/drawing/2014/main" id="{C9C518A5-5B5A-1A29-B7C0-089FA8AA3DF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39F57559-75DB-B37F-5329-607DC1060B73}"/>
              </a:ext>
            </a:extLst>
          </p:cNvPr>
          <p:cNvSpPr txBox="1"/>
          <p:nvPr/>
        </p:nvSpPr>
        <p:spPr>
          <a:xfrm>
            <a:off x="586740" y="2218106"/>
            <a:ext cx="11391900" cy="2831544"/>
          </a:xfrm>
          <a:prstGeom prst="rect">
            <a:avLst/>
          </a:prstGeom>
          <a:noFill/>
        </p:spPr>
        <p:txBody>
          <a:bodyPr wrap="square">
            <a:spAutoFit/>
          </a:bodyPr>
          <a:lstStyle/>
          <a:p>
            <a:pPr>
              <a:spcAft>
                <a:spcPts val="600"/>
              </a:spcAft>
            </a:pPr>
            <a:r>
              <a:rPr lang="en-US" sz="2400"/>
              <a:t>Using signed container images helps verify that your deployments are built from a trusted entity and that images haven't been tampered with since their creation. </a:t>
            </a:r>
          </a:p>
          <a:p>
            <a:pPr>
              <a:spcAft>
                <a:spcPts val="600"/>
              </a:spcAft>
            </a:pPr>
            <a:r>
              <a:rPr lang="en-US" sz="2400"/>
              <a:t>Image Integrity is a service that allows you to add an Azure Policy built-in definition to verify that only signed images are deployed to your AKS clusters.</a:t>
            </a:r>
          </a:p>
          <a:p>
            <a:r>
              <a:rPr lang="en-US" sz="2400" b="1"/>
              <a:t>Image Integrity </a:t>
            </a:r>
            <a:r>
              <a:rPr lang="en-US" sz="2400"/>
              <a:t>is a feature based on </a:t>
            </a:r>
            <a:r>
              <a:rPr lang="en-US" sz="2400" b="1"/>
              <a:t>Ratify</a:t>
            </a:r>
            <a:r>
              <a:rPr lang="en-US" sz="2400"/>
              <a:t>. On an AKS cluster, the feature name and property name is </a:t>
            </a:r>
            <a:r>
              <a:rPr lang="en-US" sz="2400" b="1" err="1">
                <a:latin typeface="Consolas" panose="020B0609020204030204" pitchFamily="49" charset="0"/>
              </a:rPr>
              <a:t>ImageIntegrity</a:t>
            </a:r>
            <a:r>
              <a:rPr lang="en-US" sz="2400"/>
              <a:t>, while the relevant Image Integrity pods' names contain </a:t>
            </a:r>
            <a:r>
              <a:rPr lang="en-US" sz="2400" b="1">
                <a:latin typeface="Consolas" panose="020B0609020204030204" pitchFamily="49" charset="0"/>
              </a:rPr>
              <a:t>Ratify</a:t>
            </a:r>
            <a:r>
              <a:rPr lang="en-US" sz="2400"/>
              <a:t>.</a:t>
            </a:r>
          </a:p>
        </p:txBody>
      </p:sp>
    </p:spTree>
    <p:extLst>
      <p:ext uri="{BB962C8B-B14F-4D97-AF65-F5344CB8AC3E}">
        <p14:creationId xmlns:p14="http://schemas.microsoft.com/office/powerpoint/2010/main" val="273493783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1B7D907-6DC4-CF14-9CA4-4C064D5DF98E}"/>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E405AF34-E18E-1B74-B745-125751A500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EBD1E0A-19F0-9D25-DD47-3A69B11484E1}"/>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a:t>How Image Integrity works?</a:t>
            </a:r>
          </a:p>
        </p:txBody>
      </p:sp>
      <p:sp>
        <p:nvSpPr>
          <p:cNvPr id="12" name="sketch line">
            <a:extLst>
              <a:ext uri="{FF2B5EF4-FFF2-40B4-BE49-F238E27FC236}">
                <a16:creationId xmlns:a16="http://schemas.microsoft.com/office/drawing/2014/main" id="{2A96BD4F-1758-F934-0664-7461E58AE01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descr="Screenshot showing the basic architecture for Image Integrity.">
            <a:extLst>
              <a:ext uri="{FF2B5EF4-FFF2-40B4-BE49-F238E27FC236}">
                <a16:creationId xmlns:a16="http://schemas.microsoft.com/office/drawing/2014/main" id="{DA055C6D-CE05-79D9-CD12-F6076E244E3B}"/>
              </a:ext>
            </a:extLst>
          </p:cNvPr>
          <p:cNvPicPr>
            <a:picLocks noChangeAspect="1"/>
          </p:cNvPicPr>
          <p:nvPr/>
        </p:nvPicPr>
        <p:blipFill>
          <a:blip r:embed="rId3"/>
          <a:stretch>
            <a:fillRect/>
          </a:stretch>
        </p:blipFill>
        <p:spPr>
          <a:xfrm>
            <a:off x="1489710" y="2261185"/>
            <a:ext cx="8820150" cy="3627910"/>
          </a:xfrm>
          <a:prstGeom prst="rect">
            <a:avLst/>
          </a:prstGeom>
          <a:ln w="3175">
            <a:solidFill>
              <a:schemeClr val="tx1"/>
            </a:solidFill>
          </a:ln>
        </p:spPr>
      </p:pic>
    </p:spTree>
    <p:extLst>
      <p:ext uri="{BB962C8B-B14F-4D97-AF65-F5344CB8AC3E}">
        <p14:creationId xmlns:p14="http://schemas.microsoft.com/office/powerpoint/2010/main" val="372665839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1A94B2A-2020-6563-FF7C-A7C81F2F15EA}"/>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C2BADE80-68EC-E69F-EAEC-D8B9808EF7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92BA6A4-75CF-7DDD-AE0D-9AA6EC00E613}"/>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a:t>Image Integrity: Considerations and Limitations</a:t>
            </a:r>
          </a:p>
        </p:txBody>
      </p:sp>
      <p:sp>
        <p:nvSpPr>
          <p:cNvPr id="12" name="sketch line">
            <a:extLst>
              <a:ext uri="{FF2B5EF4-FFF2-40B4-BE49-F238E27FC236}">
                <a16:creationId xmlns:a16="http://schemas.microsoft.com/office/drawing/2014/main" id="{C57CD824-382E-A96E-44D5-02ADEB7E3DB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9F210025-DCAE-86F9-DC3D-357C72AD85CA}"/>
              </a:ext>
            </a:extLst>
          </p:cNvPr>
          <p:cNvSpPr txBox="1"/>
          <p:nvPr/>
        </p:nvSpPr>
        <p:spPr>
          <a:xfrm>
            <a:off x="838200" y="2213899"/>
            <a:ext cx="10946130" cy="3416320"/>
          </a:xfrm>
          <a:prstGeom prst="rect">
            <a:avLst/>
          </a:prstGeom>
          <a:noFill/>
        </p:spPr>
        <p:txBody>
          <a:bodyPr wrap="square">
            <a:spAutoFit/>
          </a:bodyPr>
          <a:lstStyle/>
          <a:p>
            <a:pPr marL="457200" indent="-457200">
              <a:spcAft>
                <a:spcPts val="600"/>
              </a:spcAft>
              <a:buFont typeface="Arial" panose="020B0604020202020204" pitchFamily="34" charset="0"/>
              <a:buChar char="•"/>
            </a:pPr>
            <a:r>
              <a:rPr lang="en-US" sz="2800"/>
              <a:t>Your AKS clusters must run Kubernetes version 1.26 or above.</a:t>
            </a:r>
          </a:p>
          <a:p>
            <a:pPr marL="457200" indent="-457200">
              <a:spcAft>
                <a:spcPts val="600"/>
              </a:spcAft>
              <a:buFont typeface="Arial" panose="020B0604020202020204" pitchFamily="34" charset="0"/>
              <a:buChar char="•"/>
            </a:pPr>
            <a:r>
              <a:rPr lang="en-US" sz="2800"/>
              <a:t>You shouldn't use this feature for production Azure Container Registry (ACR) registries or workloads.</a:t>
            </a:r>
          </a:p>
          <a:p>
            <a:pPr marL="457200" indent="-457200">
              <a:spcAft>
                <a:spcPts val="600"/>
              </a:spcAft>
              <a:buFont typeface="Arial" panose="020B0604020202020204" pitchFamily="34" charset="0"/>
              <a:buChar char="•"/>
            </a:pPr>
            <a:r>
              <a:rPr lang="en-US" sz="2800"/>
              <a:t>Image Integrity supports a maximum of 200 unique signatures concurrently cluster-wide.</a:t>
            </a:r>
          </a:p>
          <a:p>
            <a:pPr marL="457200" indent="-457200">
              <a:spcAft>
                <a:spcPts val="600"/>
              </a:spcAft>
              <a:buFont typeface="Arial" panose="020B0604020202020204" pitchFamily="34" charset="0"/>
              <a:buChar char="•"/>
            </a:pPr>
            <a:r>
              <a:rPr lang="en-US" sz="2800"/>
              <a:t>Notation is the only supported verifier.</a:t>
            </a:r>
          </a:p>
          <a:p>
            <a:pPr marL="457200" indent="-457200">
              <a:spcAft>
                <a:spcPts val="600"/>
              </a:spcAft>
              <a:buFont typeface="Arial" panose="020B0604020202020204" pitchFamily="34" charset="0"/>
              <a:buChar char="•"/>
            </a:pPr>
            <a:r>
              <a:rPr lang="en-US" sz="2800"/>
              <a:t>Audit is the only supported verification policy effect.</a:t>
            </a:r>
          </a:p>
        </p:txBody>
      </p:sp>
    </p:spTree>
    <p:extLst>
      <p:ext uri="{BB962C8B-B14F-4D97-AF65-F5344CB8AC3E}">
        <p14:creationId xmlns:p14="http://schemas.microsoft.com/office/powerpoint/2010/main" val="382962508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5E6E083-1995-3263-B2E7-7B00D20D1279}"/>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9DA33AC4-7059-50EE-1632-A410C25D25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2EDE50C6-F3EC-9AE0-767B-6A3810494549}"/>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81AA4D84-A321-B1D0-A57A-68597C98A772}"/>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Validate Signed Images with Image Integrity</a:t>
            </a:r>
          </a:p>
        </p:txBody>
      </p:sp>
      <p:sp>
        <p:nvSpPr>
          <p:cNvPr id="10" name="sketch line">
            <a:extLst>
              <a:ext uri="{FF2B5EF4-FFF2-40B4-BE49-F238E27FC236}">
                <a16:creationId xmlns:a16="http://schemas.microsoft.com/office/drawing/2014/main" id="{E73B978A-53B3-46F1-272D-53217CC99D4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64516515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BEF8B43-1E2B-125F-CF14-FED07014FA62}"/>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D6D39FE7-0CB2-CD47-1F3F-BCCE2A28414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BDBFE98-6CFF-162F-4B84-62A8419C6439}"/>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a:t>Remove Vulnerable Images with </a:t>
            </a:r>
            <a:r>
              <a:rPr lang="en-US" sz="4200" err="1"/>
              <a:t>ImageCleaner</a:t>
            </a:r>
            <a:endParaRPr lang="en-US" sz="4200"/>
          </a:p>
        </p:txBody>
      </p:sp>
      <p:sp>
        <p:nvSpPr>
          <p:cNvPr id="12" name="sketch line">
            <a:extLst>
              <a:ext uri="{FF2B5EF4-FFF2-40B4-BE49-F238E27FC236}">
                <a16:creationId xmlns:a16="http://schemas.microsoft.com/office/drawing/2014/main" id="{FAECD47F-00A2-D27A-D7DB-3DF95B3AD28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8884F5F4-9C8C-CFE2-311A-DB79EDD787F0}"/>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15677697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E76C033-2ECD-DDFF-DF15-FDE385C4B8D9}"/>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35E413E9-1B11-FCBD-C5F3-AEBF1C21E09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DD4E5B3F-4EAD-4753-8219-06155ECC8B7F}"/>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47567803-A696-6330-6C00-F1BBE3E273B1}"/>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Remove Vulnerable Images with </a:t>
            </a:r>
            <a:r>
              <a:rPr lang="en-US" sz="2400" err="1"/>
              <a:t>ImageCleaner</a:t>
            </a:r>
            <a:endParaRPr lang="en-US" sz="2400"/>
          </a:p>
        </p:txBody>
      </p:sp>
      <p:sp>
        <p:nvSpPr>
          <p:cNvPr id="10" name="sketch line">
            <a:extLst>
              <a:ext uri="{FF2B5EF4-FFF2-40B4-BE49-F238E27FC236}">
                <a16:creationId xmlns:a16="http://schemas.microsoft.com/office/drawing/2014/main" id="{A43FA8CC-7898-7C25-7377-C0BA6F18B7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31054132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E24548B-0DF8-7296-C03A-94DAEF64E52A}"/>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CE528CC8-3DC3-0235-8015-EB9685045C7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989485B-6636-3B6F-6D94-D9741AF63A5E}"/>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a:t>Scan Images in your CI/CD Workflow</a:t>
            </a:r>
          </a:p>
        </p:txBody>
      </p:sp>
      <p:sp>
        <p:nvSpPr>
          <p:cNvPr id="12" name="sketch line">
            <a:extLst>
              <a:ext uri="{FF2B5EF4-FFF2-40B4-BE49-F238E27FC236}">
                <a16:creationId xmlns:a16="http://schemas.microsoft.com/office/drawing/2014/main" id="{6ABF9C1C-6A32-B679-514D-38CE202375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E1C7E39D-A241-9FFF-17E9-3954DC90F68B}"/>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283610621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B31D908-73F9-F81B-18D7-D248A0A16CE4}"/>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AC6753DC-08DB-5B98-7383-357C4A8650A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500B617-3234-04E1-CE42-41A78ADEED70}"/>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a:t>Scan images in ACR Registries</a:t>
            </a:r>
          </a:p>
        </p:txBody>
      </p:sp>
      <p:sp>
        <p:nvSpPr>
          <p:cNvPr id="12" name="sketch line">
            <a:extLst>
              <a:ext uri="{FF2B5EF4-FFF2-40B4-BE49-F238E27FC236}">
                <a16:creationId xmlns:a16="http://schemas.microsoft.com/office/drawing/2014/main" id="{006AF12A-D17A-448D-1084-36165DB5BBD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4C21F29D-5339-788D-2C4E-7AD36269B7F6}"/>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331288372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E826D6B-183B-87F7-D5FF-C8877D3FDE5A}"/>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1277E5DA-E45A-E1CF-AB72-81726096F7E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useBgFill="1">
        <p:nvSpPr>
          <p:cNvPr id="9" name="Freeform: Shape 8">
            <a:extLst>
              <a:ext uri="{FF2B5EF4-FFF2-40B4-BE49-F238E27FC236}">
                <a16:creationId xmlns:a16="http://schemas.microsoft.com/office/drawing/2014/main" id="{4A53F0B8-68A1-C497-47ED-6133F47F0E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14425" y="0"/>
            <a:ext cx="9963150"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solidFill>
              <a:srgbClr val="EFEFEF"/>
            </a:solidFill>
          </a:ln>
          <a:effectLst>
            <a:outerShdw blurRad="139700" sx="102000" sy="102000" algn="ctr" rotWithShape="0">
              <a:schemeClr val="bg1">
                <a:lumMod val="85000"/>
                <a:alpha val="38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1" name="Freeform: Shape 10">
            <a:extLst>
              <a:ext uri="{FF2B5EF4-FFF2-40B4-BE49-F238E27FC236}">
                <a16:creationId xmlns:a16="http://schemas.microsoft.com/office/drawing/2014/main" id="{1753DC9C-68C0-372F-1421-436DAAFB099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1664" y="0"/>
            <a:ext cx="9948672"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4EDFD795-BD72-5823-D52E-3F6F390CA2F8}"/>
              </a:ext>
            </a:extLst>
          </p:cNvPr>
          <p:cNvSpPr>
            <a:spLocks noGrp="1"/>
          </p:cNvSpPr>
          <p:nvPr>
            <p:ph type="title"/>
          </p:nvPr>
        </p:nvSpPr>
        <p:spPr>
          <a:xfrm>
            <a:off x="1524003" y="1999615"/>
            <a:ext cx="9144000" cy="2764028"/>
          </a:xfrm>
        </p:spPr>
        <p:txBody>
          <a:bodyPr vert="horz" lIns="91440" tIns="45720" rIns="91440" bIns="45720" rtlCol="0" anchor="ctr">
            <a:normAutofit/>
          </a:bodyPr>
          <a:lstStyle/>
          <a:p>
            <a:pPr algn="ctr"/>
            <a:r>
              <a:rPr lang="en-US" sz="7200" kern="1200">
                <a:solidFill>
                  <a:schemeClr val="tx1"/>
                </a:solidFill>
                <a:latin typeface="+mj-lt"/>
                <a:ea typeface="+mj-ea"/>
                <a:cs typeface="+mj-cs"/>
              </a:rPr>
              <a:t>Cluster Security</a:t>
            </a:r>
          </a:p>
        </p:txBody>
      </p:sp>
      <p:sp>
        <p:nvSpPr>
          <p:cNvPr id="13" name="Rectangle 12">
            <a:extLst>
              <a:ext uri="{FF2B5EF4-FFF2-40B4-BE49-F238E27FC236}">
                <a16:creationId xmlns:a16="http://schemas.microsoft.com/office/drawing/2014/main" id="{FDE1C840-734E-0937-6FF3-CBA07F46CBE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718560" y="5524786"/>
            <a:ext cx="4754880" cy="2743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97851521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4FF2CFC-73A2-A93A-4F43-5D4A683251B5}"/>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A6DF03CD-C3C1-AA88-8E9C-B120546F751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0977644-EA40-14A4-7AE4-74E6E8622051}"/>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a:t>Cluster Security Best Practices</a:t>
            </a:r>
          </a:p>
        </p:txBody>
      </p:sp>
      <p:sp>
        <p:nvSpPr>
          <p:cNvPr id="12" name="sketch line">
            <a:extLst>
              <a:ext uri="{FF2B5EF4-FFF2-40B4-BE49-F238E27FC236}">
                <a16:creationId xmlns:a16="http://schemas.microsoft.com/office/drawing/2014/main" id="{281D08F0-5231-34E3-7395-38669994A3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07DB27E0-A9AC-34B3-E9DF-D57A0B8152C4}"/>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333845397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125FA25-4E0F-6C4C-83FF-B2D2A7F974C7}"/>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120A0AFC-92A8-6D52-C2F4-BB2C8D569C6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BA95A50-665C-ED7F-625B-6F0E9F74AE0D}"/>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a:t>Azure </a:t>
            </a:r>
            <a:r>
              <a:rPr lang="en-US" sz="4200" err="1"/>
              <a:t>kubelogin</a:t>
            </a:r>
            <a:endParaRPr lang="en-US" sz="4200"/>
          </a:p>
        </p:txBody>
      </p:sp>
      <p:sp>
        <p:nvSpPr>
          <p:cNvPr id="12" name="sketch line">
            <a:extLst>
              <a:ext uri="{FF2B5EF4-FFF2-40B4-BE49-F238E27FC236}">
                <a16:creationId xmlns:a16="http://schemas.microsoft.com/office/drawing/2014/main" id="{EB271B0B-6F4F-562E-4924-CCA59DB60F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A2C4735E-8E2B-921D-1639-5BCB50D56875}"/>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309115903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9131746-C213-9CD6-E785-974407C5B533}"/>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A4DC499-3900-8CCB-C72B-911A3A08A84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9560236D-1A95-C59C-F32A-7F97693EBA15}"/>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699D7540-568D-7944-741E-1FCBE3D52F4E}"/>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Azure </a:t>
            </a:r>
            <a:r>
              <a:rPr lang="en-US" sz="2400" err="1"/>
              <a:t>kubelogin</a:t>
            </a:r>
            <a:endParaRPr lang="en-US" sz="2400"/>
          </a:p>
        </p:txBody>
      </p:sp>
      <p:sp>
        <p:nvSpPr>
          <p:cNvPr id="10" name="sketch line">
            <a:extLst>
              <a:ext uri="{FF2B5EF4-FFF2-40B4-BE49-F238E27FC236}">
                <a16:creationId xmlns:a16="http://schemas.microsoft.com/office/drawing/2014/main" id="{9BC9AE7A-38CF-02F2-595F-9DCED1F2A55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7967909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CA0F564-EAEC-E07B-92FD-93BCB5F14A16}"/>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D4A171A6-F65A-C07A-58BD-E848F9B16E4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772E21A-2B95-D8B7-B4CC-74D5ED98EE6D}"/>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a:t>Managed Identities - Overview</a:t>
            </a:r>
          </a:p>
        </p:txBody>
      </p:sp>
      <p:sp>
        <p:nvSpPr>
          <p:cNvPr id="12" name="sketch line">
            <a:extLst>
              <a:ext uri="{FF2B5EF4-FFF2-40B4-BE49-F238E27FC236}">
                <a16:creationId xmlns:a16="http://schemas.microsoft.com/office/drawing/2014/main" id="{CD952081-8160-737D-86A7-8078A2EBCEA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35327411-E53A-4A53-AF23-BE6B582D4C5C}"/>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262296193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B99C03F-6AF6-6195-0353-F0DB8E077021}"/>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A4B82F4C-A791-D3DB-ECFD-8A00F9ED44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375A0E0-91FF-3AB6-9481-E4F0DC933A87}"/>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a:t>Enable a Managed Identity on your Cluster</a:t>
            </a:r>
          </a:p>
        </p:txBody>
      </p:sp>
      <p:sp>
        <p:nvSpPr>
          <p:cNvPr id="12" name="sketch line">
            <a:extLst>
              <a:ext uri="{FF2B5EF4-FFF2-40B4-BE49-F238E27FC236}">
                <a16:creationId xmlns:a16="http://schemas.microsoft.com/office/drawing/2014/main" id="{98723B11-84E2-397F-926F-C0A6C7F6DF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16E13BE5-E5EA-6ACE-7EC2-F13CCACC7591}"/>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248947869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CCC3E81-9249-055F-4D06-69C14E4503DD}"/>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39545F19-2ADA-C9FC-F3A0-F28F750874C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CF99EF97-0288-7703-22D1-B3EA9D411C41}"/>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50D5E66B-47A2-4DDE-B477-3AAEA3A78AF2}"/>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Enable a Managed Identity on your Cluster</a:t>
            </a:r>
          </a:p>
        </p:txBody>
      </p:sp>
      <p:sp>
        <p:nvSpPr>
          <p:cNvPr id="10" name="sketch line">
            <a:extLst>
              <a:ext uri="{FF2B5EF4-FFF2-40B4-BE49-F238E27FC236}">
                <a16:creationId xmlns:a16="http://schemas.microsoft.com/office/drawing/2014/main" id="{A5D4EDD4-9C31-8A6A-A88A-342F2862D2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42700269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38CD4BA-E647-68CC-FD54-0C78C62B22A4}"/>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CC827EF9-0E38-BC0E-F224-5D8F41994C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221A896-36E9-7322-A3EA-73D9A7A12EC1}"/>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a:t>Create a Service Principal</a:t>
            </a:r>
          </a:p>
        </p:txBody>
      </p:sp>
      <p:sp>
        <p:nvSpPr>
          <p:cNvPr id="12" name="sketch line">
            <a:extLst>
              <a:ext uri="{FF2B5EF4-FFF2-40B4-BE49-F238E27FC236}">
                <a16:creationId xmlns:a16="http://schemas.microsoft.com/office/drawing/2014/main" id="{321E10BC-38E4-4CD3-1FCC-3D8C70819F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F5E1E2B1-9BB6-5961-F002-C16412395E0D}"/>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27794615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8C7A79B-1914-C2AD-B9EB-77652BE911F7}"/>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3CC2FACE-B5D5-A831-1667-374F572324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576B65AF-713B-91A9-3019-B313D2EF3BBE}"/>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BBE3BEC5-1B29-3355-4056-CAE67DE1CA43}"/>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Create a Service Principal</a:t>
            </a:r>
          </a:p>
        </p:txBody>
      </p:sp>
      <p:sp>
        <p:nvSpPr>
          <p:cNvPr id="10" name="sketch line">
            <a:extLst>
              <a:ext uri="{FF2B5EF4-FFF2-40B4-BE49-F238E27FC236}">
                <a16:creationId xmlns:a16="http://schemas.microsoft.com/office/drawing/2014/main" id="{D3FBFBFE-7CC3-B5DB-0D5D-F029BCCEC9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46496044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70B469E-E413-60BD-6712-B83DF702B3DE}"/>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E13881B2-8558-6848-3239-B27803B5CAB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D150D8E-D58A-847A-AEF2-86C826727508}"/>
              </a:ext>
            </a:extLst>
          </p:cNvPr>
          <p:cNvSpPr>
            <a:spLocks noGrp="1"/>
          </p:cNvSpPr>
          <p:nvPr>
            <p:ph type="title"/>
          </p:nvPr>
        </p:nvSpPr>
        <p:spPr>
          <a:xfrm>
            <a:off x="415636" y="365125"/>
            <a:ext cx="11665528" cy="1325563"/>
          </a:xfrm>
        </p:spPr>
        <p:txBody>
          <a:bodyPr vert="horz" lIns="91440" tIns="45720" rIns="91440" bIns="45720" rtlCol="0" anchor="ctr">
            <a:normAutofit/>
          </a:bodyPr>
          <a:lstStyle/>
          <a:p>
            <a:r>
              <a:rPr lang="en-US" sz="4200"/>
              <a:t>Enable access to AKS clusters using Trusted Access</a:t>
            </a:r>
          </a:p>
        </p:txBody>
      </p:sp>
      <p:sp>
        <p:nvSpPr>
          <p:cNvPr id="12" name="sketch line">
            <a:extLst>
              <a:ext uri="{FF2B5EF4-FFF2-40B4-BE49-F238E27FC236}">
                <a16:creationId xmlns:a16="http://schemas.microsoft.com/office/drawing/2014/main" id="{9E3FDBBF-DAED-B173-A92E-FC8231BC5D6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4639EE05-BC2C-1553-FBC8-5B64FA5D1797}"/>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213454483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BFB47F8-B65C-B4EF-70CE-124847C12E50}"/>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64952936-ECFF-A3D8-BDB4-431C52E9A00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4EDB444B-C241-A3AC-D392-44BF022ED984}"/>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CD28AE2A-9FFE-A810-AED4-F8358440431D}"/>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Enable access to AKS clusters using Trusted Access</a:t>
            </a:r>
          </a:p>
        </p:txBody>
      </p:sp>
      <p:sp>
        <p:nvSpPr>
          <p:cNvPr id="10" name="sketch line">
            <a:extLst>
              <a:ext uri="{FF2B5EF4-FFF2-40B4-BE49-F238E27FC236}">
                <a16:creationId xmlns:a16="http://schemas.microsoft.com/office/drawing/2014/main" id="{A1565963-6277-1372-BE8B-1B0285EBC07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67439624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082887D-5CCE-6ED0-8E7A-62D6D8BA1047}"/>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88D89C06-B1A1-8014-7BE6-13BFC19FB89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4C65419-31B7-1AD0-D2DA-545147A1466C}"/>
              </a:ext>
            </a:extLst>
          </p:cNvPr>
          <p:cNvSpPr>
            <a:spLocks noGrp="1"/>
          </p:cNvSpPr>
          <p:nvPr>
            <p:ph type="title"/>
          </p:nvPr>
        </p:nvSpPr>
        <p:spPr>
          <a:xfrm>
            <a:off x="415636" y="365125"/>
            <a:ext cx="11665528" cy="1325563"/>
          </a:xfrm>
        </p:spPr>
        <p:txBody>
          <a:bodyPr vert="horz" lIns="91440" tIns="45720" rIns="91440" bIns="45720" rtlCol="0" anchor="ctr">
            <a:normAutofit/>
          </a:bodyPr>
          <a:lstStyle/>
          <a:p>
            <a:r>
              <a:rPr lang="en-US" sz="4200"/>
              <a:t>Limit access to cluster configuration file</a:t>
            </a:r>
          </a:p>
        </p:txBody>
      </p:sp>
      <p:sp>
        <p:nvSpPr>
          <p:cNvPr id="12" name="sketch line">
            <a:extLst>
              <a:ext uri="{FF2B5EF4-FFF2-40B4-BE49-F238E27FC236}">
                <a16:creationId xmlns:a16="http://schemas.microsoft.com/office/drawing/2014/main" id="{2B9947B0-F175-2AA2-FC2A-6F9B3EB9844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B19F3D78-EFAA-A437-A18A-5C6ED8AAF3E4}"/>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1505097194"/>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764D857-55AE-DCF3-A529-03587E37A1C0}"/>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A894EB14-7F5F-FAF1-21D1-317517C2A82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EADEA8B9-FCD3-0925-6517-6A4A819582A0}"/>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1D2ADBD0-A9D7-224B-A280-D96FBC197F1A}"/>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Limit access to cluster configuration file</a:t>
            </a:r>
          </a:p>
        </p:txBody>
      </p:sp>
      <p:sp>
        <p:nvSpPr>
          <p:cNvPr id="10" name="sketch line">
            <a:extLst>
              <a:ext uri="{FF2B5EF4-FFF2-40B4-BE49-F238E27FC236}">
                <a16:creationId xmlns:a16="http://schemas.microsoft.com/office/drawing/2014/main" id="{B16B896B-183B-CB87-E31C-8F7E7965A1F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82680109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F578784-46F8-86D8-C96C-3450D9FD9444}"/>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E5609CE-38D0-0CC3-6A48-5D84719604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E808514-E609-73D3-FB02-E99971D9AE1C}"/>
              </a:ext>
            </a:extLst>
          </p:cNvPr>
          <p:cNvSpPr>
            <a:spLocks noGrp="1"/>
          </p:cNvSpPr>
          <p:nvPr>
            <p:ph type="title"/>
          </p:nvPr>
        </p:nvSpPr>
        <p:spPr>
          <a:xfrm>
            <a:off x="415636" y="365125"/>
            <a:ext cx="11665528" cy="1325563"/>
          </a:xfrm>
        </p:spPr>
        <p:txBody>
          <a:bodyPr vert="horz" lIns="91440" tIns="45720" rIns="91440" bIns="45720" rtlCol="0" anchor="ctr">
            <a:normAutofit/>
          </a:bodyPr>
          <a:lstStyle/>
          <a:p>
            <a:r>
              <a:rPr lang="en-US" sz="4200"/>
              <a:t>Define API server authorized IP ranges</a:t>
            </a:r>
          </a:p>
        </p:txBody>
      </p:sp>
      <p:sp>
        <p:nvSpPr>
          <p:cNvPr id="12" name="sketch line">
            <a:extLst>
              <a:ext uri="{FF2B5EF4-FFF2-40B4-BE49-F238E27FC236}">
                <a16:creationId xmlns:a16="http://schemas.microsoft.com/office/drawing/2014/main" id="{38F32F98-359E-FF28-3A39-7C072957C9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4BFFE2C7-8ADE-0F39-D7BD-CE7EBAE10855}"/>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1442593165"/>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551E449-D7E4-0D0F-4738-5C0E39CCE69C}"/>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C03EDD5E-E19C-9F4B-82ED-0F49DF07691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33E8BCCF-1C5F-B0D1-B9C9-66CCF773BED0}"/>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482A7EFB-A543-D996-497C-2803CC4CEA58}"/>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Define API server authorized IP ranges</a:t>
            </a:r>
          </a:p>
        </p:txBody>
      </p:sp>
      <p:sp>
        <p:nvSpPr>
          <p:cNvPr id="10" name="sketch line">
            <a:extLst>
              <a:ext uri="{FF2B5EF4-FFF2-40B4-BE49-F238E27FC236}">
                <a16:creationId xmlns:a16="http://schemas.microsoft.com/office/drawing/2014/main" id="{C5B1C75D-595F-4E42-21C9-533D93A298A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54796195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4EAA75E-EEC0-9BD0-225D-7EB680742347}"/>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1891508-DB35-1AA4-A623-180769BCA94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DD48118-9B5B-3185-1578-31A46ABAEFFC}"/>
              </a:ext>
            </a:extLst>
          </p:cNvPr>
          <p:cNvSpPr>
            <a:spLocks noGrp="1"/>
          </p:cNvSpPr>
          <p:nvPr>
            <p:ph type="title"/>
          </p:nvPr>
        </p:nvSpPr>
        <p:spPr>
          <a:xfrm>
            <a:off x="415636" y="365125"/>
            <a:ext cx="11665528" cy="1325563"/>
          </a:xfrm>
        </p:spPr>
        <p:txBody>
          <a:bodyPr vert="horz" lIns="91440" tIns="45720" rIns="91440" bIns="45720" rtlCol="0" anchor="ctr">
            <a:normAutofit/>
          </a:bodyPr>
          <a:lstStyle/>
          <a:p>
            <a:pPr algn="ctr"/>
            <a:r>
              <a:rPr lang="en-US"/>
              <a:t>Use service tags for API server authorized IP ranges in AKS</a:t>
            </a:r>
          </a:p>
        </p:txBody>
      </p:sp>
      <p:sp>
        <p:nvSpPr>
          <p:cNvPr id="12" name="sketch line">
            <a:extLst>
              <a:ext uri="{FF2B5EF4-FFF2-40B4-BE49-F238E27FC236}">
                <a16:creationId xmlns:a16="http://schemas.microsoft.com/office/drawing/2014/main" id="{1763AC5C-2FCE-F18D-7E00-4D0454AC36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014C1DAC-9974-306D-6108-2339DEF358F3}"/>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210984663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3422EC6-6A4E-64AC-BF5E-054CB611C3E9}"/>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94203B66-DB15-2923-8B4E-F9CC9A54095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CF7C2A10-57F2-6788-61AD-5DDDA9F65F50}"/>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06CB4B0E-E627-EF6E-D10C-453B9716681C}"/>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Use service tags for API server authorized IP ranges in AKS</a:t>
            </a:r>
          </a:p>
        </p:txBody>
      </p:sp>
      <p:sp>
        <p:nvSpPr>
          <p:cNvPr id="10" name="sketch line">
            <a:extLst>
              <a:ext uri="{FF2B5EF4-FFF2-40B4-BE49-F238E27FC236}">
                <a16:creationId xmlns:a16="http://schemas.microsoft.com/office/drawing/2014/main" id="{1BA7899F-9FD8-73EC-9286-027DFDEDAE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96347815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A40F8CC-17A1-A081-5F78-85A43FB0CB92}"/>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F3E1333-A371-A755-8D25-963B8768C40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5FA75BA-0DF5-E0D5-B0DB-7A65748D1880}"/>
              </a:ext>
            </a:extLst>
          </p:cNvPr>
          <p:cNvSpPr>
            <a:spLocks noGrp="1"/>
          </p:cNvSpPr>
          <p:nvPr>
            <p:ph type="title"/>
          </p:nvPr>
        </p:nvSpPr>
        <p:spPr>
          <a:xfrm>
            <a:off x="415636" y="365125"/>
            <a:ext cx="11665528" cy="1325563"/>
          </a:xfrm>
        </p:spPr>
        <p:txBody>
          <a:bodyPr vert="horz" lIns="91440" tIns="45720" rIns="91440" bIns="45720" rtlCol="0" anchor="ctr">
            <a:normAutofit/>
          </a:bodyPr>
          <a:lstStyle/>
          <a:p>
            <a:r>
              <a:rPr lang="en-US"/>
              <a:t>Manage Cluster Certificates and Rotation</a:t>
            </a:r>
          </a:p>
        </p:txBody>
      </p:sp>
      <p:sp>
        <p:nvSpPr>
          <p:cNvPr id="12" name="sketch line">
            <a:extLst>
              <a:ext uri="{FF2B5EF4-FFF2-40B4-BE49-F238E27FC236}">
                <a16:creationId xmlns:a16="http://schemas.microsoft.com/office/drawing/2014/main" id="{7BE4E286-2C0E-4FE1-6D52-47E42A8E656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305BA1B9-72F7-E723-AFAA-0A7F53739F37}"/>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154794525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D4938D6-C649-56DC-945E-A681FD654058}"/>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FA579379-4F76-8D13-198E-14949D2E8C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07A519B2-4810-48A3-70C0-36A6D16166F9}"/>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40B8A760-0A33-C1DB-5C12-331B0E6A55C0}"/>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Manage Cluster Certificates and Rotation</a:t>
            </a:r>
          </a:p>
        </p:txBody>
      </p:sp>
      <p:sp>
        <p:nvSpPr>
          <p:cNvPr id="10" name="sketch line">
            <a:extLst>
              <a:ext uri="{FF2B5EF4-FFF2-40B4-BE49-F238E27FC236}">
                <a16:creationId xmlns:a16="http://schemas.microsoft.com/office/drawing/2014/main" id="{58153B9A-D351-2561-2BEC-316A53BC313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589672844"/>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547D769-9C17-ED05-9E7E-C7B1399469F0}"/>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7242CA9A-46D0-AD57-4E74-4477FE0E80B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4BE985B-07E8-8214-C5EB-68B3B626682B}"/>
              </a:ext>
            </a:extLst>
          </p:cNvPr>
          <p:cNvSpPr>
            <a:spLocks noGrp="1"/>
          </p:cNvSpPr>
          <p:nvPr>
            <p:ph type="title"/>
          </p:nvPr>
        </p:nvSpPr>
        <p:spPr>
          <a:xfrm>
            <a:off x="415636" y="365125"/>
            <a:ext cx="11665528" cy="1325563"/>
          </a:xfrm>
        </p:spPr>
        <p:txBody>
          <a:bodyPr vert="horz" lIns="91440" tIns="45720" rIns="91440" bIns="45720" rtlCol="0" anchor="ctr">
            <a:normAutofit/>
          </a:bodyPr>
          <a:lstStyle/>
          <a:p>
            <a:r>
              <a:rPr lang="en-US"/>
              <a:t>Use Custom Certificate Authorities</a:t>
            </a:r>
          </a:p>
        </p:txBody>
      </p:sp>
      <p:sp>
        <p:nvSpPr>
          <p:cNvPr id="12" name="sketch line">
            <a:extLst>
              <a:ext uri="{FF2B5EF4-FFF2-40B4-BE49-F238E27FC236}">
                <a16:creationId xmlns:a16="http://schemas.microsoft.com/office/drawing/2014/main" id="{94DB4411-4F64-E25A-E552-14E6104EE26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D8AF66D1-F0C3-19B6-9A71-134FAB686641}"/>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3108404445"/>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37E9D45-92FE-0582-E09D-B97682BDE908}"/>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5189CE3D-CA7F-A1B8-99BC-209BC5F642F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6751FCF2-95C6-B058-0026-71EE1E73C17D}"/>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6EA5DE45-1CA1-9007-B32C-505124D2B50B}"/>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Use custom certificate authorities</a:t>
            </a:r>
          </a:p>
        </p:txBody>
      </p:sp>
      <p:sp>
        <p:nvSpPr>
          <p:cNvPr id="10" name="sketch line">
            <a:extLst>
              <a:ext uri="{FF2B5EF4-FFF2-40B4-BE49-F238E27FC236}">
                <a16:creationId xmlns:a16="http://schemas.microsoft.com/office/drawing/2014/main" id="{361F9C11-BC6F-64F0-33E7-924DB0A87F3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525658340"/>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A3DD8DB-CA3D-912C-46DC-D52424598DF9}"/>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FFE2F942-9AE8-03BB-961C-BF2E8140B6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8DFA974-838C-741C-8D7C-77D3C64E57AB}"/>
              </a:ext>
            </a:extLst>
          </p:cNvPr>
          <p:cNvSpPr>
            <a:spLocks noGrp="1"/>
          </p:cNvSpPr>
          <p:nvPr>
            <p:ph type="title"/>
          </p:nvPr>
        </p:nvSpPr>
        <p:spPr>
          <a:xfrm>
            <a:off x="415636" y="365125"/>
            <a:ext cx="11665528" cy="1325563"/>
          </a:xfrm>
        </p:spPr>
        <p:txBody>
          <a:bodyPr vert="horz" lIns="91440" tIns="45720" rIns="91440" bIns="45720" rtlCol="0" anchor="ctr">
            <a:normAutofit/>
          </a:bodyPr>
          <a:lstStyle/>
          <a:p>
            <a:r>
              <a:rPr lang="en-US"/>
              <a:t>Use Azure Policy</a:t>
            </a:r>
          </a:p>
        </p:txBody>
      </p:sp>
      <p:sp>
        <p:nvSpPr>
          <p:cNvPr id="12" name="sketch line">
            <a:extLst>
              <a:ext uri="{FF2B5EF4-FFF2-40B4-BE49-F238E27FC236}">
                <a16:creationId xmlns:a16="http://schemas.microsoft.com/office/drawing/2014/main" id="{FDB12118-87DB-2149-9A6B-D512AE14C8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3480E6C0-AE8D-0C89-5CDE-0F498DF7C70A}"/>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3912054449"/>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F9FB83A-6B62-0DB6-AA75-E61EAD6AF1F3}"/>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7C8CFB5B-C560-2BA1-AAA2-19BCC2AC732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5BE98276-B442-0A70-E7A6-811227B10D0F}"/>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78D9D829-E912-B419-EEC5-1F69858C5201}"/>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Use Azure Policy</a:t>
            </a:r>
          </a:p>
        </p:txBody>
      </p:sp>
      <p:sp>
        <p:nvSpPr>
          <p:cNvPr id="10" name="sketch line">
            <a:extLst>
              <a:ext uri="{FF2B5EF4-FFF2-40B4-BE49-F238E27FC236}">
                <a16:creationId xmlns:a16="http://schemas.microsoft.com/office/drawing/2014/main" id="{287E393F-C72C-A2B0-B9EC-68FC4EFC05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49687909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7C55BEB-C608-C3D7-8F28-A63D8A079570}"/>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14F3F80-94F8-FB3C-C682-ADA8D8E71D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1A862D3-048E-0057-8BC0-0499B076C516}"/>
              </a:ext>
            </a:extLst>
          </p:cNvPr>
          <p:cNvSpPr>
            <a:spLocks noGrp="1"/>
          </p:cNvSpPr>
          <p:nvPr>
            <p:ph type="title"/>
          </p:nvPr>
        </p:nvSpPr>
        <p:spPr>
          <a:xfrm>
            <a:off x="415636" y="365125"/>
            <a:ext cx="11665528" cy="1325563"/>
          </a:xfrm>
        </p:spPr>
        <p:txBody>
          <a:bodyPr vert="horz" lIns="91440" tIns="45720" rIns="91440" bIns="45720" rtlCol="0" anchor="ctr">
            <a:normAutofit/>
          </a:bodyPr>
          <a:lstStyle/>
          <a:p>
            <a:r>
              <a:rPr lang="en-US"/>
              <a:t>Control Deployments with Azure Policy</a:t>
            </a:r>
          </a:p>
        </p:txBody>
      </p:sp>
      <p:sp>
        <p:nvSpPr>
          <p:cNvPr id="12" name="sketch line">
            <a:extLst>
              <a:ext uri="{FF2B5EF4-FFF2-40B4-BE49-F238E27FC236}">
                <a16:creationId xmlns:a16="http://schemas.microsoft.com/office/drawing/2014/main" id="{04ABDDF4-85BB-DE21-F421-0732C6E40C6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2426031A-5139-501A-A60D-96F5C6CC6B55}"/>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515263299"/>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26ACD3B-0D28-CEA8-BAB4-4124A71FA980}"/>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653F660B-E6AD-174C-6A0D-C9C362B01DB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81420436-D1D7-A640-D5D9-B586964142F8}"/>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9799BD96-1C5E-0AD0-3EDA-B3F01F992B67}"/>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Control Deployments with Azure Policy</a:t>
            </a:r>
          </a:p>
        </p:txBody>
      </p:sp>
      <p:sp>
        <p:nvSpPr>
          <p:cNvPr id="10" name="sketch line">
            <a:extLst>
              <a:ext uri="{FF2B5EF4-FFF2-40B4-BE49-F238E27FC236}">
                <a16:creationId xmlns:a16="http://schemas.microsoft.com/office/drawing/2014/main" id="{8F3CAE50-2ED9-3849-420C-8CA2930F95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684407540"/>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775B9E4-3244-5EA0-768F-8AE4F6A12656}"/>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C7B9E059-9089-0D37-D41B-23EF9A9712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1A5E7F8-F785-85FA-161E-B17C27B88C15}"/>
              </a:ext>
            </a:extLst>
          </p:cNvPr>
          <p:cNvSpPr>
            <a:spLocks noGrp="1"/>
          </p:cNvSpPr>
          <p:nvPr>
            <p:ph type="title"/>
          </p:nvPr>
        </p:nvSpPr>
        <p:spPr>
          <a:xfrm>
            <a:off x="110836" y="365125"/>
            <a:ext cx="11970328" cy="1325563"/>
          </a:xfrm>
        </p:spPr>
        <p:txBody>
          <a:bodyPr vert="horz" lIns="91440" tIns="45720" rIns="91440" bIns="45720" rtlCol="0" anchor="ctr">
            <a:normAutofit/>
          </a:bodyPr>
          <a:lstStyle/>
          <a:p>
            <a:r>
              <a:rPr lang="en-US"/>
              <a:t>Enforce Best Practices with Deployment Safeguards</a:t>
            </a:r>
          </a:p>
        </p:txBody>
      </p:sp>
      <p:sp>
        <p:nvSpPr>
          <p:cNvPr id="12" name="sketch line">
            <a:extLst>
              <a:ext uri="{FF2B5EF4-FFF2-40B4-BE49-F238E27FC236}">
                <a16:creationId xmlns:a16="http://schemas.microsoft.com/office/drawing/2014/main" id="{4D239599-EF65-63F1-B5F7-68618B18574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7B111B4D-9FC8-DC2C-DB15-E379962EFC85}"/>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3181670799"/>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33E3E48-0DFE-067E-CAA5-737984205992}"/>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F36BA6F-A8E9-F4D1-1B0D-1F499F9F813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F199149-C6A9-8516-D81A-523FCD81EDD0}"/>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4E4B90DD-01E3-E91E-CBDE-FEC5459EAF6F}"/>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Enforce Best Practices with Deployment Safeguards</a:t>
            </a:r>
          </a:p>
        </p:txBody>
      </p:sp>
      <p:sp>
        <p:nvSpPr>
          <p:cNvPr id="10" name="sketch line">
            <a:extLst>
              <a:ext uri="{FF2B5EF4-FFF2-40B4-BE49-F238E27FC236}">
                <a16:creationId xmlns:a16="http://schemas.microsoft.com/office/drawing/2014/main" id="{D85E47BA-5FCA-727E-87FF-FA44D166A4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333899567"/>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8FB5B0F-80AC-5F96-77D5-83F3BF44BC7C}"/>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30A28016-8360-B3E1-67D4-11BFCF1CA6D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AB3B492-FEEC-96EC-2678-28C347C47E9A}"/>
              </a:ext>
            </a:extLst>
          </p:cNvPr>
          <p:cNvSpPr>
            <a:spLocks noGrp="1"/>
          </p:cNvSpPr>
          <p:nvPr>
            <p:ph type="title"/>
          </p:nvPr>
        </p:nvSpPr>
        <p:spPr>
          <a:xfrm>
            <a:off x="669036" y="370098"/>
            <a:ext cx="11970328" cy="1325563"/>
          </a:xfrm>
        </p:spPr>
        <p:txBody>
          <a:bodyPr vert="horz" lIns="91440" tIns="45720" rIns="91440" bIns="45720" rtlCol="0" anchor="ctr">
            <a:normAutofit/>
          </a:bodyPr>
          <a:lstStyle/>
          <a:p>
            <a:r>
              <a:rPr lang="en-US"/>
              <a:t>Create an OIDC Issuer for your Cluster</a:t>
            </a:r>
          </a:p>
        </p:txBody>
      </p:sp>
      <p:sp>
        <p:nvSpPr>
          <p:cNvPr id="12" name="sketch line">
            <a:extLst>
              <a:ext uri="{FF2B5EF4-FFF2-40B4-BE49-F238E27FC236}">
                <a16:creationId xmlns:a16="http://schemas.microsoft.com/office/drawing/2014/main" id="{01C25137-B5B1-E426-A6CA-36ECD901A81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3C1399D9-43BE-EE60-9A02-5D916FD3FD1C}"/>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737595543"/>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7F2E40E-8A00-63D4-DAA7-CFA1D490EA2A}"/>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DD1B0DD-F3C3-F860-B738-C388D0B7F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85F0E316-6BA6-E131-DA7A-66070FFB4EC7}"/>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D4DE2DAD-BB2B-3DCE-1790-E03C6C44EE77}"/>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Create an OIDC Issuer for your Cluster</a:t>
            </a:r>
          </a:p>
        </p:txBody>
      </p:sp>
      <p:sp>
        <p:nvSpPr>
          <p:cNvPr id="10" name="sketch line">
            <a:extLst>
              <a:ext uri="{FF2B5EF4-FFF2-40B4-BE49-F238E27FC236}">
                <a16:creationId xmlns:a16="http://schemas.microsoft.com/office/drawing/2014/main" id="{25DBE9BF-412E-5835-BDF4-7E340345D76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901965217"/>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020AC2F-4497-18C7-BDD3-4FB7625B7502}"/>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1E0FD1B9-FE0B-722A-1291-D87D4AB76BC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59C0A19-958F-4434-8EA9-45400EACB44A}"/>
              </a:ext>
            </a:extLst>
          </p:cNvPr>
          <p:cNvSpPr>
            <a:spLocks noGrp="1"/>
          </p:cNvSpPr>
          <p:nvPr>
            <p:ph type="title"/>
          </p:nvPr>
        </p:nvSpPr>
        <p:spPr>
          <a:xfrm>
            <a:off x="669036" y="370098"/>
            <a:ext cx="11970328" cy="1325563"/>
          </a:xfrm>
        </p:spPr>
        <p:txBody>
          <a:bodyPr vert="horz" lIns="91440" tIns="45720" rIns="91440" bIns="45720" rtlCol="0" anchor="ctr">
            <a:normAutofit/>
          </a:bodyPr>
          <a:lstStyle/>
          <a:p>
            <a:r>
              <a:rPr lang="en-US"/>
              <a:t>Create an OIDC Issuer for your Cluster</a:t>
            </a:r>
          </a:p>
        </p:txBody>
      </p:sp>
      <p:sp>
        <p:nvSpPr>
          <p:cNvPr id="12" name="sketch line">
            <a:extLst>
              <a:ext uri="{FF2B5EF4-FFF2-40B4-BE49-F238E27FC236}">
                <a16:creationId xmlns:a16="http://schemas.microsoft.com/office/drawing/2014/main" id="{0AAAE888-FD6A-471D-58C3-6BE45141C2C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F033CB2F-578D-E906-7EA7-9252451B33FE}"/>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2556192001"/>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4792C2D-EF33-E403-E603-EDEE35C0B7CC}"/>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50D98900-278F-C161-DC59-1CA67B487AC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364307F-E808-E9BD-672A-6D897A0478DB}"/>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FB32829F-3A40-70A1-A3AA-FAD6A2581ACB}"/>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Create an OIDC Issuer for your Cluster</a:t>
            </a:r>
          </a:p>
        </p:txBody>
      </p:sp>
      <p:sp>
        <p:nvSpPr>
          <p:cNvPr id="10" name="sketch line">
            <a:extLst>
              <a:ext uri="{FF2B5EF4-FFF2-40B4-BE49-F238E27FC236}">
                <a16:creationId xmlns:a16="http://schemas.microsoft.com/office/drawing/2014/main" id="{74A063DA-4087-002D-C49E-AAFB29B8F26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918195636"/>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EE8D39C-0926-9B98-AD89-2997066CDCFA}"/>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91E521AE-4BBD-3C3A-4047-5A752D6586A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766C9BA-739A-4957-3FD7-B78FD425578B}"/>
              </a:ext>
            </a:extLst>
          </p:cNvPr>
          <p:cNvSpPr>
            <a:spLocks noGrp="1"/>
          </p:cNvSpPr>
          <p:nvPr>
            <p:ph type="title"/>
          </p:nvPr>
        </p:nvSpPr>
        <p:spPr>
          <a:xfrm>
            <a:off x="669036" y="370098"/>
            <a:ext cx="11970328" cy="1325563"/>
          </a:xfrm>
        </p:spPr>
        <p:txBody>
          <a:bodyPr vert="horz" lIns="91440" tIns="45720" rIns="91440" bIns="45720" rtlCol="0" anchor="ctr">
            <a:normAutofit/>
          </a:bodyPr>
          <a:lstStyle/>
          <a:p>
            <a:r>
              <a:rPr lang="en-US"/>
              <a:t>Enable KMS Data Encryption in AKS</a:t>
            </a:r>
          </a:p>
        </p:txBody>
      </p:sp>
      <p:sp>
        <p:nvSpPr>
          <p:cNvPr id="12" name="sketch line">
            <a:extLst>
              <a:ext uri="{FF2B5EF4-FFF2-40B4-BE49-F238E27FC236}">
                <a16:creationId xmlns:a16="http://schemas.microsoft.com/office/drawing/2014/main" id="{AA8E46A7-2985-927A-B4EC-E04044C224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C28CA3E1-197D-A4B3-0495-ABA95198C55B}"/>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3408872503"/>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11D3EB0-021E-29FF-5452-108A67C22F5C}"/>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2F143182-40FB-7B63-48C5-9E96B9E132B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52CDA46E-6321-F683-54E8-5698A167FD6A}"/>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031F64CA-33AA-3F06-EFA9-098FE24C6537}"/>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Enable KMS Data Encryption in AKS</a:t>
            </a:r>
          </a:p>
        </p:txBody>
      </p:sp>
      <p:sp>
        <p:nvSpPr>
          <p:cNvPr id="10" name="sketch line">
            <a:extLst>
              <a:ext uri="{FF2B5EF4-FFF2-40B4-BE49-F238E27FC236}">
                <a16:creationId xmlns:a16="http://schemas.microsoft.com/office/drawing/2014/main" id="{40E466EC-6EF7-9EB9-C165-E3720B15B4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126266999"/>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D42DAD9-B010-3E33-4E43-E470FA0975D6}"/>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5D3A1D89-1307-7C26-7810-4A34E5093A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04494E0-2079-6F58-95D8-C10F51050690}"/>
              </a:ext>
            </a:extLst>
          </p:cNvPr>
          <p:cNvSpPr>
            <a:spLocks noGrp="1"/>
          </p:cNvSpPr>
          <p:nvPr>
            <p:ph type="title"/>
          </p:nvPr>
        </p:nvSpPr>
        <p:spPr>
          <a:xfrm>
            <a:off x="669036" y="370098"/>
            <a:ext cx="11970328" cy="1325563"/>
          </a:xfrm>
        </p:spPr>
        <p:txBody>
          <a:bodyPr vert="horz" lIns="91440" tIns="45720" rIns="91440" bIns="45720" rtlCol="0" anchor="ctr">
            <a:normAutofit/>
          </a:bodyPr>
          <a:lstStyle/>
          <a:p>
            <a:r>
              <a:rPr lang="en-US"/>
              <a:t>Use KMS </a:t>
            </a:r>
            <a:r>
              <a:rPr lang="en-US" err="1"/>
              <a:t>etcd</a:t>
            </a:r>
            <a:r>
              <a:rPr lang="en-US"/>
              <a:t> Encryption (legacy)</a:t>
            </a:r>
          </a:p>
        </p:txBody>
      </p:sp>
      <p:sp>
        <p:nvSpPr>
          <p:cNvPr id="12" name="sketch line">
            <a:extLst>
              <a:ext uri="{FF2B5EF4-FFF2-40B4-BE49-F238E27FC236}">
                <a16:creationId xmlns:a16="http://schemas.microsoft.com/office/drawing/2014/main" id="{03B83F29-5E16-00A9-3F7D-26AB7B96C23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ECF9AC40-60E4-F4F0-54DF-F64A5DB6A73E}"/>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619396749"/>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0875BCD-F5A8-41D4-1218-074853EBF140}"/>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24A83115-C22F-D54A-865A-8CE279BA0F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43AE003A-7B29-789F-5896-ABE00D4B2F5A}"/>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B829C5EF-320C-51B5-970D-92D1381F1427}"/>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Use KMS </a:t>
            </a:r>
            <a:r>
              <a:rPr lang="en-US" sz="2400" err="1"/>
              <a:t>etcd</a:t>
            </a:r>
            <a:r>
              <a:rPr lang="en-US" sz="2400"/>
              <a:t> Encryption (legacy)</a:t>
            </a:r>
          </a:p>
        </p:txBody>
      </p:sp>
      <p:sp>
        <p:nvSpPr>
          <p:cNvPr id="10" name="sketch line">
            <a:extLst>
              <a:ext uri="{FF2B5EF4-FFF2-40B4-BE49-F238E27FC236}">
                <a16:creationId xmlns:a16="http://schemas.microsoft.com/office/drawing/2014/main" id="{A267C2AF-6D53-909C-4294-1683A11DF6F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4226886951"/>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5F63C20-DD31-8984-D8AF-EF3AB74F1B4D}"/>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BE172DBD-6D14-06E8-E3CD-8C962F52460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B5FAD50-B143-25B0-70C3-FBDDB046C6A5}"/>
              </a:ext>
            </a:extLst>
          </p:cNvPr>
          <p:cNvSpPr>
            <a:spLocks noGrp="1"/>
          </p:cNvSpPr>
          <p:nvPr>
            <p:ph type="title"/>
          </p:nvPr>
        </p:nvSpPr>
        <p:spPr>
          <a:xfrm>
            <a:off x="669036" y="370098"/>
            <a:ext cx="11970328" cy="1325563"/>
          </a:xfrm>
        </p:spPr>
        <p:txBody>
          <a:bodyPr vert="horz" lIns="91440" tIns="45720" rIns="91440" bIns="45720" rtlCol="0" anchor="ctr">
            <a:normAutofit/>
          </a:bodyPr>
          <a:lstStyle/>
          <a:p>
            <a:r>
              <a:rPr lang="en-US"/>
              <a:t>Update Key Vault Mode</a:t>
            </a:r>
          </a:p>
        </p:txBody>
      </p:sp>
      <p:sp>
        <p:nvSpPr>
          <p:cNvPr id="12" name="sketch line">
            <a:extLst>
              <a:ext uri="{FF2B5EF4-FFF2-40B4-BE49-F238E27FC236}">
                <a16:creationId xmlns:a16="http://schemas.microsoft.com/office/drawing/2014/main" id="{4B28767C-DF7E-E245-099D-73ECFCB9208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ECECE059-573D-B80D-5599-971692FDA1AD}"/>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912377298"/>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F4DAD24-8838-5778-FC24-FFF86A5070EA}"/>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96CDC251-EE9D-6662-1D61-79B6A55DD3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6180AAE1-95E2-D25B-13D4-519FB58F7A89}"/>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FC49BF28-F6C2-4D36-D18F-4AE74E22F962}"/>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Update Key Vault Mode</a:t>
            </a:r>
          </a:p>
        </p:txBody>
      </p:sp>
      <p:sp>
        <p:nvSpPr>
          <p:cNvPr id="10" name="sketch line">
            <a:extLst>
              <a:ext uri="{FF2B5EF4-FFF2-40B4-BE49-F238E27FC236}">
                <a16:creationId xmlns:a16="http://schemas.microsoft.com/office/drawing/2014/main" id="{BBF84ECC-A896-1CE1-9AD3-88E4574B6B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274609636"/>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97882B8-F9D5-9BBE-113D-1DFBB7EBBC6C}"/>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869F2CB7-FDAC-04EB-DFB3-B898C50D7D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F440F23-B954-8B2E-F7B8-558B9984D23F}"/>
              </a:ext>
            </a:extLst>
          </p:cNvPr>
          <p:cNvSpPr>
            <a:spLocks noGrp="1"/>
          </p:cNvSpPr>
          <p:nvPr>
            <p:ph type="title"/>
          </p:nvPr>
        </p:nvSpPr>
        <p:spPr>
          <a:xfrm>
            <a:off x="669036" y="370098"/>
            <a:ext cx="11970328" cy="1325563"/>
          </a:xfrm>
        </p:spPr>
        <p:txBody>
          <a:bodyPr vert="horz" lIns="91440" tIns="45720" rIns="91440" bIns="45720" rtlCol="0" anchor="ctr">
            <a:normAutofit/>
          </a:bodyPr>
          <a:lstStyle/>
          <a:p>
            <a:r>
              <a:rPr lang="en-US"/>
              <a:t>Migrate to KMS v2</a:t>
            </a:r>
          </a:p>
        </p:txBody>
      </p:sp>
      <p:sp>
        <p:nvSpPr>
          <p:cNvPr id="12" name="sketch line">
            <a:extLst>
              <a:ext uri="{FF2B5EF4-FFF2-40B4-BE49-F238E27FC236}">
                <a16:creationId xmlns:a16="http://schemas.microsoft.com/office/drawing/2014/main" id="{5962E6B3-426E-6B6C-CD9F-AF0B388E72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E3BA2BE9-5C10-9AA6-244B-3EDA44387008}"/>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2218327214"/>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CC6D460-9D82-CD91-5DE0-81BDB334AC24}"/>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EFC266E6-992B-D3EC-FD5B-0FEA654E7BA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B96B2191-62E2-9F9E-9208-D773A61C47B0}"/>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A339B23C-1D73-A623-12E6-175AF8397BF1}"/>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Migrate to KMS v2</a:t>
            </a:r>
          </a:p>
        </p:txBody>
      </p:sp>
      <p:sp>
        <p:nvSpPr>
          <p:cNvPr id="10" name="sketch line">
            <a:extLst>
              <a:ext uri="{FF2B5EF4-FFF2-40B4-BE49-F238E27FC236}">
                <a16:creationId xmlns:a16="http://schemas.microsoft.com/office/drawing/2014/main" id="{6386399D-9F71-FB9F-2985-49AFAE38E34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080647595"/>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E805535-E375-30EE-A51C-D515B88F2256}"/>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F051BFE9-74C6-EAC8-48D5-692A7450FDE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56593B1-6DE4-AC45-9DCC-A064EB8682EE}"/>
              </a:ext>
            </a:extLst>
          </p:cNvPr>
          <p:cNvSpPr>
            <a:spLocks noGrp="1"/>
          </p:cNvSpPr>
          <p:nvPr>
            <p:ph type="title"/>
          </p:nvPr>
        </p:nvSpPr>
        <p:spPr>
          <a:xfrm>
            <a:off x="669036" y="370098"/>
            <a:ext cx="11970328" cy="1325563"/>
          </a:xfrm>
        </p:spPr>
        <p:txBody>
          <a:bodyPr vert="horz" lIns="91440" tIns="45720" rIns="91440" bIns="45720" rtlCol="0" anchor="ctr">
            <a:normAutofit/>
          </a:bodyPr>
          <a:lstStyle/>
          <a:p>
            <a:r>
              <a:rPr lang="en-US"/>
              <a:t>Observability for KMS </a:t>
            </a:r>
            <a:r>
              <a:rPr lang="en-US" err="1"/>
              <a:t>etcd</a:t>
            </a:r>
            <a:r>
              <a:rPr lang="en-US"/>
              <a:t> Encryption</a:t>
            </a:r>
          </a:p>
        </p:txBody>
      </p:sp>
      <p:sp>
        <p:nvSpPr>
          <p:cNvPr id="12" name="sketch line">
            <a:extLst>
              <a:ext uri="{FF2B5EF4-FFF2-40B4-BE49-F238E27FC236}">
                <a16:creationId xmlns:a16="http://schemas.microsoft.com/office/drawing/2014/main" id="{F30979DF-3396-7F1B-58B5-7E780188362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05220611-B2AA-651E-AD9A-2EE7AB795CCD}"/>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2735677693"/>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39C45E9-93C1-6DCB-2A69-DEB48C90772E}"/>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C8535CF2-23E3-C6E8-EFAD-736C30607A7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0623CF3-FCAF-38F5-9608-8D0D56C24E74}"/>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5F834D26-A842-57E4-0A0E-37ACBF9F651B}"/>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Observability for KMS </a:t>
            </a:r>
            <a:r>
              <a:rPr lang="en-US" sz="2400" err="1"/>
              <a:t>etcd</a:t>
            </a:r>
            <a:r>
              <a:rPr lang="en-US" sz="2400"/>
              <a:t> Encryption</a:t>
            </a:r>
          </a:p>
        </p:txBody>
      </p:sp>
      <p:sp>
        <p:nvSpPr>
          <p:cNvPr id="10" name="sketch line">
            <a:extLst>
              <a:ext uri="{FF2B5EF4-FFF2-40B4-BE49-F238E27FC236}">
                <a16:creationId xmlns:a16="http://schemas.microsoft.com/office/drawing/2014/main" id="{9F1220B2-37C5-6571-1B94-8A2590704D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891671638"/>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2C3E323-E209-21D5-6D73-A7E33B8F2272}"/>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68FD6ECB-5D03-818D-7087-19C9329EA57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52AC3DE-526F-C32C-95DE-6203F56A4C77}"/>
              </a:ext>
            </a:extLst>
          </p:cNvPr>
          <p:cNvSpPr>
            <a:spLocks noGrp="1"/>
          </p:cNvSpPr>
          <p:nvPr>
            <p:ph type="title"/>
          </p:nvPr>
        </p:nvSpPr>
        <p:spPr>
          <a:xfrm>
            <a:off x="218624" y="370098"/>
            <a:ext cx="11970328" cy="1325563"/>
          </a:xfrm>
        </p:spPr>
        <p:txBody>
          <a:bodyPr vert="horz" lIns="91440" tIns="45720" rIns="91440" bIns="45720" rtlCol="0" anchor="ctr">
            <a:normAutofit/>
          </a:bodyPr>
          <a:lstStyle/>
          <a:p>
            <a:pPr algn="ctr"/>
            <a:r>
              <a:rPr lang="en-US"/>
              <a:t>Migrate to KMS with platform-managed or customer-managed keys</a:t>
            </a:r>
          </a:p>
        </p:txBody>
      </p:sp>
      <p:sp>
        <p:nvSpPr>
          <p:cNvPr id="12" name="sketch line">
            <a:extLst>
              <a:ext uri="{FF2B5EF4-FFF2-40B4-BE49-F238E27FC236}">
                <a16:creationId xmlns:a16="http://schemas.microsoft.com/office/drawing/2014/main" id="{6CB05001-2A58-15F3-A174-EF656EB388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AAE76AC4-E8D3-9A1C-8CED-E818092EC8DC}"/>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3655580176"/>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AC64A2E-9A8E-6DE9-1EDD-C7F2ABD47B08}"/>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2E5E802-362E-B2DE-8B44-E73F9C925BD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0582D9AF-DC75-8923-7028-1CF3D17A84C2}"/>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93E7E024-CD43-E8E5-2EB5-2608B1F436C5}"/>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Migrate to KMS with platform-managed or customer-managed keys</a:t>
            </a:r>
          </a:p>
        </p:txBody>
      </p:sp>
      <p:sp>
        <p:nvSpPr>
          <p:cNvPr id="10" name="sketch line">
            <a:extLst>
              <a:ext uri="{FF2B5EF4-FFF2-40B4-BE49-F238E27FC236}">
                <a16:creationId xmlns:a16="http://schemas.microsoft.com/office/drawing/2014/main" id="{9E158EFE-808E-9FBF-531D-6BD79602EF9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63585888"/>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D6C33EC-85A0-15CF-C39A-C30BCAA3B40F}"/>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66686D0D-471A-05B8-CED9-5FD372EE3C6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6A47782-2A7B-36C2-AC70-E548B52C38DC}"/>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a:t>Secure Container Access to Resources</a:t>
            </a:r>
          </a:p>
        </p:txBody>
      </p:sp>
      <p:sp>
        <p:nvSpPr>
          <p:cNvPr id="12" name="sketch line">
            <a:extLst>
              <a:ext uri="{FF2B5EF4-FFF2-40B4-BE49-F238E27FC236}">
                <a16:creationId xmlns:a16="http://schemas.microsoft.com/office/drawing/2014/main" id="{DF621B76-B9C5-ABDE-B301-17F977759EE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03A3D72C-CD9C-87E4-E65E-DB29C6A27898}"/>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3433170042"/>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F695E67-6D20-B26C-E329-D5410016F33A}"/>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A3ECBCC-67F2-E109-676B-BEE46648250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E2093303-5F21-6038-7F38-720DAABC781D}"/>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A8D9DD14-7E8D-16A1-5B7B-FF0A3AE15E12}"/>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Secure Container Access to Resources</a:t>
            </a:r>
          </a:p>
        </p:txBody>
      </p:sp>
      <p:sp>
        <p:nvSpPr>
          <p:cNvPr id="10" name="sketch line">
            <a:extLst>
              <a:ext uri="{FF2B5EF4-FFF2-40B4-BE49-F238E27FC236}">
                <a16:creationId xmlns:a16="http://schemas.microsoft.com/office/drawing/2014/main" id="{CE8AA58C-A5FE-EC75-1E39-5E1DD5BE1E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117660943"/>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480FDFA-E84E-7690-7889-F372EEC5D3F3}"/>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E9AA50BE-FA30-3DAA-B52B-C9CFD6C62B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useBgFill="1">
        <p:nvSpPr>
          <p:cNvPr id="9" name="Freeform: Shape 8">
            <a:extLst>
              <a:ext uri="{FF2B5EF4-FFF2-40B4-BE49-F238E27FC236}">
                <a16:creationId xmlns:a16="http://schemas.microsoft.com/office/drawing/2014/main" id="{4C5471C7-C3B5-CF43-C83C-1EF36A1B264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14425" y="0"/>
            <a:ext cx="9963150"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solidFill>
              <a:srgbClr val="EFEFEF"/>
            </a:solidFill>
          </a:ln>
          <a:effectLst>
            <a:outerShdw blurRad="139700" sx="102000" sy="102000" algn="ctr" rotWithShape="0">
              <a:schemeClr val="bg1">
                <a:lumMod val="85000"/>
                <a:alpha val="38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1" name="Freeform: Shape 10">
            <a:extLst>
              <a:ext uri="{FF2B5EF4-FFF2-40B4-BE49-F238E27FC236}">
                <a16:creationId xmlns:a16="http://schemas.microsoft.com/office/drawing/2014/main" id="{94AD0AFD-A341-0469-5F86-1B8215B103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1664" y="0"/>
            <a:ext cx="9948672"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F7AC4A93-B7EE-F575-0876-C5528CDCAFF7}"/>
              </a:ext>
            </a:extLst>
          </p:cNvPr>
          <p:cNvSpPr>
            <a:spLocks noGrp="1"/>
          </p:cNvSpPr>
          <p:nvPr>
            <p:ph type="title"/>
          </p:nvPr>
        </p:nvSpPr>
        <p:spPr>
          <a:xfrm>
            <a:off x="1524003" y="1999615"/>
            <a:ext cx="9144000" cy="2764028"/>
          </a:xfrm>
        </p:spPr>
        <p:txBody>
          <a:bodyPr vert="horz" lIns="91440" tIns="45720" rIns="91440" bIns="45720" rtlCol="0" anchor="ctr">
            <a:normAutofit/>
          </a:bodyPr>
          <a:lstStyle/>
          <a:p>
            <a:pPr algn="ctr"/>
            <a:r>
              <a:rPr lang="en-US" sz="7200" kern="1200">
                <a:solidFill>
                  <a:schemeClr val="tx1"/>
                </a:solidFill>
                <a:latin typeface="+mj-lt"/>
                <a:ea typeface="+mj-ea"/>
                <a:cs typeface="+mj-cs"/>
              </a:rPr>
              <a:t>Node Security</a:t>
            </a:r>
          </a:p>
        </p:txBody>
      </p:sp>
      <p:sp>
        <p:nvSpPr>
          <p:cNvPr id="13" name="Rectangle 12">
            <a:extLst>
              <a:ext uri="{FF2B5EF4-FFF2-40B4-BE49-F238E27FC236}">
                <a16:creationId xmlns:a16="http://schemas.microsoft.com/office/drawing/2014/main" id="{9F524FBA-93F1-241C-C4FF-7BEBD796F01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718560" y="5524786"/>
            <a:ext cx="4754880" cy="2743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732482201"/>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2CD789C-8A02-928B-445C-EED63BC631D2}"/>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7187F4B7-5DCC-B97E-C3E7-8361FA658D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4278C30-F80C-E9CD-0B13-C82E91A9B2F4}"/>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a:t>BYOK for Azure Managed Disks</a:t>
            </a:r>
          </a:p>
        </p:txBody>
      </p:sp>
      <p:sp>
        <p:nvSpPr>
          <p:cNvPr id="12" name="sketch line">
            <a:extLst>
              <a:ext uri="{FF2B5EF4-FFF2-40B4-BE49-F238E27FC236}">
                <a16:creationId xmlns:a16="http://schemas.microsoft.com/office/drawing/2014/main" id="{FC60B467-9622-3583-3711-5A045E392ED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71460966-41CC-E561-655E-918A8C5EB14B}"/>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2494407508"/>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971BA2A-BDCC-3847-C40A-42BDF27C0576}"/>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A2A9D59B-80CE-4EB5-9936-6E13FAEBA29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ED18480F-3CD2-A5A7-0990-9ADCBE77F231}"/>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F6B31FCA-5C6A-7A4A-671D-ED1561E316E6}"/>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BYOK for Azure Managed Disks</a:t>
            </a:r>
          </a:p>
        </p:txBody>
      </p:sp>
      <p:sp>
        <p:nvSpPr>
          <p:cNvPr id="10" name="sketch line">
            <a:extLst>
              <a:ext uri="{FF2B5EF4-FFF2-40B4-BE49-F238E27FC236}">
                <a16:creationId xmlns:a16="http://schemas.microsoft.com/office/drawing/2014/main" id="{F4B76B3B-885C-46B8-D2F9-DDB29B9E0B0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392893032"/>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3E40F7A-FE0B-B15F-44B7-69258BBFD774}"/>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DD386780-A32E-C419-27FC-B8A12BCFB4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4529016-411B-29A8-6DF7-BD7E5999DBCB}"/>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a:t>Enable Host-Based Encryption</a:t>
            </a:r>
          </a:p>
        </p:txBody>
      </p:sp>
      <p:sp>
        <p:nvSpPr>
          <p:cNvPr id="12" name="sketch line">
            <a:extLst>
              <a:ext uri="{FF2B5EF4-FFF2-40B4-BE49-F238E27FC236}">
                <a16:creationId xmlns:a16="http://schemas.microsoft.com/office/drawing/2014/main" id="{24C91E1E-B4B5-0954-AF05-7E276A4A2A5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3370DE98-93F2-096F-2351-39818F4B1234}"/>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872960326"/>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1D095FE-289C-3D49-8B7D-525BC807A8DC}"/>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BA58CC9-6CBF-D653-AC57-B151A98704E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1C996C4-554B-C62D-8E41-18BB03555890}"/>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7C10A282-A442-0FC0-0890-6DC51F11A43D}"/>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Enable Host-Based Encryption</a:t>
            </a:r>
          </a:p>
        </p:txBody>
      </p:sp>
      <p:sp>
        <p:nvSpPr>
          <p:cNvPr id="10" name="sketch line">
            <a:extLst>
              <a:ext uri="{FF2B5EF4-FFF2-40B4-BE49-F238E27FC236}">
                <a16:creationId xmlns:a16="http://schemas.microsoft.com/office/drawing/2014/main" id="{AB1F8540-47C4-D744-59FA-D792121CE4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705612154"/>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CFD627E-C938-E3C4-B254-3E973486CC69}"/>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9931121-E41F-00E8-113D-2DF70947856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88E3BF7-4848-A0F4-0E98-902EC029F819}"/>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a:t>Enable FIPS</a:t>
            </a:r>
          </a:p>
        </p:txBody>
      </p:sp>
      <p:sp>
        <p:nvSpPr>
          <p:cNvPr id="12" name="sketch line">
            <a:extLst>
              <a:ext uri="{FF2B5EF4-FFF2-40B4-BE49-F238E27FC236}">
                <a16:creationId xmlns:a16="http://schemas.microsoft.com/office/drawing/2014/main" id="{F1C53400-6881-8A13-CFAC-65DC269602D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18ECAF4B-4A1B-DE5F-3450-3735C78E377F}"/>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2766438198"/>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1CD99EC-98EC-1163-E417-4F298B641278}"/>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28D648E8-01B8-20A3-7EBC-6B9A777FD61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CE76EB6F-8B45-B61F-4487-D51E30E95892}"/>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4BE5E963-4A97-452F-EDEC-C8A8C2431CB4}"/>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Enable FIPS</a:t>
            </a:r>
          </a:p>
        </p:txBody>
      </p:sp>
      <p:sp>
        <p:nvSpPr>
          <p:cNvPr id="10" name="sketch line">
            <a:extLst>
              <a:ext uri="{FF2B5EF4-FFF2-40B4-BE49-F238E27FC236}">
                <a16:creationId xmlns:a16="http://schemas.microsoft.com/office/drawing/2014/main" id="{1F57534C-63D1-8210-9548-F8D18ADB776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677723609"/>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D6F137A-0238-34D0-D2C2-2089FB7B7359}"/>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4CC3656D-6447-AD47-9C2A-0A71BD55C4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E438D88-E9B2-9709-DB03-ABDA84990153}"/>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a:t>Use Confidential Virtual Machines</a:t>
            </a:r>
          </a:p>
        </p:txBody>
      </p:sp>
      <p:sp>
        <p:nvSpPr>
          <p:cNvPr id="12" name="sketch line">
            <a:extLst>
              <a:ext uri="{FF2B5EF4-FFF2-40B4-BE49-F238E27FC236}">
                <a16:creationId xmlns:a16="http://schemas.microsoft.com/office/drawing/2014/main" id="{C0CD7C28-0EF9-9703-D8EB-FE4C517A42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D05C57C8-0341-5659-9DDB-7C8ADD9D0D79}"/>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2421465901"/>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E62387F-1129-D54C-60DD-2777AD789B56}"/>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C2CE039C-746E-A2BB-4875-92F4586BC85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65022FB6-D48A-8730-6BF9-23508426D4D8}"/>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14E14945-C01D-F91E-0DE1-092A1C57EE77}"/>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Use Confidential Virtual Machines</a:t>
            </a:r>
          </a:p>
        </p:txBody>
      </p:sp>
      <p:sp>
        <p:nvSpPr>
          <p:cNvPr id="10" name="sketch line">
            <a:extLst>
              <a:ext uri="{FF2B5EF4-FFF2-40B4-BE49-F238E27FC236}">
                <a16:creationId xmlns:a16="http://schemas.microsoft.com/office/drawing/2014/main" id="{1EAEE87B-FA9E-52A5-5436-62C2D4217F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608174313"/>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1C53032-3F8C-81CE-0036-540A09873316}"/>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600E6DB3-C71C-7E91-72F3-A181D42D17B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E204D50-385C-C1C5-582A-43E181C4172A}"/>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a:t>Use Dedicated Hosts with AKS</a:t>
            </a:r>
          </a:p>
        </p:txBody>
      </p:sp>
      <p:sp>
        <p:nvSpPr>
          <p:cNvPr id="12" name="sketch line">
            <a:extLst>
              <a:ext uri="{FF2B5EF4-FFF2-40B4-BE49-F238E27FC236}">
                <a16:creationId xmlns:a16="http://schemas.microsoft.com/office/drawing/2014/main" id="{8BEF8354-E463-0DE6-A44F-CCEF9FAEDA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10835888-A9E9-DDCA-3076-D2BFFF0ED007}"/>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3624863360"/>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3AB7844-7021-474B-3CFB-F2EE0694C20E}"/>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A5EEE586-CBBF-4B8C-814E-3180D3DD2EB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C31DAE2B-027B-1326-15AF-FCA54B888D87}"/>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D4C5807D-0221-B095-4AB4-023EC946FFF9}"/>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Use Dedicated Hosts with AKS</a:t>
            </a:r>
          </a:p>
        </p:txBody>
      </p:sp>
      <p:sp>
        <p:nvSpPr>
          <p:cNvPr id="10" name="sketch line">
            <a:extLst>
              <a:ext uri="{FF2B5EF4-FFF2-40B4-BE49-F238E27FC236}">
                <a16:creationId xmlns:a16="http://schemas.microsoft.com/office/drawing/2014/main" id="{CDCDFEBF-B04F-2342-CB73-3F503524AD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129785408"/>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75BDDE7-E183-E909-9433-E056382D9E76}"/>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63C42DB1-72E8-4724-59B1-54960C1969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4E6EB84-D2E4-AE8C-73A6-CA40DBD2FFE6}"/>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a:t>Restrict access to IMDS</a:t>
            </a:r>
          </a:p>
        </p:txBody>
      </p:sp>
      <p:sp>
        <p:nvSpPr>
          <p:cNvPr id="12" name="sketch line">
            <a:extLst>
              <a:ext uri="{FF2B5EF4-FFF2-40B4-BE49-F238E27FC236}">
                <a16:creationId xmlns:a16="http://schemas.microsoft.com/office/drawing/2014/main" id="{905306E4-85E5-A370-11C8-108D2C413A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7DBCE9F9-4FEB-3EBB-AB53-6F01AA9A3C4E}"/>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2334668034"/>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4A33B36-D49F-2633-948B-DC03F1661294}"/>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C6B0483D-AF39-6943-0B79-EE291F47761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3571D93A-D87C-955E-8E14-364F09281F0D}"/>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A75FA813-03E3-BAED-7121-F1D15D0F9BAC}"/>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Restrict access to IMDS</a:t>
            </a:r>
          </a:p>
        </p:txBody>
      </p:sp>
      <p:sp>
        <p:nvSpPr>
          <p:cNvPr id="10" name="sketch line">
            <a:extLst>
              <a:ext uri="{FF2B5EF4-FFF2-40B4-BE49-F238E27FC236}">
                <a16:creationId xmlns:a16="http://schemas.microsoft.com/office/drawing/2014/main" id="{C51EAE23-85AB-FD16-6906-DB3F9CE576E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708996564"/>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1DC237E-10D7-517D-BD76-EBC7E427B5BC}"/>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CDEC9E65-BEDC-0705-AE16-470454D4498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useBgFill="1">
        <p:nvSpPr>
          <p:cNvPr id="9" name="Freeform: Shape 8">
            <a:extLst>
              <a:ext uri="{FF2B5EF4-FFF2-40B4-BE49-F238E27FC236}">
                <a16:creationId xmlns:a16="http://schemas.microsoft.com/office/drawing/2014/main" id="{E0DE6B9B-4881-601E-06BE-142ACBB3735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14425" y="0"/>
            <a:ext cx="9963150"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solidFill>
              <a:srgbClr val="EFEFEF"/>
            </a:solidFill>
          </a:ln>
          <a:effectLst>
            <a:outerShdw blurRad="139700" sx="102000" sy="102000" algn="ctr" rotWithShape="0">
              <a:schemeClr val="bg1">
                <a:lumMod val="85000"/>
                <a:alpha val="38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1" name="Freeform: Shape 10">
            <a:extLst>
              <a:ext uri="{FF2B5EF4-FFF2-40B4-BE49-F238E27FC236}">
                <a16:creationId xmlns:a16="http://schemas.microsoft.com/office/drawing/2014/main" id="{E35DE1CA-FFBE-0C40-713D-0DF218DE0B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1664" y="0"/>
            <a:ext cx="9948672"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C4519881-E390-935D-6752-729AB6A35CBD}"/>
              </a:ext>
            </a:extLst>
          </p:cNvPr>
          <p:cNvSpPr>
            <a:spLocks noGrp="1"/>
          </p:cNvSpPr>
          <p:nvPr>
            <p:ph type="title"/>
          </p:nvPr>
        </p:nvSpPr>
        <p:spPr>
          <a:xfrm>
            <a:off x="1524003" y="1999615"/>
            <a:ext cx="9144000" cy="2764028"/>
          </a:xfrm>
        </p:spPr>
        <p:txBody>
          <a:bodyPr vert="horz" lIns="91440" tIns="45720" rIns="91440" bIns="45720" rtlCol="0" anchor="ctr">
            <a:normAutofit/>
          </a:bodyPr>
          <a:lstStyle/>
          <a:p>
            <a:pPr algn="ctr"/>
            <a:r>
              <a:rPr lang="en-US" sz="7200" kern="1200">
                <a:solidFill>
                  <a:schemeClr val="tx1"/>
                </a:solidFill>
                <a:latin typeface="+mj-lt"/>
                <a:ea typeface="+mj-ea"/>
                <a:cs typeface="+mj-cs"/>
              </a:rPr>
              <a:t>Authentication and Authorization</a:t>
            </a:r>
          </a:p>
        </p:txBody>
      </p:sp>
      <p:sp>
        <p:nvSpPr>
          <p:cNvPr id="13" name="Rectangle 12">
            <a:extLst>
              <a:ext uri="{FF2B5EF4-FFF2-40B4-BE49-F238E27FC236}">
                <a16:creationId xmlns:a16="http://schemas.microsoft.com/office/drawing/2014/main" id="{9293DA3B-ED1E-2375-CBF7-F73AE2FAE8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718560" y="5524786"/>
            <a:ext cx="4754880" cy="2743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559330175"/>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2F9BD3E-4127-F031-7F93-76DAAEFC2F9F}"/>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5B0EF436-3844-C8FD-24DF-6F901DAE4F1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244BD9B-8506-F9ED-2258-0EA3D25098FC}"/>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a:t>Access and Identity Concepts</a:t>
            </a:r>
          </a:p>
        </p:txBody>
      </p:sp>
      <p:sp>
        <p:nvSpPr>
          <p:cNvPr id="12" name="sketch line">
            <a:extLst>
              <a:ext uri="{FF2B5EF4-FFF2-40B4-BE49-F238E27FC236}">
                <a16:creationId xmlns:a16="http://schemas.microsoft.com/office/drawing/2014/main" id="{4A667698-3AE3-65EA-9569-D66411774F6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4C3C2E66-B1D6-3716-04C9-789981903364}"/>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673323225"/>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3EDB95D-E335-EE9D-8EE5-E8491F0D04C1}"/>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337D4573-DAB8-0CDA-F045-C7634B66BD8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E0B9DDA-6C2F-97BF-A253-ADBC6A744D97}"/>
              </a:ext>
            </a:extLst>
          </p:cNvPr>
          <p:cNvSpPr>
            <a:spLocks noGrp="1"/>
          </p:cNvSpPr>
          <p:nvPr>
            <p:ph type="title"/>
          </p:nvPr>
        </p:nvSpPr>
        <p:spPr>
          <a:xfrm>
            <a:off x="669036" y="370098"/>
            <a:ext cx="11023092" cy="1325563"/>
          </a:xfrm>
        </p:spPr>
        <p:txBody>
          <a:bodyPr vert="horz" lIns="91440" tIns="45720" rIns="91440" bIns="45720" rtlCol="0" anchor="ctr">
            <a:normAutofit/>
          </a:bodyPr>
          <a:lstStyle/>
          <a:p>
            <a:r>
              <a:rPr lang="en-US"/>
              <a:t>Authentication and authorization best practices</a:t>
            </a:r>
          </a:p>
        </p:txBody>
      </p:sp>
      <p:sp>
        <p:nvSpPr>
          <p:cNvPr id="12" name="sketch line">
            <a:extLst>
              <a:ext uri="{FF2B5EF4-FFF2-40B4-BE49-F238E27FC236}">
                <a16:creationId xmlns:a16="http://schemas.microsoft.com/office/drawing/2014/main" id="{C3F2413B-69FB-C0BA-1076-87D122C99FC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43E24745-0036-DDCB-F1FC-0F49360E7EDB}"/>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2696781380"/>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40B1BB9-5692-1E77-48F7-CF34DE3B8DAD}"/>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A26B6FFF-436E-0346-0507-EF5A2C5C31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470DD9C-870A-AD96-3D7E-B08966941582}"/>
              </a:ext>
            </a:extLst>
          </p:cNvPr>
          <p:cNvSpPr>
            <a:spLocks noGrp="1"/>
          </p:cNvSpPr>
          <p:nvPr>
            <p:ph type="title"/>
          </p:nvPr>
        </p:nvSpPr>
        <p:spPr>
          <a:xfrm>
            <a:off x="669036" y="370098"/>
            <a:ext cx="11023092" cy="1325563"/>
          </a:xfrm>
        </p:spPr>
        <p:txBody>
          <a:bodyPr vert="horz" lIns="91440" tIns="45720" rIns="91440" bIns="45720" rtlCol="0" anchor="ctr">
            <a:normAutofit/>
          </a:bodyPr>
          <a:lstStyle/>
          <a:p>
            <a:r>
              <a:rPr lang="en-US"/>
              <a:t>Use Managed Identities</a:t>
            </a:r>
          </a:p>
        </p:txBody>
      </p:sp>
      <p:sp>
        <p:nvSpPr>
          <p:cNvPr id="12" name="sketch line">
            <a:extLst>
              <a:ext uri="{FF2B5EF4-FFF2-40B4-BE49-F238E27FC236}">
                <a16:creationId xmlns:a16="http://schemas.microsoft.com/office/drawing/2014/main" id="{3581C335-670A-1079-06CE-8A004A54D4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609D04B8-3D82-6AC4-4F17-1AC310A00574}"/>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2868353566"/>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F914EC1-01D2-34B4-7317-47AA6F45AF1A}"/>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8FC02DFD-0ABE-2739-0527-9230AF5BC8A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BD57A790-205F-A602-2AB4-42F0C832CE3D}"/>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E63E2F6C-42FD-4189-E355-29CF42B2CBC0}"/>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Use Managed Identities</a:t>
            </a:r>
          </a:p>
        </p:txBody>
      </p:sp>
      <p:sp>
        <p:nvSpPr>
          <p:cNvPr id="10" name="sketch line">
            <a:extLst>
              <a:ext uri="{FF2B5EF4-FFF2-40B4-BE49-F238E27FC236}">
                <a16:creationId xmlns:a16="http://schemas.microsoft.com/office/drawing/2014/main" id="{39A124B8-A378-4126-9BF8-EB9DC2B7E30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57492926"/>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464CAB7-0BB2-EB3E-A5A5-8270BCCB9A6E}"/>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793BD976-DFCA-04B3-53F8-390FDAC102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A798924-D08C-721D-6A87-28CE0839F2FB}"/>
              </a:ext>
            </a:extLst>
          </p:cNvPr>
          <p:cNvSpPr>
            <a:spLocks noGrp="1"/>
          </p:cNvSpPr>
          <p:nvPr>
            <p:ph type="title"/>
          </p:nvPr>
        </p:nvSpPr>
        <p:spPr>
          <a:xfrm>
            <a:off x="669036" y="370098"/>
            <a:ext cx="11023092" cy="1325563"/>
          </a:xfrm>
        </p:spPr>
        <p:txBody>
          <a:bodyPr vert="horz" lIns="91440" tIns="45720" rIns="91440" bIns="45720" rtlCol="0" anchor="ctr">
            <a:normAutofit/>
          </a:bodyPr>
          <a:lstStyle/>
          <a:p>
            <a:r>
              <a:rPr lang="en-US"/>
              <a:t>Create Service Principal</a:t>
            </a:r>
          </a:p>
        </p:txBody>
      </p:sp>
      <p:sp>
        <p:nvSpPr>
          <p:cNvPr id="12" name="sketch line">
            <a:extLst>
              <a:ext uri="{FF2B5EF4-FFF2-40B4-BE49-F238E27FC236}">
                <a16:creationId xmlns:a16="http://schemas.microsoft.com/office/drawing/2014/main" id="{7E3F1343-1D41-8B61-C928-63D8A361E3B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506D1E63-8882-7173-2E19-195ED7D1610C}"/>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727200279"/>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3052188-C5D5-A228-E4A9-10B86271D8C4}"/>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724A8D96-26A0-1B53-C0FA-A5486211251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A1ABAA5-8E75-DE48-ECF2-8F2B4CB3AC41}"/>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47D51C69-B98A-C7C2-0DDC-7683E42CE4A4}"/>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Create Service Principal</a:t>
            </a:r>
          </a:p>
        </p:txBody>
      </p:sp>
      <p:sp>
        <p:nvSpPr>
          <p:cNvPr id="10" name="sketch line">
            <a:extLst>
              <a:ext uri="{FF2B5EF4-FFF2-40B4-BE49-F238E27FC236}">
                <a16:creationId xmlns:a16="http://schemas.microsoft.com/office/drawing/2014/main" id="{9E9DD8E6-88A4-6538-175E-8B94F8D64C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994901286"/>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35322E7-CCBF-310A-216D-5B0D833A5B41}"/>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A8D8C152-5395-0723-3A4A-9894B5391F8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6899A72-703E-7AEB-632A-97540EB6FFEC}"/>
              </a:ext>
            </a:extLst>
          </p:cNvPr>
          <p:cNvSpPr>
            <a:spLocks noGrp="1"/>
          </p:cNvSpPr>
          <p:nvPr>
            <p:ph type="title"/>
          </p:nvPr>
        </p:nvSpPr>
        <p:spPr>
          <a:xfrm>
            <a:off x="669036" y="370098"/>
            <a:ext cx="11519916" cy="1325563"/>
          </a:xfrm>
        </p:spPr>
        <p:txBody>
          <a:bodyPr vert="horz" lIns="91440" tIns="45720" rIns="91440" bIns="45720" rtlCol="0" anchor="ctr">
            <a:normAutofit/>
          </a:bodyPr>
          <a:lstStyle/>
          <a:p>
            <a:r>
              <a:rPr lang="en-US"/>
              <a:t>Enable AKS-Managed Microsoft Entra Integration</a:t>
            </a:r>
          </a:p>
        </p:txBody>
      </p:sp>
      <p:sp>
        <p:nvSpPr>
          <p:cNvPr id="12" name="sketch line">
            <a:extLst>
              <a:ext uri="{FF2B5EF4-FFF2-40B4-BE49-F238E27FC236}">
                <a16:creationId xmlns:a16="http://schemas.microsoft.com/office/drawing/2014/main" id="{16070F2D-FBD3-183A-2285-4FAA0D156D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CDADD536-D1F9-5F42-BC18-0DFEF99EBA7D}"/>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2669225241"/>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0D23E56-D00A-8321-E58B-1170D9C35F86}"/>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2109C12C-12F6-E7BA-930E-BDA1A0AB15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5259E0C2-E262-8069-2D0F-F1DEE4C4A05C}"/>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C8A5B698-4BD1-FEF1-E937-773AB1F1BC17}"/>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Enable AKS-Managed Microsoft Entra Integration</a:t>
            </a:r>
          </a:p>
        </p:txBody>
      </p:sp>
      <p:sp>
        <p:nvSpPr>
          <p:cNvPr id="10" name="sketch line">
            <a:extLst>
              <a:ext uri="{FF2B5EF4-FFF2-40B4-BE49-F238E27FC236}">
                <a16:creationId xmlns:a16="http://schemas.microsoft.com/office/drawing/2014/main" id="{6792C811-A43E-79BB-2DEB-EE3F8018F17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625981192"/>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00DAC57-8B52-913F-B376-FD31A2ECF982}"/>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DE756CB4-29A5-239B-93BE-FA8238D7F96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EC3E7E8-EFFD-5E94-9A11-1567908009C0}"/>
              </a:ext>
            </a:extLst>
          </p:cNvPr>
          <p:cNvSpPr>
            <a:spLocks noGrp="1"/>
          </p:cNvSpPr>
          <p:nvPr>
            <p:ph type="title"/>
          </p:nvPr>
        </p:nvSpPr>
        <p:spPr>
          <a:xfrm>
            <a:off x="669036" y="370098"/>
            <a:ext cx="11519916" cy="1325563"/>
          </a:xfrm>
        </p:spPr>
        <p:txBody>
          <a:bodyPr vert="horz" lIns="91440" tIns="45720" rIns="91440" bIns="45720" rtlCol="0" anchor="ctr">
            <a:normAutofit/>
          </a:bodyPr>
          <a:lstStyle/>
          <a:p>
            <a:r>
              <a:rPr lang="en-US"/>
              <a:t>Manage Local Accounts</a:t>
            </a:r>
          </a:p>
        </p:txBody>
      </p:sp>
      <p:sp>
        <p:nvSpPr>
          <p:cNvPr id="12" name="sketch line">
            <a:extLst>
              <a:ext uri="{FF2B5EF4-FFF2-40B4-BE49-F238E27FC236}">
                <a16:creationId xmlns:a16="http://schemas.microsoft.com/office/drawing/2014/main" id="{0A704B35-EAD6-716D-D5D6-9206A2CC0EC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B888EAC5-DF5B-56FD-04D7-B0308B629FB5}"/>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3879214572"/>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4C6D0DD-A43D-DAFE-67D9-35AB8C4D2604}"/>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E6A0B03-D33F-9CA7-102C-C8B3D25E5BF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C67C3DFA-9D2E-58F3-AAA4-B8D250FC9FD2}"/>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0709302D-4092-AD1B-8CF1-452AE8FBF113}"/>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Manage Local Accounts</a:t>
            </a:r>
          </a:p>
        </p:txBody>
      </p:sp>
      <p:sp>
        <p:nvSpPr>
          <p:cNvPr id="10" name="sketch line">
            <a:extLst>
              <a:ext uri="{FF2B5EF4-FFF2-40B4-BE49-F238E27FC236}">
                <a16:creationId xmlns:a16="http://schemas.microsoft.com/office/drawing/2014/main" id="{4C155BA1-CDA4-9A69-A688-79165F3A74D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913110016"/>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7446588-A876-CC5D-201E-920A796343BE}"/>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3F5ADFCB-A8EA-8686-75DE-AC3A61DD024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DFD5262-9B91-7892-8EBC-CE5562186096}"/>
              </a:ext>
            </a:extLst>
          </p:cNvPr>
          <p:cNvSpPr>
            <a:spLocks noGrp="1"/>
          </p:cNvSpPr>
          <p:nvPr>
            <p:ph type="title"/>
          </p:nvPr>
        </p:nvSpPr>
        <p:spPr>
          <a:xfrm>
            <a:off x="669036" y="370098"/>
            <a:ext cx="11519916" cy="1325563"/>
          </a:xfrm>
        </p:spPr>
        <p:txBody>
          <a:bodyPr vert="horz" lIns="91440" tIns="45720" rIns="91440" bIns="45720" rtlCol="0" anchor="ctr">
            <a:normAutofit/>
          </a:bodyPr>
          <a:lstStyle/>
          <a:p>
            <a:pPr algn="ctr"/>
            <a:r>
              <a:rPr lang="en-US"/>
              <a:t>Cluster and Node Access Control with Conditional Access</a:t>
            </a:r>
          </a:p>
        </p:txBody>
      </p:sp>
      <p:sp>
        <p:nvSpPr>
          <p:cNvPr id="12" name="sketch line">
            <a:extLst>
              <a:ext uri="{FF2B5EF4-FFF2-40B4-BE49-F238E27FC236}">
                <a16:creationId xmlns:a16="http://schemas.microsoft.com/office/drawing/2014/main" id="{E2AD23F1-1621-7B3E-97E5-2F6427B6AD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7E019660-069F-AB19-12AA-FE3258A56608}"/>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3560979398"/>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605878B-8575-36DA-4E5A-A4DDDC3034CB}"/>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55EF851D-A7C8-720D-40E2-B853E626D12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B0470666-273C-7645-DA6D-00792F173084}"/>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082A56D0-BD8F-C72C-87D2-D304008CB7F4}"/>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Cluster and Node Access Control with Conditional Access</a:t>
            </a:r>
          </a:p>
        </p:txBody>
      </p:sp>
      <p:sp>
        <p:nvSpPr>
          <p:cNvPr id="10" name="sketch line">
            <a:extLst>
              <a:ext uri="{FF2B5EF4-FFF2-40B4-BE49-F238E27FC236}">
                <a16:creationId xmlns:a16="http://schemas.microsoft.com/office/drawing/2014/main" id="{6C80448A-2C55-3836-3116-A50117A8785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941513886"/>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C7F5460-7A50-D7B2-5702-90BA06E35345}"/>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9BE6D18B-9742-298E-1244-ACE111A6176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849C530-B214-3AE7-2CD3-D5E9D9371CAC}"/>
              </a:ext>
            </a:extLst>
          </p:cNvPr>
          <p:cNvSpPr>
            <a:spLocks noGrp="1"/>
          </p:cNvSpPr>
          <p:nvPr>
            <p:ph type="title"/>
          </p:nvPr>
        </p:nvSpPr>
        <p:spPr>
          <a:xfrm>
            <a:off x="669036" y="370098"/>
            <a:ext cx="11519916" cy="1325563"/>
          </a:xfrm>
        </p:spPr>
        <p:txBody>
          <a:bodyPr vert="horz" lIns="91440" tIns="45720" rIns="91440" bIns="45720" rtlCol="0" anchor="ctr">
            <a:normAutofit/>
          </a:bodyPr>
          <a:lstStyle/>
          <a:p>
            <a:pPr algn="ctr"/>
            <a:r>
              <a:rPr lang="en-US"/>
              <a:t>Cluster and node access control with Privileged Identity Management</a:t>
            </a:r>
          </a:p>
        </p:txBody>
      </p:sp>
      <p:sp>
        <p:nvSpPr>
          <p:cNvPr id="12" name="sketch line">
            <a:extLst>
              <a:ext uri="{FF2B5EF4-FFF2-40B4-BE49-F238E27FC236}">
                <a16:creationId xmlns:a16="http://schemas.microsoft.com/office/drawing/2014/main" id="{E6DEFF0A-B47B-839E-176D-FF34DB11686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2D4E1643-D479-BD96-4D0A-BE513091FE31}"/>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2295156945"/>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0C046A1-5B55-90CF-E8DC-C8954898377A}"/>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80450CAD-FCED-8B56-7FB3-9E6A7FA5DE8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3A45418B-61F2-DCA5-D12E-208EC6DCF5EC}"/>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8BBBDD78-E151-DE20-6BB3-44A8444936C1}"/>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Cluster and Node Access Control with Privileged Identity Management</a:t>
            </a:r>
          </a:p>
        </p:txBody>
      </p:sp>
      <p:sp>
        <p:nvSpPr>
          <p:cNvPr id="10" name="sketch line">
            <a:extLst>
              <a:ext uri="{FF2B5EF4-FFF2-40B4-BE49-F238E27FC236}">
                <a16:creationId xmlns:a16="http://schemas.microsoft.com/office/drawing/2014/main" id="{50E7C93D-FE4C-91A0-0E79-3E6FCA0BFD5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704828951"/>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C612873-A345-0D65-92AA-CA1085345C60}"/>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D066490C-F20D-6FF6-E04C-18999967411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CDD7FE2-57DE-11BD-C7FC-5B0B78B90CB2}"/>
              </a:ext>
            </a:extLst>
          </p:cNvPr>
          <p:cNvSpPr>
            <a:spLocks noGrp="1"/>
          </p:cNvSpPr>
          <p:nvPr>
            <p:ph type="title"/>
          </p:nvPr>
        </p:nvSpPr>
        <p:spPr>
          <a:xfrm>
            <a:off x="669036" y="370098"/>
            <a:ext cx="11519916" cy="1325563"/>
          </a:xfrm>
        </p:spPr>
        <p:txBody>
          <a:bodyPr vert="horz" lIns="91440" tIns="45720" rIns="91440" bIns="45720" rtlCol="0" anchor="ctr">
            <a:normAutofit/>
          </a:bodyPr>
          <a:lstStyle/>
          <a:p>
            <a:r>
              <a:rPr lang="en-US"/>
              <a:t>Microsoft Entra Integration (Legacy)</a:t>
            </a:r>
          </a:p>
        </p:txBody>
      </p:sp>
      <p:sp>
        <p:nvSpPr>
          <p:cNvPr id="12" name="sketch line">
            <a:extLst>
              <a:ext uri="{FF2B5EF4-FFF2-40B4-BE49-F238E27FC236}">
                <a16:creationId xmlns:a16="http://schemas.microsoft.com/office/drawing/2014/main" id="{A55F0042-B334-2F00-7954-948AD7C2991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54EB4AF4-E812-FF2E-F522-35B7F780D4E7}"/>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1441574926"/>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4C123B1-07A6-124F-58E0-F62D67729ED8}"/>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108FD66-4CBF-D012-D907-A6F68897E58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37E7F0AC-50E3-A7EE-1B37-6002F0A81BFE}"/>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20C24CB8-A6F1-0CC7-4B64-7B785A005756}"/>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Microsoft Entra Integration (Legacy)</a:t>
            </a:r>
          </a:p>
        </p:txBody>
      </p:sp>
      <p:sp>
        <p:nvSpPr>
          <p:cNvPr id="10" name="sketch line">
            <a:extLst>
              <a:ext uri="{FF2B5EF4-FFF2-40B4-BE49-F238E27FC236}">
                <a16:creationId xmlns:a16="http://schemas.microsoft.com/office/drawing/2014/main" id="{76C74185-9420-9825-8B99-9A020E37353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282132234"/>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CA47B5F-DD7E-7193-D367-24F6F01275AB}"/>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473C7CFC-8040-971A-5162-F3094643128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8AF1BB1-7657-7C4A-395F-4ADBC5A15AD8}"/>
              </a:ext>
            </a:extLst>
          </p:cNvPr>
          <p:cNvSpPr>
            <a:spLocks noGrp="1"/>
          </p:cNvSpPr>
          <p:nvPr>
            <p:ph type="title"/>
          </p:nvPr>
        </p:nvSpPr>
        <p:spPr>
          <a:xfrm>
            <a:off x="669036" y="370098"/>
            <a:ext cx="11519916" cy="1325563"/>
          </a:xfrm>
        </p:spPr>
        <p:txBody>
          <a:bodyPr vert="horz" lIns="91440" tIns="45720" rIns="91440" bIns="45720" rtlCol="0" anchor="ctr">
            <a:normAutofit/>
          </a:bodyPr>
          <a:lstStyle/>
          <a:p>
            <a:r>
              <a:rPr lang="en-US"/>
              <a:t>Enable GMSA Integration</a:t>
            </a:r>
          </a:p>
        </p:txBody>
      </p:sp>
      <p:sp>
        <p:nvSpPr>
          <p:cNvPr id="12" name="sketch line">
            <a:extLst>
              <a:ext uri="{FF2B5EF4-FFF2-40B4-BE49-F238E27FC236}">
                <a16:creationId xmlns:a16="http://schemas.microsoft.com/office/drawing/2014/main" id="{D16AE3F0-3FF4-4059-FD1A-D6610E488DF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A0E49FD0-848C-3252-E355-3274A5AB9942}"/>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1852568165"/>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CA8A9F8-152B-4C65-176D-E119986512C5}"/>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20074D6-E27F-C04A-C7C9-061ABBBF04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9A515FD1-C787-107E-CDD0-8668C69AC24D}"/>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7B0347DC-A366-A6DC-41E7-75DB0195C1C8}"/>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Enable GMSA Integration</a:t>
            </a:r>
          </a:p>
        </p:txBody>
      </p:sp>
      <p:sp>
        <p:nvSpPr>
          <p:cNvPr id="10" name="sketch line">
            <a:extLst>
              <a:ext uri="{FF2B5EF4-FFF2-40B4-BE49-F238E27FC236}">
                <a16:creationId xmlns:a16="http://schemas.microsoft.com/office/drawing/2014/main" id="{7874F5AB-E845-7D64-DCFD-C28DB1E700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903146868"/>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6A0905E-D76A-165D-70A1-465B093DC8A9}"/>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4503C2BA-C63C-A3CF-DDDE-D78CF378040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7156326-4398-3B8B-6CAD-73EE27BBCA62}"/>
              </a:ext>
            </a:extLst>
          </p:cNvPr>
          <p:cNvSpPr>
            <a:spLocks noGrp="1"/>
          </p:cNvSpPr>
          <p:nvPr>
            <p:ph type="title"/>
          </p:nvPr>
        </p:nvSpPr>
        <p:spPr>
          <a:xfrm>
            <a:off x="669036" y="370098"/>
            <a:ext cx="11519916" cy="1325563"/>
          </a:xfrm>
        </p:spPr>
        <p:txBody>
          <a:bodyPr vert="horz" lIns="91440" tIns="45720" rIns="91440" bIns="45720" rtlCol="0" anchor="ctr">
            <a:normAutofit/>
          </a:bodyPr>
          <a:lstStyle/>
          <a:p>
            <a:r>
              <a:rPr lang="en-US"/>
              <a:t>Use Azure RBAC for Kubernetes Authorization</a:t>
            </a:r>
          </a:p>
        </p:txBody>
      </p:sp>
      <p:sp>
        <p:nvSpPr>
          <p:cNvPr id="12" name="sketch line">
            <a:extLst>
              <a:ext uri="{FF2B5EF4-FFF2-40B4-BE49-F238E27FC236}">
                <a16:creationId xmlns:a16="http://schemas.microsoft.com/office/drawing/2014/main" id="{CE020DCE-E559-3D1D-C78C-A1567ABE452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38CD13A3-856E-8BF6-C92C-CEEDD326025D}"/>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895975024"/>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A3D2272-2C30-8006-393C-C013A94C49A4}"/>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24A0823-ECAD-FB90-95BF-A4F9BFF5F92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D910AF3A-BD9E-1784-521E-5D607BB35354}"/>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166E8DBC-5CF4-6B7D-979C-6464C3DE60ED}"/>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Use Azure RBAC for Kubernetes Authorization</a:t>
            </a:r>
          </a:p>
        </p:txBody>
      </p:sp>
      <p:sp>
        <p:nvSpPr>
          <p:cNvPr id="10" name="sketch line">
            <a:extLst>
              <a:ext uri="{FF2B5EF4-FFF2-40B4-BE49-F238E27FC236}">
                <a16:creationId xmlns:a16="http://schemas.microsoft.com/office/drawing/2014/main" id="{7CC3421B-4587-B3D4-CCF1-5398D2A195D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621384861"/>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29E209F-5E31-ADEE-3BA1-F94322EF349E}"/>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4E838E4E-3F9D-B227-C4AE-1C08633766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04B7DDD-BFE6-2746-772A-769BDE1F21CA}"/>
              </a:ext>
            </a:extLst>
          </p:cNvPr>
          <p:cNvSpPr>
            <a:spLocks noGrp="1"/>
          </p:cNvSpPr>
          <p:nvPr>
            <p:ph type="title"/>
          </p:nvPr>
        </p:nvSpPr>
        <p:spPr>
          <a:xfrm>
            <a:off x="-45879" y="370098"/>
            <a:ext cx="12455837" cy="1325563"/>
          </a:xfrm>
        </p:spPr>
        <p:txBody>
          <a:bodyPr vert="horz" lIns="91440" tIns="45720" rIns="91440" bIns="45720" rtlCol="0" anchor="ctr">
            <a:normAutofit/>
          </a:bodyPr>
          <a:lstStyle/>
          <a:p>
            <a:r>
              <a:rPr lang="en-US"/>
              <a:t>Use Kubernetes RBAC with Microsoft Entra Integration</a:t>
            </a:r>
          </a:p>
        </p:txBody>
      </p:sp>
      <p:sp>
        <p:nvSpPr>
          <p:cNvPr id="12" name="sketch line">
            <a:extLst>
              <a:ext uri="{FF2B5EF4-FFF2-40B4-BE49-F238E27FC236}">
                <a16:creationId xmlns:a16="http://schemas.microsoft.com/office/drawing/2014/main" id="{BAB6F620-C711-3872-D63F-4EB6BED78C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65F52DD7-45E9-D6B7-0A76-D8B24BAE5B58}"/>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912156366"/>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30E2538-DF29-6C08-91A5-F30AE24D7AC2}"/>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31FA2AD3-21F0-F849-E8BE-819EA1613D3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BEBD387E-606C-539B-4765-955B4FF95899}"/>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E866EAB0-9F66-9075-96C8-6D9F3E6E10E2}"/>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Use Kubernetes RBAC with Microsoft Entra Integration</a:t>
            </a:r>
          </a:p>
        </p:txBody>
      </p:sp>
      <p:sp>
        <p:nvSpPr>
          <p:cNvPr id="10" name="sketch line">
            <a:extLst>
              <a:ext uri="{FF2B5EF4-FFF2-40B4-BE49-F238E27FC236}">
                <a16:creationId xmlns:a16="http://schemas.microsoft.com/office/drawing/2014/main" id="{1005CDA6-A983-92B5-E854-93DF5AF4F1F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363447059"/>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FFE5153-BAF1-D7D6-38C3-553C7A4F97B0}"/>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68F3C3AF-CCB5-D015-FD05-EC34F4A938A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C61DD87-E5FF-7CF4-8259-5001A1FA8B00}"/>
              </a:ext>
            </a:extLst>
          </p:cNvPr>
          <p:cNvSpPr>
            <a:spLocks noGrp="1"/>
          </p:cNvSpPr>
          <p:nvPr>
            <p:ph type="title"/>
          </p:nvPr>
        </p:nvSpPr>
        <p:spPr>
          <a:xfrm>
            <a:off x="-46180" y="370098"/>
            <a:ext cx="12598400" cy="1325563"/>
          </a:xfrm>
        </p:spPr>
        <p:txBody>
          <a:bodyPr vert="horz" lIns="91440" tIns="45720" rIns="91440" bIns="45720" rtlCol="0" anchor="ctr">
            <a:normAutofit/>
          </a:bodyPr>
          <a:lstStyle/>
          <a:p>
            <a:r>
              <a:rPr lang="en-US"/>
              <a:t>Use Kubernetes RBAC with Microsoft Entra Integration</a:t>
            </a:r>
          </a:p>
        </p:txBody>
      </p:sp>
      <p:sp>
        <p:nvSpPr>
          <p:cNvPr id="12" name="sketch line">
            <a:extLst>
              <a:ext uri="{FF2B5EF4-FFF2-40B4-BE49-F238E27FC236}">
                <a16:creationId xmlns:a16="http://schemas.microsoft.com/office/drawing/2014/main" id="{8969231E-833D-D3F5-8703-7051311B549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AB391437-B472-D358-1A8B-5B0377CD8D91}"/>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3366881976"/>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B693A26-4944-4411-8EE5-A4882E3B9793}"/>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F97CDE21-D611-205D-E653-1675A460E41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83800E2F-58DA-294F-5F92-C20C2EA3B0F4}"/>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8B371977-67A9-3158-6011-950C1920EA24}"/>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Use Kubernetes RBAC with Microsoft Entra Integration</a:t>
            </a:r>
          </a:p>
        </p:txBody>
      </p:sp>
      <p:sp>
        <p:nvSpPr>
          <p:cNvPr id="10" name="sketch line">
            <a:extLst>
              <a:ext uri="{FF2B5EF4-FFF2-40B4-BE49-F238E27FC236}">
                <a16:creationId xmlns:a16="http://schemas.microsoft.com/office/drawing/2014/main" id="{166B1C4E-77FB-C847-5082-D596B155F24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833749693"/>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49DED2C-9303-C884-276D-979F9BB03D57}"/>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5CCF97D-AF3D-89FB-DB1C-E549692A816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DA4B2BF-D033-16AF-1BB1-B2CAFCC8BA3A}"/>
              </a:ext>
            </a:extLst>
          </p:cNvPr>
          <p:cNvSpPr>
            <a:spLocks noGrp="1"/>
          </p:cNvSpPr>
          <p:nvPr>
            <p:ph type="title"/>
          </p:nvPr>
        </p:nvSpPr>
        <p:spPr>
          <a:xfrm>
            <a:off x="600365" y="370098"/>
            <a:ext cx="12598400" cy="1325563"/>
          </a:xfrm>
        </p:spPr>
        <p:txBody>
          <a:bodyPr vert="horz" lIns="91440" tIns="45720" rIns="91440" bIns="45720" rtlCol="0" anchor="ctr">
            <a:normAutofit/>
          </a:bodyPr>
          <a:lstStyle/>
          <a:p>
            <a:r>
              <a:rPr lang="en-US"/>
              <a:t>Update Cluster Credentials</a:t>
            </a:r>
          </a:p>
        </p:txBody>
      </p:sp>
      <p:sp>
        <p:nvSpPr>
          <p:cNvPr id="12" name="sketch line">
            <a:extLst>
              <a:ext uri="{FF2B5EF4-FFF2-40B4-BE49-F238E27FC236}">
                <a16:creationId xmlns:a16="http://schemas.microsoft.com/office/drawing/2014/main" id="{6A1D9557-C8A9-AF2F-C420-915726AAF48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51D781C5-EB6A-1B7E-3C5C-7F71CF266AF5}"/>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2749380583"/>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09E6DC0-FD30-706B-E013-CB7D2D51A44B}"/>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6A31137-DC69-360D-828A-7FFF01F483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2C8DA8B1-8306-A5A3-F9CE-3B3BAB8C39C7}"/>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6A295097-8D48-4F79-B98D-508B023D9EC0}"/>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Update Cluster Credentials</a:t>
            </a:r>
          </a:p>
        </p:txBody>
      </p:sp>
      <p:sp>
        <p:nvSpPr>
          <p:cNvPr id="10" name="sketch line">
            <a:extLst>
              <a:ext uri="{FF2B5EF4-FFF2-40B4-BE49-F238E27FC236}">
                <a16:creationId xmlns:a16="http://schemas.microsoft.com/office/drawing/2014/main" id="{1E2266DE-D505-19F8-E8D7-BD83332B67F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722302599"/>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1D71629-13E5-CD7B-52B4-D7C16802CC3A}"/>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801410FD-81E7-B08D-0C7F-01D06BD0F54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A7E1971-CB27-B165-8CB3-7EEB121B7255}"/>
              </a:ext>
            </a:extLst>
          </p:cNvPr>
          <p:cNvSpPr>
            <a:spLocks noGrp="1"/>
          </p:cNvSpPr>
          <p:nvPr>
            <p:ph type="title"/>
          </p:nvPr>
        </p:nvSpPr>
        <p:spPr>
          <a:xfrm>
            <a:off x="600365" y="370098"/>
            <a:ext cx="10021453" cy="1325563"/>
          </a:xfrm>
        </p:spPr>
        <p:txBody>
          <a:bodyPr vert="horz" lIns="91440" tIns="45720" rIns="91440" bIns="45720" rtlCol="0" anchor="ctr">
            <a:normAutofit/>
          </a:bodyPr>
          <a:lstStyle/>
          <a:p>
            <a:r>
              <a:rPr lang="en-US"/>
              <a:t>Limit Access to Cluster Configuration File</a:t>
            </a:r>
          </a:p>
        </p:txBody>
      </p:sp>
      <p:sp>
        <p:nvSpPr>
          <p:cNvPr id="12" name="sketch line">
            <a:extLst>
              <a:ext uri="{FF2B5EF4-FFF2-40B4-BE49-F238E27FC236}">
                <a16:creationId xmlns:a16="http://schemas.microsoft.com/office/drawing/2014/main" id="{4F7898BA-3F67-A2CE-1AAD-133948DA3D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73ED24F3-52DC-6745-1F4F-D192E8501765}"/>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770208212"/>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C3D879E-9E27-93BF-D47C-A6247CDACD08}"/>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3042C0C6-E330-4BF6-6F54-B02CD1DFF37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AE84AD11-F7C0-D2E3-4003-4E23002D3E73}"/>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F551D8FC-E8B2-E702-260E-C8F470945290}"/>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Limit Access to Cluster Configuration File</a:t>
            </a:r>
          </a:p>
        </p:txBody>
      </p:sp>
      <p:sp>
        <p:nvSpPr>
          <p:cNvPr id="10" name="sketch line">
            <a:extLst>
              <a:ext uri="{FF2B5EF4-FFF2-40B4-BE49-F238E27FC236}">
                <a16:creationId xmlns:a16="http://schemas.microsoft.com/office/drawing/2014/main" id="{7FE2CEBB-64E3-D7CC-91AC-360DFD9A256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454062190"/>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CB666D9-0C01-4A49-379D-F284E315806A}"/>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5638DE11-8C11-DCE0-64CD-ECAE11C2F99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647C7E2-CCA3-F6AD-D4D2-AF6C70357106}"/>
              </a:ext>
            </a:extLst>
          </p:cNvPr>
          <p:cNvSpPr>
            <a:spLocks noGrp="1"/>
          </p:cNvSpPr>
          <p:nvPr>
            <p:ph type="title"/>
          </p:nvPr>
        </p:nvSpPr>
        <p:spPr>
          <a:xfrm>
            <a:off x="600365" y="370098"/>
            <a:ext cx="11443853" cy="1325563"/>
          </a:xfrm>
        </p:spPr>
        <p:txBody>
          <a:bodyPr vert="horz" lIns="91440" tIns="45720" rIns="91440" bIns="45720" rtlCol="0" anchor="ctr">
            <a:normAutofit/>
          </a:bodyPr>
          <a:lstStyle/>
          <a:p>
            <a:r>
              <a:rPr lang="en-US"/>
              <a:t>External Identity Provider Authentication Overview</a:t>
            </a:r>
          </a:p>
        </p:txBody>
      </p:sp>
      <p:sp>
        <p:nvSpPr>
          <p:cNvPr id="12" name="sketch line">
            <a:extLst>
              <a:ext uri="{FF2B5EF4-FFF2-40B4-BE49-F238E27FC236}">
                <a16:creationId xmlns:a16="http://schemas.microsoft.com/office/drawing/2014/main" id="{790A018F-726B-ECAB-8037-3ADBEB0FBD1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26A6765E-F160-C3FC-097F-DE0120840726}"/>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4223828977"/>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2D4A0AC-3EE5-EF4D-FC6C-FC7E35F1B67E}"/>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130170E-4282-71B0-C270-3431C2DA5E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8A46AE56-7CF1-5664-DC96-ABB383AC25EE}"/>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BA25BE88-E3E9-A08E-9CD0-8CA213EBFAC1}"/>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External Identity Provider Authentication Overview</a:t>
            </a:r>
          </a:p>
        </p:txBody>
      </p:sp>
      <p:sp>
        <p:nvSpPr>
          <p:cNvPr id="10" name="sketch line">
            <a:extLst>
              <a:ext uri="{FF2B5EF4-FFF2-40B4-BE49-F238E27FC236}">
                <a16:creationId xmlns:a16="http://schemas.microsoft.com/office/drawing/2014/main" id="{EF379D01-6F02-08C7-41C3-F4F2758E5A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92908843"/>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D8DAF90-0620-F195-9EA6-1C13872C2028}"/>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92BEFD1C-6C49-9395-1603-5C1A199968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6FD141F-7422-07D5-C62A-221B6A9D4861}"/>
              </a:ext>
            </a:extLst>
          </p:cNvPr>
          <p:cNvSpPr>
            <a:spLocks noGrp="1"/>
          </p:cNvSpPr>
          <p:nvPr>
            <p:ph type="title"/>
          </p:nvPr>
        </p:nvSpPr>
        <p:spPr>
          <a:xfrm>
            <a:off x="600365" y="370098"/>
            <a:ext cx="11443853" cy="1325563"/>
          </a:xfrm>
        </p:spPr>
        <p:txBody>
          <a:bodyPr vert="horz" lIns="91440" tIns="45720" rIns="91440" bIns="45720" rtlCol="0" anchor="ctr">
            <a:normAutofit/>
          </a:bodyPr>
          <a:lstStyle/>
          <a:p>
            <a:r>
              <a:rPr lang="en-US"/>
              <a:t>Configure External Identity Providers</a:t>
            </a:r>
          </a:p>
        </p:txBody>
      </p:sp>
      <p:sp>
        <p:nvSpPr>
          <p:cNvPr id="12" name="sketch line">
            <a:extLst>
              <a:ext uri="{FF2B5EF4-FFF2-40B4-BE49-F238E27FC236}">
                <a16:creationId xmlns:a16="http://schemas.microsoft.com/office/drawing/2014/main" id="{1AA5E465-7E87-DEC6-3A80-CAFBD449F0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EF10A754-D277-1EDC-3DA2-88C363D46D10}"/>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4078487801"/>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7DEE7D0-87B4-BE5F-6ED7-1DA12D3FD57C}"/>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8094E34D-3FD3-85BB-C0F5-57744D5D94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069D273-70D0-BD2E-7005-3B2675901F0F}"/>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DC582E8D-BA97-7E1F-4790-BF0AD3FDADFD}"/>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Configure External Identity Providers</a:t>
            </a:r>
          </a:p>
        </p:txBody>
      </p:sp>
      <p:sp>
        <p:nvSpPr>
          <p:cNvPr id="10" name="sketch line">
            <a:extLst>
              <a:ext uri="{FF2B5EF4-FFF2-40B4-BE49-F238E27FC236}">
                <a16:creationId xmlns:a16="http://schemas.microsoft.com/office/drawing/2014/main" id="{3C672906-93F3-1DC0-6CE1-8257F9A73D0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225718063"/>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A892844-BE25-76EA-E505-11C4DA48A3DC}"/>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EA76ADA-3C4C-12A7-9E76-7000966094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51443F6-2D54-B799-38C4-17CB4618D403}"/>
              </a:ext>
            </a:extLst>
          </p:cNvPr>
          <p:cNvSpPr>
            <a:spLocks noGrp="1"/>
          </p:cNvSpPr>
          <p:nvPr>
            <p:ph type="title"/>
          </p:nvPr>
        </p:nvSpPr>
        <p:spPr>
          <a:xfrm>
            <a:off x="600365" y="370098"/>
            <a:ext cx="11443853" cy="1325563"/>
          </a:xfrm>
        </p:spPr>
        <p:txBody>
          <a:bodyPr vert="horz" lIns="91440" tIns="45720" rIns="91440" bIns="45720" rtlCol="0" anchor="ctr">
            <a:normAutofit/>
          </a:bodyPr>
          <a:lstStyle/>
          <a:p>
            <a:r>
              <a:rPr lang="en-US"/>
              <a:t>Control Deployments with Azure Policy</a:t>
            </a:r>
          </a:p>
        </p:txBody>
      </p:sp>
      <p:sp>
        <p:nvSpPr>
          <p:cNvPr id="12" name="sketch line">
            <a:extLst>
              <a:ext uri="{FF2B5EF4-FFF2-40B4-BE49-F238E27FC236}">
                <a16:creationId xmlns:a16="http://schemas.microsoft.com/office/drawing/2014/main" id="{1EFD2F79-AEFF-2D94-0103-C488440FE0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829BA1B5-CEBD-EC04-9B38-76E36148C863}"/>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2585474765"/>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9313C9F-8CD0-0AB6-A617-05891C4A0B91}"/>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AB509603-85EB-8154-E8F6-7A82464A197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D71B16A1-87F6-1592-2521-1EFAF681553A}"/>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10DB8FF7-0625-093B-0E97-35D2E66C6B1E}"/>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Control Deployments with Azure Policy</a:t>
            </a:r>
          </a:p>
        </p:txBody>
      </p:sp>
      <p:sp>
        <p:nvSpPr>
          <p:cNvPr id="10" name="sketch line">
            <a:extLst>
              <a:ext uri="{FF2B5EF4-FFF2-40B4-BE49-F238E27FC236}">
                <a16:creationId xmlns:a16="http://schemas.microsoft.com/office/drawing/2014/main" id="{A838535C-E118-3A08-4D28-8A01843FFE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78015735"/>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9DE65B4-851B-09EC-D40B-FFE4BB61226E}"/>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5C1AA650-790C-AA60-9DBA-0C2CF56DEC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useBgFill="1">
        <p:nvSpPr>
          <p:cNvPr id="9" name="Freeform: Shape 8">
            <a:extLst>
              <a:ext uri="{FF2B5EF4-FFF2-40B4-BE49-F238E27FC236}">
                <a16:creationId xmlns:a16="http://schemas.microsoft.com/office/drawing/2014/main" id="{811A1EFE-E247-264A-BD69-60FA70D5624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14425" y="0"/>
            <a:ext cx="9963150"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solidFill>
              <a:srgbClr val="EFEFEF"/>
            </a:solidFill>
          </a:ln>
          <a:effectLst>
            <a:outerShdw blurRad="139700" sx="102000" sy="102000" algn="ctr" rotWithShape="0">
              <a:schemeClr val="bg1">
                <a:lumMod val="85000"/>
                <a:alpha val="38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1" name="Freeform: Shape 10">
            <a:extLst>
              <a:ext uri="{FF2B5EF4-FFF2-40B4-BE49-F238E27FC236}">
                <a16:creationId xmlns:a16="http://schemas.microsoft.com/office/drawing/2014/main" id="{DB57B304-AF40-7313-4AC0-0EFB15A858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1664" y="0"/>
            <a:ext cx="9948672"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FB147A16-468A-3465-32F2-30A32CBAEE53}"/>
              </a:ext>
            </a:extLst>
          </p:cNvPr>
          <p:cNvSpPr>
            <a:spLocks noGrp="1"/>
          </p:cNvSpPr>
          <p:nvPr>
            <p:ph type="title"/>
          </p:nvPr>
        </p:nvSpPr>
        <p:spPr>
          <a:xfrm>
            <a:off x="1524003" y="1999615"/>
            <a:ext cx="9144000" cy="2764028"/>
          </a:xfrm>
        </p:spPr>
        <p:txBody>
          <a:bodyPr vert="horz" lIns="91440" tIns="45720" rIns="91440" bIns="45720" rtlCol="0" anchor="ctr">
            <a:normAutofit/>
          </a:bodyPr>
          <a:lstStyle/>
          <a:p>
            <a:pPr algn="ctr"/>
            <a:r>
              <a:rPr lang="en-US" sz="7200" kern="1200">
                <a:solidFill>
                  <a:schemeClr val="tx1"/>
                </a:solidFill>
                <a:latin typeface="+mj-lt"/>
                <a:ea typeface="+mj-ea"/>
                <a:cs typeface="+mj-cs"/>
              </a:rPr>
              <a:t>Application Security</a:t>
            </a:r>
          </a:p>
        </p:txBody>
      </p:sp>
      <p:sp>
        <p:nvSpPr>
          <p:cNvPr id="13" name="Rectangle 12">
            <a:extLst>
              <a:ext uri="{FF2B5EF4-FFF2-40B4-BE49-F238E27FC236}">
                <a16:creationId xmlns:a16="http://schemas.microsoft.com/office/drawing/2014/main" id="{E0CD5FE8-9F16-E6A4-E3CC-B74E0A49B1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718560" y="5524786"/>
            <a:ext cx="4754880" cy="2743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957488289"/>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75190C4-927A-9180-2047-F2BA7D5E4271}"/>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F66EBB76-C1F5-14CF-78E6-BE8D038875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652F211-DCA1-B027-0012-C233F89082D8}"/>
              </a:ext>
            </a:extLst>
          </p:cNvPr>
          <p:cNvSpPr>
            <a:spLocks noGrp="1"/>
          </p:cNvSpPr>
          <p:nvPr>
            <p:ph type="title"/>
          </p:nvPr>
        </p:nvSpPr>
        <p:spPr>
          <a:xfrm>
            <a:off x="600365" y="370098"/>
            <a:ext cx="11443853" cy="1325563"/>
          </a:xfrm>
        </p:spPr>
        <p:txBody>
          <a:bodyPr vert="horz" lIns="91440" tIns="45720" rIns="91440" bIns="45720" rtlCol="0" anchor="ctr">
            <a:normAutofit/>
          </a:bodyPr>
          <a:lstStyle/>
          <a:p>
            <a:r>
              <a:rPr lang="en-US"/>
              <a:t>Create an OIDC Issuer for your Cluster</a:t>
            </a:r>
          </a:p>
        </p:txBody>
      </p:sp>
      <p:sp>
        <p:nvSpPr>
          <p:cNvPr id="12" name="sketch line">
            <a:extLst>
              <a:ext uri="{FF2B5EF4-FFF2-40B4-BE49-F238E27FC236}">
                <a16:creationId xmlns:a16="http://schemas.microsoft.com/office/drawing/2014/main" id="{57016CC9-F7F0-BFE4-EFF3-1CC5BB9D00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B40C9604-7CE8-BEFA-90E2-71FAF82B899C}"/>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3659709561"/>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D4FEA48-3157-D30D-46BC-628DBBA136F5}"/>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6C3B050-5EF4-190F-DC72-E3C52ABFDC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379F2DA3-5DF7-6ABD-827B-EFA150463578}"/>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9C4DCCB4-5E36-DD86-1003-2457DE4C624B}"/>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Create an OIDC Issuer for your Cluster</a:t>
            </a:r>
          </a:p>
        </p:txBody>
      </p:sp>
      <p:sp>
        <p:nvSpPr>
          <p:cNvPr id="10" name="sketch line">
            <a:extLst>
              <a:ext uri="{FF2B5EF4-FFF2-40B4-BE49-F238E27FC236}">
                <a16:creationId xmlns:a16="http://schemas.microsoft.com/office/drawing/2014/main" id="{D8EC2FD5-8D2A-8C0C-C234-8B5165F4F12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027822343"/>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80172F0-585B-E2EF-1189-33D9F0F19529}"/>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7A165472-91FB-170E-83A3-84A437F14D8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2C63230-797C-ED66-DE44-2FBF2BE1D177}"/>
              </a:ext>
            </a:extLst>
          </p:cNvPr>
          <p:cNvSpPr>
            <a:spLocks noGrp="1"/>
          </p:cNvSpPr>
          <p:nvPr>
            <p:ph type="title"/>
          </p:nvPr>
        </p:nvSpPr>
        <p:spPr>
          <a:xfrm>
            <a:off x="600365" y="370098"/>
            <a:ext cx="11443853" cy="1325563"/>
          </a:xfrm>
        </p:spPr>
        <p:txBody>
          <a:bodyPr vert="horz" lIns="91440" tIns="45720" rIns="91440" bIns="45720" rtlCol="0" anchor="ctr">
            <a:normAutofit/>
          </a:bodyPr>
          <a:lstStyle/>
          <a:p>
            <a:r>
              <a:rPr lang="en-US"/>
              <a:t>Workload Identity Overview</a:t>
            </a:r>
          </a:p>
        </p:txBody>
      </p:sp>
      <p:sp>
        <p:nvSpPr>
          <p:cNvPr id="12" name="sketch line">
            <a:extLst>
              <a:ext uri="{FF2B5EF4-FFF2-40B4-BE49-F238E27FC236}">
                <a16:creationId xmlns:a16="http://schemas.microsoft.com/office/drawing/2014/main" id="{730B20A2-6922-DF5C-1504-6C185EDBEA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14FC7198-A4FE-653E-303A-78D2BD68368E}"/>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442015705"/>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F2EC008-DB4A-D06E-F1CC-07D71C16B94C}"/>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9A58C299-437C-DFC5-793D-6A14ED31116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DAF66565-0FF7-9B38-B426-31F44852606B}"/>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4274347C-6296-1FD4-1CFE-D615F7F3D13F}"/>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Workload Identity Overview</a:t>
            </a:r>
          </a:p>
        </p:txBody>
      </p:sp>
      <p:sp>
        <p:nvSpPr>
          <p:cNvPr id="10" name="sketch line">
            <a:extLst>
              <a:ext uri="{FF2B5EF4-FFF2-40B4-BE49-F238E27FC236}">
                <a16:creationId xmlns:a16="http://schemas.microsoft.com/office/drawing/2014/main" id="{69B8AC1D-7393-7B27-0AFF-1AB9AE2A076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939188570"/>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BC5D66F-13E3-E45E-B69E-4D8742F91DD3}"/>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D2F0FCE1-A52B-6285-070E-D680D581A8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0C460A4-D8D3-42F6-BA81-8669FD081A4F}"/>
              </a:ext>
            </a:extLst>
          </p:cNvPr>
          <p:cNvSpPr>
            <a:spLocks noGrp="1"/>
          </p:cNvSpPr>
          <p:nvPr>
            <p:ph type="title"/>
          </p:nvPr>
        </p:nvSpPr>
        <p:spPr>
          <a:xfrm>
            <a:off x="600365" y="370098"/>
            <a:ext cx="11443853" cy="1325563"/>
          </a:xfrm>
        </p:spPr>
        <p:txBody>
          <a:bodyPr vert="horz" lIns="91440" tIns="45720" rIns="91440" bIns="45720" rtlCol="0" anchor="ctr">
            <a:normAutofit/>
          </a:bodyPr>
          <a:lstStyle/>
          <a:p>
            <a:r>
              <a:rPr lang="en-US"/>
              <a:t>Deploy and Configure Workload Identity</a:t>
            </a:r>
          </a:p>
        </p:txBody>
      </p:sp>
      <p:sp>
        <p:nvSpPr>
          <p:cNvPr id="12" name="sketch line">
            <a:extLst>
              <a:ext uri="{FF2B5EF4-FFF2-40B4-BE49-F238E27FC236}">
                <a16:creationId xmlns:a16="http://schemas.microsoft.com/office/drawing/2014/main" id="{2F4D2338-1312-8593-2605-25B88C74973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B29B4AA0-F907-55E0-A5F7-8055BE94197C}"/>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2095919864"/>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04E5AE7-5ACC-5289-2BDB-31624A225374}"/>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342BABFA-FE14-3DF0-15FB-631D5F853D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D6C9A60C-5B94-6228-E79C-0BD9C5A83FDE}"/>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071718AA-24BA-0D86-5449-0659A8BF9BF3}"/>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Deploy and Configure Workload Identity for a Cluster</a:t>
            </a:r>
          </a:p>
        </p:txBody>
      </p:sp>
      <p:sp>
        <p:nvSpPr>
          <p:cNvPr id="10" name="sketch line">
            <a:extLst>
              <a:ext uri="{FF2B5EF4-FFF2-40B4-BE49-F238E27FC236}">
                <a16:creationId xmlns:a16="http://schemas.microsoft.com/office/drawing/2014/main" id="{FE9799DC-4109-73B3-0B24-3DD14299ED6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660992868"/>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82772DF-3B35-B43E-6829-D35D2A5E9054}"/>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BD8D871-06A9-EE05-40B4-F9A3B194B3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BA03E7D-A5B7-8292-B848-0178DD2F2511}"/>
              </a:ext>
            </a:extLst>
          </p:cNvPr>
          <p:cNvSpPr>
            <a:spLocks noGrp="1"/>
          </p:cNvSpPr>
          <p:nvPr>
            <p:ph type="title"/>
          </p:nvPr>
        </p:nvSpPr>
        <p:spPr>
          <a:xfrm>
            <a:off x="600365" y="370098"/>
            <a:ext cx="11443853" cy="1325563"/>
          </a:xfrm>
        </p:spPr>
        <p:txBody>
          <a:bodyPr vert="horz" lIns="91440" tIns="45720" rIns="91440" bIns="45720" rtlCol="0" anchor="ctr">
            <a:normAutofit/>
          </a:bodyPr>
          <a:lstStyle/>
          <a:p>
            <a:r>
              <a:rPr lang="en-US"/>
              <a:t>Configure Cross-Tenant Workload Identity</a:t>
            </a:r>
          </a:p>
        </p:txBody>
      </p:sp>
      <p:sp>
        <p:nvSpPr>
          <p:cNvPr id="12" name="sketch line">
            <a:extLst>
              <a:ext uri="{FF2B5EF4-FFF2-40B4-BE49-F238E27FC236}">
                <a16:creationId xmlns:a16="http://schemas.microsoft.com/office/drawing/2014/main" id="{00F062C9-AD8C-4880-7F58-4419A9D5DA6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6791A958-19AC-7113-894F-2BEED25C0FB2}"/>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1426225832"/>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C697DBF-7B19-19A1-569A-82A7B73BD05D}"/>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8E093A4-7084-BED3-890B-4ADCAC6850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D15E12A6-4805-EFD1-44AF-557E93F37114}"/>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573C9983-A13C-CFB7-ACE1-88415AC81725}"/>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Configure Cross-Tenant Workload Identity</a:t>
            </a:r>
          </a:p>
        </p:txBody>
      </p:sp>
      <p:sp>
        <p:nvSpPr>
          <p:cNvPr id="10" name="sketch line">
            <a:extLst>
              <a:ext uri="{FF2B5EF4-FFF2-40B4-BE49-F238E27FC236}">
                <a16:creationId xmlns:a16="http://schemas.microsoft.com/office/drawing/2014/main" id="{75A75FBD-4098-9CDF-D364-DBF979CA73E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53090348"/>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E98232C-6D88-924F-6CE9-EC24F8666E3B}"/>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A345F1BA-88EF-A6D1-8439-85ED0FE7F8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CD9F24A-1D00-3DD5-810C-51DFADC91C2B}"/>
              </a:ext>
            </a:extLst>
          </p:cNvPr>
          <p:cNvSpPr>
            <a:spLocks noGrp="1"/>
          </p:cNvSpPr>
          <p:nvPr>
            <p:ph type="title"/>
          </p:nvPr>
        </p:nvSpPr>
        <p:spPr>
          <a:xfrm>
            <a:off x="600365" y="370098"/>
            <a:ext cx="11443853" cy="1325563"/>
          </a:xfrm>
        </p:spPr>
        <p:txBody>
          <a:bodyPr vert="horz" lIns="91440" tIns="45720" rIns="91440" bIns="45720" rtlCol="0" anchor="ctr">
            <a:normAutofit/>
          </a:bodyPr>
          <a:lstStyle/>
          <a:p>
            <a:pPr algn="ctr"/>
            <a:r>
              <a:rPr lang="en-US"/>
              <a:t>Migrate your App from Pod identity to Workload Identity</a:t>
            </a:r>
          </a:p>
        </p:txBody>
      </p:sp>
      <p:sp>
        <p:nvSpPr>
          <p:cNvPr id="12" name="sketch line">
            <a:extLst>
              <a:ext uri="{FF2B5EF4-FFF2-40B4-BE49-F238E27FC236}">
                <a16:creationId xmlns:a16="http://schemas.microsoft.com/office/drawing/2014/main" id="{A2239DBD-91E8-29A9-DC67-4B31DE3F43C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A14BBB4D-7DF9-69DD-F53A-23352D082C38}"/>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3791352277"/>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FB0D86A-FB9A-DA04-9610-3B0B5C9BBE93}"/>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71EABD54-2547-9142-122C-B15E34F65C8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7DF60A8-40C9-8403-6E67-FDCD57D9C4CE}"/>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7993CE9B-CFAF-D462-D36F-E81658D37C65}"/>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Migrate your App from Pod identity to Workload Identity</a:t>
            </a:r>
          </a:p>
        </p:txBody>
      </p:sp>
      <p:sp>
        <p:nvSpPr>
          <p:cNvPr id="10" name="sketch line">
            <a:extLst>
              <a:ext uri="{FF2B5EF4-FFF2-40B4-BE49-F238E27FC236}">
                <a16:creationId xmlns:a16="http://schemas.microsoft.com/office/drawing/2014/main" id="{25800856-6351-209E-21EB-D01D4C5372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249675574"/>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9F40419-BCCE-7666-C332-03F36B85117A}"/>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85F7638-58D1-F5F2-31DF-3B8DE68896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CA867DA-7EAE-EC15-1B2D-111AC2090E1C}"/>
              </a:ext>
            </a:extLst>
          </p:cNvPr>
          <p:cNvSpPr>
            <a:spLocks noGrp="1"/>
          </p:cNvSpPr>
          <p:nvPr>
            <p:ph type="title"/>
          </p:nvPr>
        </p:nvSpPr>
        <p:spPr>
          <a:xfrm>
            <a:off x="600365" y="370098"/>
            <a:ext cx="11443853" cy="1325563"/>
          </a:xfrm>
        </p:spPr>
        <p:txBody>
          <a:bodyPr vert="horz" lIns="91440" tIns="45720" rIns="91440" bIns="45720" rtlCol="0" anchor="ctr">
            <a:normAutofit/>
          </a:bodyPr>
          <a:lstStyle/>
          <a:p>
            <a:pPr algn="ctr"/>
            <a:r>
              <a:rPr lang="en-US"/>
              <a:t>Identity Bindings Overview</a:t>
            </a:r>
          </a:p>
        </p:txBody>
      </p:sp>
      <p:sp>
        <p:nvSpPr>
          <p:cNvPr id="12" name="sketch line">
            <a:extLst>
              <a:ext uri="{FF2B5EF4-FFF2-40B4-BE49-F238E27FC236}">
                <a16:creationId xmlns:a16="http://schemas.microsoft.com/office/drawing/2014/main" id="{61C09CCE-DAB3-16E3-D4FA-7EE1A7C7743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4F09B3F0-410E-3093-119C-35D13E1505B0}"/>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4067232509"/>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30E50CA-0F6C-8CCC-FE67-5E186B71E181}"/>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CC00B979-D6D9-B6F4-0E1C-E8778560CE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12B1FBB-2AE1-10A2-B599-8F5931EA2AED}"/>
              </a:ext>
            </a:extLst>
          </p:cNvPr>
          <p:cNvSpPr>
            <a:spLocks noGrp="1"/>
          </p:cNvSpPr>
          <p:nvPr>
            <p:ph type="title"/>
          </p:nvPr>
        </p:nvSpPr>
        <p:spPr>
          <a:xfrm>
            <a:off x="600365" y="370098"/>
            <a:ext cx="11443853" cy="1325563"/>
          </a:xfrm>
        </p:spPr>
        <p:txBody>
          <a:bodyPr vert="horz" lIns="91440" tIns="45720" rIns="91440" bIns="45720" rtlCol="0" anchor="ctr">
            <a:normAutofit/>
          </a:bodyPr>
          <a:lstStyle/>
          <a:p>
            <a:r>
              <a:rPr lang="en-US"/>
              <a:t>Set up identity bindings</a:t>
            </a:r>
          </a:p>
        </p:txBody>
      </p:sp>
      <p:sp>
        <p:nvSpPr>
          <p:cNvPr id="12" name="sketch line">
            <a:extLst>
              <a:ext uri="{FF2B5EF4-FFF2-40B4-BE49-F238E27FC236}">
                <a16:creationId xmlns:a16="http://schemas.microsoft.com/office/drawing/2014/main" id="{836A7F06-B884-DB5B-41C5-8AFA1168A9A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5E8708CD-4DE0-8618-C1B3-25B6AEF1C9E0}"/>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3424851945"/>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D79DF2F-1482-C2D9-B175-95C158C83843}"/>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EF2ED187-A594-F3CC-749E-17A39F3D2EC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48FE64C6-0E99-583A-2FD2-49FEB044B4C8}"/>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BF8BE9FE-D421-1A99-CC29-4552F3EF19D1}"/>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Set up identity bindings</a:t>
            </a:r>
          </a:p>
        </p:txBody>
      </p:sp>
      <p:sp>
        <p:nvSpPr>
          <p:cNvPr id="10" name="sketch line">
            <a:extLst>
              <a:ext uri="{FF2B5EF4-FFF2-40B4-BE49-F238E27FC236}">
                <a16:creationId xmlns:a16="http://schemas.microsoft.com/office/drawing/2014/main" id="{0732A6F1-F785-BC43-695C-51DF56581B2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286194011"/>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6BC2047-C134-E7E5-02EA-6F1503D5088E}"/>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7C39D1DD-3482-1649-A3B2-2E369891445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C70F2A5-0EB5-5DAC-B210-B25D114C80E4}"/>
              </a:ext>
            </a:extLst>
          </p:cNvPr>
          <p:cNvSpPr>
            <a:spLocks noGrp="1"/>
          </p:cNvSpPr>
          <p:nvPr>
            <p:ph type="title"/>
          </p:nvPr>
        </p:nvSpPr>
        <p:spPr>
          <a:xfrm>
            <a:off x="600365" y="370098"/>
            <a:ext cx="11443853" cy="1325563"/>
          </a:xfrm>
        </p:spPr>
        <p:txBody>
          <a:bodyPr vert="horz" lIns="91440" tIns="45720" rIns="91440" bIns="45720" rtlCol="0" anchor="ctr">
            <a:normAutofit/>
          </a:bodyPr>
          <a:lstStyle/>
          <a:p>
            <a:r>
              <a:rPr lang="en-US"/>
              <a:t>Microsoft Entra Pod Identity</a:t>
            </a:r>
          </a:p>
        </p:txBody>
      </p:sp>
      <p:sp>
        <p:nvSpPr>
          <p:cNvPr id="12" name="sketch line">
            <a:extLst>
              <a:ext uri="{FF2B5EF4-FFF2-40B4-BE49-F238E27FC236}">
                <a16:creationId xmlns:a16="http://schemas.microsoft.com/office/drawing/2014/main" id="{2D34024E-5890-D83C-ADEA-A30A676F55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8C7D87EB-154E-C22B-4A4C-15B260DC06B8}"/>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688717977"/>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EB44396-1A89-DA31-A505-F1A0EF864857}"/>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B1F567E-6B78-66A9-E733-BF529550B6E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BE22BE1C-73CD-44EC-9351-E08B28BC9610}"/>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05DE59B6-2385-B366-018B-BA6FDEA9F3A5}"/>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Microsoft Entra Pod Identity</a:t>
            </a:r>
          </a:p>
        </p:txBody>
      </p:sp>
      <p:sp>
        <p:nvSpPr>
          <p:cNvPr id="10" name="sketch line">
            <a:extLst>
              <a:ext uri="{FF2B5EF4-FFF2-40B4-BE49-F238E27FC236}">
                <a16:creationId xmlns:a16="http://schemas.microsoft.com/office/drawing/2014/main" id="{524792C2-8401-D9F0-A6FF-109F0F0895F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444276095"/>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981CE53-2C65-5A01-ED4A-31FDAD0F61F1}"/>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36F38012-E227-EFD3-17A4-ABFE74CF880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D32774E-79AC-3DE2-36A7-8D2151B83A7F}"/>
              </a:ext>
            </a:extLst>
          </p:cNvPr>
          <p:cNvSpPr>
            <a:spLocks noGrp="1"/>
          </p:cNvSpPr>
          <p:nvPr>
            <p:ph type="title"/>
          </p:nvPr>
        </p:nvSpPr>
        <p:spPr>
          <a:xfrm>
            <a:off x="600365" y="370098"/>
            <a:ext cx="11443853" cy="1325563"/>
          </a:xfrm>
        </p:spPr>
        <p:txBody>
          <a:bodyPr vert="horz" lIns="91440" tIns="45720" rIns="91440" bIns="45720" rtlCol="0" anchor="ctr">
            <a:normAutofit/>
          </a:bodyPr>
          <a:lstStyle/>
          <a:p>
            <a:r>
              <a:rPr lang="en-US"/>
              <a:t>Pod Sandboxing Overview</a:t>
            </a:r>
          </a:p>
        </p:txBody>
      </p:sp>
      <p:sp>
        <p:nvSpPr>
          <p:cNvPr id="12" name="sketch line">
            <a:extLst>
              <a:ext uri="{FF2B5EF4-FFF2-40B4-BE49-F238E27FC236}">
                <a16:creationId xmlns:a16="http://schemas.microsoft.com/office/drawing/2014/main" id="{CB29DF3B-362D-BCDF-DB94-E54A432950E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B92F9266-9279-B17D-9867-E619927B2F12}"/>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505376268"/>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E6DBB46-3C71-DCB1-4A52-D0F1E9F6FAC9}"/>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817E51D-548D-7F60-D22D-A54ED933EF9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654D932-CBBF-6DC7-8E13-2EB519E9DB21}"/>
              </a:ext>
            </a:extLst>
          </p:cNvPr>
          <p:cNvSpPr>
            <a:spLocks noGrp="1"/>
          </p:cNvSpPr>
          <p:nvPr>
            <p:ph type="title"/>
          </p:nvPr>
        </p:nvSpPr>
        <p:spPr>
          <a:xfrm>
            <a:off x="600365" y="370098"/>
            <a:ext cx="11443853" cy="1325563"/>
          </a:xfrm>
        </p:spPr>
        <p:txBody>
          <a:bodyPr vert="horz" lIns="91440" tIns="45720" rIns="91440" bIns="45720" rtlCol="0" anchor="ctr">
            <a:normAutofit/>
          </a:bodyPr>
          <a:lstStyle/>
          <a:p>
            <a:r>
              <a:rPr lang="en-US"/>
              <a:t>Pod Sandboxing Considerations</a:t>
            </a:r>
          </a:p>
        </p:txBody>
      </p:sp>
      <p:sp>
        <p:nvSpPr>
          <p:cNvPr id="12" name="sketch line">
            <a:extLst>
              <a:ext uri="{FF2B5EF4-FFF2-40B4-BE49-F238E27FC236}">
                <a16:creationId xmlns:a16="http://schemas.microsoft.com/office/drawing/2014/main" id="{F054443B-258B-AFB4-082D-F7D8552F234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135FB6DB-2A5D-B135-1695-138BF16B24BF}"/>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3983578156"/>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5E64F7F-6D43-A3FA-F13C-A80715EB3478}"/>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FF6C6112-1C88-3A60-D615-88D0C0E6EC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AFBAA50-2E4C-3D1E-470F-280FB71D93DE}"/>
              </a:ext>
            </a:extLst>
          </p:cNvPr>
          <p:cNvSpPr>
            <a:spLocks noGrp="1"/>
          </p:cNvSpPr>
          <p:nvPr>
            <p:ph type="title"/>
          </p:nvPr>
        </p:nvSpPr>
        <p:spPr>
          <a:xfrm>
            <a:off x="600365" y="370098"/>
            <a:ext cx="11443853" cy="1325563"/>
          </a:xfrm>
        </p:spPr>
        <p:txBody>
          <a:bodyPr vert="horz" lIns="91440" tIns="45720" rIns="91440" bIns="45720" rtlCol="0" anchor="ctr">
            <a:normAutofit/>
          </a:bodyPr>
          <a:lstStyle/>
          <a:p>
            <a:r>
              <a:rPr lang="en-US"/>
              <a:t>Deploy Pod Sandboxing</a:t>
            </a:r>
          </a:p>
        </p:txBody>
      </p:sp>
      <p:sp>
        <p:nvSpPr>
          <p:cNvPr id="12" name="sketch line">
            <a:extLst>
              <a:ext uri="{FF2B5EF4-FFF2-40B4-BE49-F238E27FC236}">
                <a16:creationId xmlns:a16="http://schemas.microsoft.com/office/drawing/2014/main" id="{26311F4D-3436-0AD9-6CEC-D1F222C2265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3BAB8312-C0A1-54A3-6B7A-C78EAE3EEDD9}"/>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164272476"/>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01BD64F-CF2F-6D92-92B6-9FFFE1712641}"/>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70C112E-1CD7-8951-AAC3-DDFE3D5E47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91A2E389-3DDF-1DB9-D5EC-92F119D32CB2}"/>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9732B477-CC46-113F-0F96-BC9E30599399}"/>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Deploy Pod Sandboxing</a:t>
            </a:r>
          </a:p>
        </p:txBody>
      </p:sp>
      <p:sp>
        <p:nvSpPr>
          <p:cNvPr id="10" name="sketch line">
            <a:extLst>
              <a:ext uri="{FF2B5EF4-FFF2-40B4-BE49-F238E27FC236}">
                <a16:creationId xmlns:a16="http://schemas.microsoft.com/office/drawing/2014/main" id="{C33AE091-046C-5551-860A-6DE9EE87632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860803913"/>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7B3306B-6548-C288-5BD7-0ADF01262019}"/>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D3307D12-59EB-D220-1E22-B80D575878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49F0EF5-D006-135D-5F6A-045B8541CFFF}"/>
              </a:ext>
            </a:extLst>
          </p:cNvPr>
          <p:cNvSpPr>
            <a:spLocks noGrp="1"/>
          </p:cNvSpPr>
          <p:nvPr>
            <p:ph type="title"/>
          </p:nvPr>
        </p:nvSpPr>
        <p:spPr>
          <a:xfrm>
            <a:off x="600365" y="370098"/>
            <a:ext cx="11443853" cy="1325563"/>
          </a:xfrm>
        </p:spPr>
        <p:txBody>
          <a:bodyPr vert="horz" lIns="91440" tIns="45720" rIns="91440" bIns="45720" rtlCol="0" anchor="ctr">
            <a:normAutofit/>
          </a:bodyPr>
          <a:lstStyle/>
          <a:p>
            <a:r>
              <a:rPr lang="en-US"/>
              <a:t>Secure Pod Traffic with Network Policies</a:t>
            </a:r>
          </a:p>
        </p:txBody>
      </p:sp>
      <p:sp>
        <p:nvSpPr>
          <p:cNvPr id="12" name="sketch line">
            <a:extLst>
              <a:ext uri="{FF2B5EF4-FFF2-40B4-BE49-F238E27FC236}">
                <a16:creationId xmlns:a16="http://schemas.microsoft.com/office/drawing/2014/main" id="{ED99F7DC-8BB2-4C92-7570-E567F149A6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88B8CEE2-7A2B-4028-472C-C322745DCBCD}"/>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1135404949"/>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A5B37C0-517B-EE31-7BBF-65E5F3209B9C}"/>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2F661289-36DA-FEBC-C2E8-3DB7C16ED51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0708AFBB-9B47-841F-9571-FC5566C56635}"/>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42BC2152-7ECA-6DD6-C716-1DA7305291B0}"/>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Secure Pod Traffic with Network Policies</a:t>
            </a:r>
          </a:p>
        </p:txBody>
      </p:sp>
      <p:sp>
        <p:nvSpPr>
          <p:cNvPr id="10" name="sketch line">
            <a:extLst>
              <a:ext uri="{FF2B5EF4-FFF2-40B4-BE49-F238E27FC236}">
                <a16:creationId xmlns:a16="http://schemas.microsoft.com/office/drawing/2014/main" id="{0F786956-3FAD-5B6A-D7F0-91F0E29B047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709779384"/>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4FF1F47-EBC9-B2B6-A997-D09D5642E297}"/>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A3F45904-80D4-9DD7-8593-BF318B909B4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043BE30-59BD-2C8B-FD92-D5B417BD625F}"/>
              </a:ext>
            </a:extLst>
          </p:cNvPr>
          <p:cNvSpPr>
            <a:spLocks noGrp="1"/>
          </p:cNvSpPr>
          <p:nvPr>
            <p:ph type="title"/>
          </p:nvPr>
        </p:nvSpPr>
        <p:spPr>
          <a:xfrm>
            <a:off x="600365" y="370098"/>
            <a:ext cx="11443853" cy="1325563"/>
          </a:xfrm>
        </p:spPr>
        <p:txBody>
          <a:bodyPr vert="horz" lIns="91440" tIns="45720" rIns="91440" bIns="45720" rtlCol="0" anchor="ctr">
            <a:normAutofit/>
          </a:bodyPr>
          <a:lstStyle/>
          <a:p>
            <a:r>
              <a:rPr lang="en-US"/>
              <a:t>Network Policy Best Practices</a:t>
            </a:r>
          </a:p>
        </p:txBody>
      </p:sp>
      <p:sp>
        <p:nvSpPr>
          <p:cNvPr id="12" name="sketch line">
            <a:extLst>
              <a:ext uri="{FF2B5EF4-FFF2-40B4-BE49-F238E27FC236}">
                <a16:creationId xmlns:a16="http://schemas.microsoft.com/office/drawing/2014/main" id="{1A6266FF-BD2A-3BB6-BB99-4D30CD33FE0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D81F82F6-ACDE-9A3E-35CF-F4F937EA5A46}"/>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643407306"/>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EF1395B-111C-1247-EF38-A2C66C57EC25}"/>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F7F3E25D-7ADB-48B6-43B0-84A5426F0B4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0E3FBB9-7DF6-B93E-006D-6578A70F7DDD}"/>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721CCBA3-D7DB-B9C7-C346-B77FCFB5F97F}"/>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Network Policy Best Practices</a:t>
            </a:r>
          </a:p>
        </p:txBody>
      </p:sp>
      <p:sp>
        <p:nvSpPr>
          <p:cNvPr id="10" name="sketch line">
            <a:extLst>
              <a:ext uri="{FF2B5EF4-FFF2-40B4-BE49-F238E27FC236}">
                <a16:creationId xmlns:a16="http://schemas.microsoft.com/office/drawing/2014/main" id="{94636AD0-5049-D54B-8C29-14B8015B43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453870819"/>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A37C1F0-455C-AD0C-0C62-0C4417D3A951}"/>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592BA7FB-95E4-FD3C-CFAA-C00BBE36595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706B1FB-5036-2327-D3AD-7590A752A3E4}"/>
              </a:ext>
            </a:extLst>
          </p:cNvPr>
          <p:cNvSpPr>
            <a:spLocks noGrp="1"/>
          </p:cNvSpPr>
          <p:nvPr>
            <p:ph type="title"/>
          </p:nvPr>
        </p:nvSpPr>
        <p:spPr>
          <a:xfrm>
            <a:off x="600365" y="370098"/>
            <a:ext cx="11443853" cy="1325563"/>
          </a:xfrm>
        </p:spPr>
        <p:txBody>
          <a:bodyPr vert="horz" lIns="91440" tIns="45720" rIns="91440" bIns="45720" rtlCol="0" anchor="ctr">
            <a:normAutofit/>
          </a:bodyPr>
          <a:lstStyle/>
          <a:p>
            <a:r>
              <a:rPr lang="en-US"/>
              <a:t>Use Network Policies in the Azure Portal</a:t>
            </a:r>
          </a:p>
        </p:txBody>
      </p:sp>
      <p:sp>
        <p:nvSpPr>
          <p:cNvPr id="12" name="sketch line">
            <a:extLst>
              <a:ext uri="{FF2B5EF4-FFF2-40B4-BE49-F238E27FC236}">
                <a16:creationId xmlns:a16="http://schemas.microsoft.com/office/drawing/2014/main" id="{F3CD6426-D49B-3EFC-4C18-F1B656573F9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211ACC7A-1B59-5B95-9FA3-31B41E49533A}"/>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3791785021"/>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7B7490B-93B2-325C-2CC4-A3E854581EA4}"/>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34ED5703-FE16-F351-BEBA-B487456437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324FE6C-7693-4B10-C63B-D9F7187D508A}"/>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CC27BD83-1BE8-C3CA-0213-A709CC448A10}"/>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Use Network Policies in the Azure Portal</a:t>
            </a:r>
          </a:p>
        </p:txBody>
      </p:sp>
      <p:sp>
        <p:nvSpPr>
          <p:cNvPr id="10" name="sketch line">
            <a:extLst>
              <a:ext uri="{FF2B5EF4-FFF2-40B4-BE49-F238E27FC236}">
                <a16:creationId xmlns:a16="http://schemas.microsoft.com/office/drawing/2014/main" id="{0B502D79-59FC-1174-AE69-B31ABF7E56F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27244050"/>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75E6205-7C0C-ED3B-B434-48DFD1B86320}"/>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1BB5FEE2-7684-9C0C-18BB-4850868615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53A6859-5C29-3820-DDD6-B520D71BBB24}"/>
              </a:ext>
            </a:extLst>
          </p:cNvPr>
          <p:cNvSpPr>
            <a:spLocks noGrp="1"/>
          </p:cNvSpPr>
          <p:nvPr>
            <p:ph type="title"/>
          </p:nvPr>
        </p:nvSpPr>
        <p:spPr>
          <a:xfrm>
            <a:off x="600365" y="370098"/>
            <a:ext cx="11443853" cy="1325563"/>
          </a:xfrm>
        </p:spPr>
        <p:txBody>
          <a:bodyPr vert="horz" lIns="91440" tIns="45720" rIns="91440" bIns="45720" rtlCol="0" anchor="ctr">
            <a:normAutofit/>
          </a:bodyPr>
          <a:lstStyle/>
          <a:p>
            <a:r>
              <a:rPr lang="en-US"/>
              <a:t>Pod Security Policies</a:t>
            </a:r>
          </a:p>
        </p:txBody>
      </p:sp>
      <p:sp>
        <p:nvSpPr>
          <p:cNvPr id="12" name="sketch line">
            <a:extLst>
              <a:ext uri="{FF2B5EF4-FFF2-40B4-BE49-F238E27FC236}">
                <a16:creationId xmlns:a16="http://schemas.microsoft.com/office/drawing/2014/main" id="{E06C9D4C-1489-28D8-DF19-5A769277C7C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88723F6F-0E23-A0FB-CBAD-381700F4558A}"/>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498931912"/>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1DE2E0E-4A44-2EAD-6182-0A1ED413D15E}"/>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FF6E8A52-FE88-09B8-FCCE-ABB4792EE6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DCAC7FAD-A68B-0AE9-12C1-4A84C6DBDF7D}"/>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2582ED3E-9988-9965-5D39-0C9EC0686538}"/>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Pod Security Policies</a:t>
            </a:r>
          </a:p>
        </p:txBody>
      </p:sp>
      <p:sp>
        <p:nvSpPr>
          <p:cNvPr id="10" name="sketch line">
            <a:extLst>
              <a:ext uri="{FF2B5EF4-FFF2-40B4-BE49-F238E27FC236}">
                <a16:creationId xmlns:a16="http://schemas.microsoft.com/office/drawing/2014/main" id="{08BA1A7E-1D48-76C5-D967-4291B83EDA3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281743134"/>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80FECA8-2BE4-000A-0318-6F3DF43267BB}"/>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D3AB3821-429D-07F6-F646-FF47BFD03D7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853E534-A21D-B8D9-0314-31E48420DE39}"/>
              </a:ext>
            </a:extLst>
          </p:cNvPr>
          <p:cNvSpPr>
            <a:spLocks noGrp="1"/>
          </p:cNvSpPr>
          <p:nvPr>
            <p:ph type="title"/>
          </p:nvPr>
        </p:nvSpPr>
        <p:spPr>
          <a:xfrm>
            <a:off x="600365" y="370098"/>
            <a:ext cx="11443853" cy="1325563"/>
          </a:xfrm>
        </p:spPr>
        <p:txBody>
          <a:bodyPr vert="horz" lIns="91440" tIns="45720" rIns="91440" bIns="45720" rtlCol="0" anchor="ctr">
            <a:normAutofit/>
          </a:bodyPr>
          <a:lstStyle/>
          <a:p>
            <a:r>
              <a:rPr lang="en-US"/>
              <a:t>Pod Security Best Practices</a:t>
            </a:r>
          </a:p>
        </p:txBody>
      </p:sp>
      <p:sp>
        <p:nvSpPr>
          <p:cNvPr id="12" name="sketch line">
            <a:extLst>
              <a:ext uri="{FF2B5EF4-FFF2-40B4-BE49-F238E27FC236}">
                <a16:creationId xmlns:a16="http://schemas.microsoft.com/office/drawing/2014/main" id="{9F33E82A-19FF-A83A-2B9F-B2BFE738F0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582C0A2E-B6F7-2DE6-C969-026F42141F64}"/>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3649195866"/>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A6C5BCC-A86C-1488-2BA8-B145ACB9F1D6}"/>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B214ED73-1611-A8B6-1D95-A9859B02CCD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D81A0C3-2EAC-2CB0-B55D-AF8C6B188776}"/>
              </a:ext>
            </a:extLst>
          </p:cNvPr>
          <p:cNvSpPr>
            <a:spLocks noGrp="1"/>
          </p:cNvSpPr>
          <p:nvPr>
            <p:ph type="title"/>
          </p:nvPr>
        </p:nvSpPr>
        <p:spPr>
          <a:xfrm>
            <a:off x="600365" y="370098"/>
            <a:ext cx="11443853" cy="1325563"/>
          </a:xfrm>
        </p:spPr>
        <p:txBody>
          <a:bodyPr vert="horz" lIns="91440" tIns="45720" rIns="91440" bIns="45720" rtlCol="0" anchor="ctr">
            <a:normAutofit/>
          </a:bodyPr>
          <a:lstStyle/>
          <a:p>
            <a:r>
              <a:rPr lang="en-US"/>
              <a:t>Resource Management Best Practices</a:t>
            </a:r>
          </a:p>
        </p:txBody>
      </p:sp>
      <p:sp>
        <p:nvSpPr>
          <p:cNvPr id="12" name="sketch line">
            <a:extLst>
              <a:ext uri="{FF2B5EF4-FFF2-40B4-BE49-F238E27FC236}">
                <a16:creationId xmlns:a16="http://schemas.microsoft.com/office/drawing/2014/main" id="{1F1DD402-DB94-9022-E86D-36588D8CE23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982ECD86-9133-780D-06B9-D4D98D553AFA}"/>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442847385"/>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1D0FF71-0804-914B-4D6A-8DE003FE076A}"/>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965A92B9-CECF-5C2B-E826-2057B90C5CA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F4AE92A-F126-97D1-CA0E-E39C3F90613B}"/>
              </a:ext>
            </a:extLst>
          </p:cNvPr>
          <p:cNvSpPr>
            <a:spLocks noGrp="1"/>
          </p:cNvSpPr>
          <p:nvPr>
            <p:ph type="title"/>
          </p:nvPr>
        </p:nvSpPr>
        <p:spPr>
          <a:xfrm>
            <a:off x="600365" y="370098"/>
            <a:ext cx="11443853" cy="1325563"/>
          </a:xfrm>
        </p:spPr>
        <p:txBody>
          <a:bodyPr vert="horz" lIns="91440" tIns="45720" rIns="91440" bIns="45720" rtlCol="0" anchor="ctr">
            <a:normAutofit/>
          </a:bodyPr>
          <a:lstStyle/>
          <a:p>
            <a:r>
              <a:rPr lang="en-US"/>
              <a:t>Configure TLS for NGINX Ingress Controller</a:t>
            </a:r>
          </a:p>
        </p:txBody>
      </p:sp>
      <p:sp>
        <p:nvSpPr>
          <p:cNvPr id="12" name="sketch line">
            <a:extLst>
              <a:ext uri="{FF2B5EF4-FFF2-40B4-BE49-F238E27FC236}">
                <a16:creationId xmlns:a16="http://schemas.microsoft.com/office/drawing/2014/main" id="{DDD8933B-4F98-6C68-59C0-90805A0A27A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928A78B8-7805-88DB-0FAF-1C6F17022079}"/>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1835990213"/>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B22BC66-3D47-CE20-B2B4-0B357AB5713A}"/>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80867D2E-F29F-7006-471A-0FB780547D5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76B9DDD-D2A8-B2ED-9450-8498AFDA3CCE}"/>
              </a:ext>
            </a:extLst>
          </p:cNvPr>
          <p:cNvSpPr>
            <a:spLocks noGrp="1"/>
          </p:cNvSpPr>
          <p:nvPr>
            <p:ph type="title"/>
          </p:nvPr>
        </p:nvSpPr>
        <p:spPr>
          <a:xfrm>
            <a:off x="600365" y="370098"/>
            <a:ext cx="11443853" cy="1325563"/>
          </a:xfrm>
        </p:spPr>
        <p:txBody>
          <a:bodyPr vert="horz" lIns="91440" tIns="45720" rIns="91440" bIns="45720" rtlCol="0" anchor="ctr">
            <a:normAutofit/>
          </a:bodyPr>
          <a:lstStyle/>
          <a:p>
            <a:r>
              <a:rPr lang="en-US"/>
              <a:t>1 - Configure Secrets Store CSI Driver</a:t>
            </a:r>
          </a:p>
        </p:txBody>
      </p:sp>
      <p:sp>
        <p:nvSpPr>
          <p:cNvPr id="12" name="sketch line">
            <a:extLst>
              <a:ext uri="{FF2B5EF4-FFF2-40B4-BE49-F238E27FC236}">
                <a16:creationId xmlns:a16="http://schemas.microsoft.com/office/drawing/2014/main" id="{24E93211-5F6B-DE0D-DF2D-6A1BCC785C9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793FAC52-4CD9-E2AF-21FC-0AA1D836553D}"/>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4125772906"/>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FA9EB2B-CEE2-9122-BD90-13333C3C08DE}"/>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866D82BE-B3D3-8045-6383-67BEEE8BE50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55F35B6A-F1EF-015E-21F9-C2573D1AB8DA}"/>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D5A9AA4D-F9E2-ACAB-559A-74AD2FE245ED}"/>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1 - Configure Secrets Store CSI Driver</a:t>
            </a:r>
          </a:p>
        </p:txBody>
      </p:sp>
      <p:sp>
        <p:nvSpPr>
          <p:cNvPr id="10" name="sketch line">
            <a:extLst>
              <a:ext uri="{FF2B5EF4-FFF2-40B4-BE49-F238E27FC236}">
                <a16:creationId xmlns:a16="http://schemas.microsoft.com/office/drawing/2014/main" id="{2FD9B433-B428-4375-7026-D887178D81C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424071483"/>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99AD7FB-D520-3DE8-FB16-5ADD60495EC6}"/>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8F7794E1-3B51-DE8F-D6F4-F4279952172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D9F7EBB-6415-8831-36AD-C87E13CC10C0}"/>
              </a:ext>
            </a:extLst>
          </p:cNvPr>
          <p:cNvSpPr>
            <a:spLocks noGrp="1"/>
          </p:cNvSpPr>
          <p:nvPr>
            <p:ph type="title"/>
          </p:nvPr>
        </p:nvSpPr>
        <p:spPr>
          <a:xfrm>
            <a:off x="600365" y="370098"/>
            <a:ext cx="11443853" cy="1325563"/>
          </a:xfrm>
        </p:spPr>
        <p:txBody>
          <a:bodyPr vert="horz" lIns="91440" tIns="45720" rIns="91440" bIns="45720" rtlCol="0" anchor="ctr">
            <a:normAutofit/>
          </a:bodyPr>
          <a:lstStyle/>
          <a:p>
            <a:r>
              <a:rPr lang="en-US"/>
              <a:t>2 - Provider Azure Key Vault Access</a:t>
            </a:r>
          </a:p>
        </p:txBody>
      </p:sp>
      <p:sp>
        <p:nvSpPr>
          <p:cNvPr id="12" name="sketch line">
            <a:extLst>
              <a:ext uri="{FF2B5EF4-FFF2-40B4-BE49-F238E27FC236}">
                <a16:creationId xmlns:a16="http://schemas.microsoft.com/office/drawing/2014/main" id="{5A7884D9-D9EC-DEB3-E0D6-A261B7A6081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B4753465-AC08-705C-CDD4-57A3D74B8285}"/>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1097750979"/>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1A6CE77-59C1-1E09-FE1A-B100E3426FD0}"/>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59C250BA-F516-90D5-4867-A5D4D8F7F21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B8B8B1C0-FC69-4B25-3F67-5B5760D29D82}"/>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98473647-28F9-59F2-A81C-F8749EEE83FE}"/>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2 - Provider Azure Key Vault Access</a:t>
            </a:r>
          </a:p>
        </p:txBody>
      </p:sp>
      <p:sp>
        <p:nvSpPr>
          <p:cNvPr id="10" name="sketch line">
            <a:extLst>
              <a:ext uri="{FF2B5EF4-FFF2-40B4-BE49-F238E27FC236}">
                <a16:creationId xmlns:a16="http://schemas.microsoft.com/office/drawing/2014/main" id="{870B6CB7-1F44-A101-2E3A-10E352FBB44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317060031"/>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6C3CB07-8FB9-89BF-D860-CF2FF7E40EE1}"/>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E8F6B7C7-FE52-281D-ECF7-7FE2F77004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43B127E-6EED-76DF-F985-002358681455}"/>
              </a:ext>
            </a:extLst>
          </p:cNvPr>
          <p:cNvSpPr>
            <a:spLocks noGrp="1"/>
          </p:cNvSpPr>
          <p:nvPr>
            <p:ph type="title"/>
          </p:nvPr>
        </p:nvSpPr>
        <p:spPr>
          <a:xfrm>
            <a:off x="157019" y="370098"/>
            <a:ext cx="13337308" cy="1325563"/>
          </a:xfrm>
        </p:spPr>
        <p:txBody>
          <a:bodyPr vert="horz" lIns="91440" tIns="45720" rIns="91440" bIns="45720" rtlCol="0" anchor="ctr">
            <a:normAutofit/>
          </a:bodyPr>
          <a:lstStyle/>
          <a:p>
            <a:pPr algn="ctr"/>
            <a:r>
              <a:rPr lang="en-US"/>
              <a:t>3 - Apply Extra Configurations or Perform </a:t>
            </a:r>
            <a:br>
              <a:rPr lang="en-US"/>
            </a:br>
            <a:r>
              <a:rPr lang="en-US"/>
              <a:t>Troubleshooting</a:t>
            </a:r>
          </a:p>
        </p:txBody>
      </p:sp>
      <p:sp>
        <p:nvSpPr>
          <p:cNvPr id="12" name="sketch line">
            <a:extLst>
              <a:ext uri="{FF2B5EF4-FFF2-40B4-BE49-F238E27FC236}">
                <a16:creationId xmlns:a16="http://schemas.microsoft.com/office/drawing/2014/main" id="{F9A4FBB3-E720-8582-3269-EC6BE593BF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55336BC0-1C27-B58A-FBBA-5CED404F41A1}"/>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3758626798"/>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DFC3A70-23B0-4E74-D440-352C9D30D71E}"/>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3338AACA-399F-B521-DCC0-B01545684B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4CD28783-BD30-0453-84C6-00E222C4F8F3}"/>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F6D92FD4-418B-1436-577D-1082FAEE19C0}"/>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3 - Apply Extra Configurations or Perform </a:t>
            </a:r>
            <a:br>
              <a:rPr lang="en-US" sz="2400"/>
            </a:br>
            <a:r>
              <a:rPr lang="en-US" sz="2400"/>
              <a:t>Troubleshooting</a:t>
            </a:r>
          </a:p>
        </p:txBody>
      </p:sp>
      <p:sp>
        <p:nvSpPr>
          <p:cNvPr id="10" name="sketch line">
            <a:extLst>
              <a:ext uri="{FF2B5EF4-FFF2-40B4-BE49-F238E27FC236}">
                <a16:creationId xmlns:a16="http://schemas.microsoft.com/office/drawing/2014/main" id="{8350902F-016D-0683-833C-B96E9FA0948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672811610"/>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AF1966E-FD40-4A4A-B61B-C4DF7FA05F0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useBgFill="1">
        <p:nvSpPr>
          <p:cNvPr id="10" name="Rectangle 9">
            <a:extLst>
              <a:ext uri="{FF2B5EF4-FFF2-40B4-BE49-F238E27FC236}">
                <a16:creationId xmlns:a16="http://schemas.microsoft.com/office/drawing/2014/main" id="{047BFA19-D45E-416B-A404-7AF2F3F270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8209" y="0"/>
            <a:ext cx="11167447" cy="2018806"/>
          </a:xfrm>
          <a:prstGeom prst="rect">
            <a:avLst/>
          </a:prstGeom>
          <a:ln w="9525">
            <a:solidFill>
              <a:srgbClr val="E1E1E1"/>
            </a:solidFill>
          </a:ln>
          <a:effectLst>
            <a:outerShdw blurRad="50800" dist="38100" dir="2700000" algn="t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2" name="Rectangle 11">
            <a:extLst>
              <a:ext uri="{FF2B5EF4-FFF2-40B4-BE49-F238E27FC236}">
                <a16:creationId xmlns:a16="http://schemas.microsoft.com/office/drawing/2014/main" id="{8E0105E7-23DB-4CF2-8258-FF47C7620F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6928" y="0"/>
            <a:ext cx="11155680" cy="2011680"/>
          </a:xfrm>
          <a:prstGeom prst="rect">
            <a:avLst/>
          </a:pr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9B04EC62-3031-7072-16EC-B397A472F0CE}"/>
              </a:ext>
            </a:extLst>
          </p:cNvPr>
          <p:cNvSpPr>
            <a:spLocks noGrp="1"/>
          </p:cNvSpPr>
          <p:nvPr>
            <p:ph type="title"/>
          </p:nvPr>
        </p:nvSpPr>
        <p:spPr>
          <a:xfrm>
            <a:off x="1115568" y="548640"/>
            <a:ext cx="10168128" cy="1179576"/>
          </a:xfrm>
        </p:spPr>
        <p:txBody>
          <a:bodyPr>
            <a:normAutofit/>
          </a:bodyPr>
          <a:lstStyle/>
          <a:p>
            <a:r>
              <a:rPr lang="en-US" sz="4000"/>
              <a:t>Open ID Connect (OIDC) on AKS</a:t>
            </a:r>
          </a:p>
        </p:txBody>
      </p:sp>
      <p:sp>
        <p:nvSpPr>
          <p:cNvPr id="14" name="Rectangle 13">
            <a:extLst>
              <a:ext uri="{FF2B5EF4-FFF2-40B4-BE49-F238E27FC236}">
                <a16:creationId xmlns:a16="http://schemas.microsoft.com/office/drawing/2014/main" id="{074B4F7D-14B2-478B-8BF5-01E4E0C5D26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8834" y="758952"/>
            <a:ext cx="128016"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 name="Content Placeholder 2">
            <a:extLst>
              <a:ext uri="{FF2B5EF4-FFF2-40B4-BE49-F238E27FC236}">
                <a16:creationId xmlns:a16="http://schemas.microsoft.com/office/drawing/2014/main" id="{CF269636-5A48-605F-5D7F-D02783CEAB36}"/>
              </a:ext>
            </a:extLst>
          </p:cNvPr>
          <p:cNvSpPr>
            <a:spLocks noGrp="1"/>
          </p:cNvSpPr>
          <p:nvPr>
            <p:ph idx="1"/>
          </p:nvPr>
        </p:nvSpPr>
        <p:spPr>
          <a:xfrm>
            <a:off x="566926" y="2221992"/>
            <a:ext cx="11167447" cy="3954971"/>
          </a:xfrm>
        </p:spPr>
        <p:txBody>
          <a:bodyPr>
            <a:normAutofit/>
          </a:bodyPr>
          <a:lstStyle/>
          <a:p>
            <a:pPr>
              <a:spcAft>
                <a:spcPts val="600"/>
              </a:spcAft>
            </a:pPr>
            <a:r>
              <a:rPr lang="en-US" sz="2400"/>
              <a:t>OpenID Connect (OIDC) extends the OAuth 2.0 authorization protocol for use as another authentication protocol issued by Microsoft Entra ID.</a:t>
            </a:r>
          </a:p>
          <a:p>
            <a:pPr>
              <a:spcAft>
                <a:spcPts val="600"/>
              </a:spcAft>
            </a:pPr>
            <a:r>
              <a:rPr lang="en-US" sz="2400"/>
              <a:t>You can use OIDC to enable single sign-on (SSO) between OAuth-enabled applications on your Azure Kubernetes Service (AKS) cluster using a security token called an ID token.</a:t>
            </a:r>
          </a:p>
          <a:p>
            <a:r>
              <a:rPr lang="en-US" sz="2400"/>
              <a:t>You can enable the OIDC issuer on your AKS clusters, which allows Microsoft Entra ID (or another cloud provider's identity and access management platform) to discover the API server's public signing keys.</a:t>
            </a:r>
          </a:p>
        </p:txBody>
      </p:sp>
    </p:spTree>
    <p:extLst>
      <p:ext uri="{BB962C8B-B14F-4D97-AF65-F5344CB8AC3E}">
        <p14:creationId xmlns:p14="http://schemas.microsoft.com/office/powerpoint/2010/main" val="1827053775"/>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FAA1D32-73FF-82E5-2497-794DF4F47746}"/>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17DC455-9DA7-ECF5-2DCB-53D9BDD2E3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useBgFill="1">
        <p:nvSpPr>
          <p:cNvPr id="10" name="Rectangle 9">
            <a:extLst>
              <a:ext uri="{FF2B5EF4-FFF2-40B4-BE49-F238E27FC236}">
                <a16:creationId xmlns:a16="http://schemas.microsoft.com/office/drawing/2014/main" id="{EAD3C12A-5076-52A3-1685-F2BED1EFFC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8209" y="0"/>
            <a:ext cx="11167447" cy="2018806"/>
          </a:xfrm>
          <a:prstGeom prst="rect">
            <a:avLst/>
          </a:prstGeom>
          <a:ln w="9525">
            <a:solidFill>
              <a:srgbClr val="E1E1E1"/>
            </a:solidFill>
          </a:ln>
          <a:effectLst>
            <a:outerShdw blurRad="50800" dist="38100" dir="2700000" algn="t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2" name="Rectangle 11">
            <a:extLst>
              <a:ext uri="{FF2B5EF4-FFF2-40B4-BE49-F238E27FC236}">
                <a16:creationId xmlns:a16="http://schemas.microsoft.com/office/drawing/2014/main" id="{CA3BDF82-8657-2EB3-FAD4-5A187F891C0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6928" y="0"/>
            <a:ext cx="11155680" cy="2011680"/>
          </a:xfrm>
          <a:prstGeom prst="rect">
            <a:avLst/>
          </a:pr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212126B6-019F-E31A-9CC9-C39145F659DE}"/>
              </a:ext>
            </a:extLst>
          </p:cNvPr>
          <p:cNvSpPr>
            <a:spLocks noGrp="1"/>
          </p:cNvSpPr>
          <p:nvPr>
            <p:ph type="title"/>
          </p:nvPr>
        </p:nvSpPr>
        <p:spPr>
          <a:xfrm>
            <a:off x="1115568" y="548640"/>
            <a:ext cx="10168128" cy="1179576"/>
          </a:xfrm>
        </p:spPr>
        <p:txBody>
          <a:bodyPr>
            <a:normAutofit/>
          </a:bodyPr>
          <a:lstStyle/>
          <a:p>
            <a:r>
              <a:rPr lang="en-US" sz="4000"/>
              <a:t>Open ID Connect (OIDC) on AKS</a:t>
            </a:r>
          </a:p>
        </p:txBody>
      </p:sp>
      <p:sp>
        <p:nvSpPr>
          <p:cNvPr id="14" name="Rectangle 13">
            <a:extLst>
              <a:ext uri="{FF2B5EF4-FFF2-40B4-BE49-F238E27FC236}">
                <a16:creationId xmlns:a16="http://schemas.microsoft.com/office/drawing/2014/main" id="{27030759-B1F7-1EDA-31C1-4E59B7FB0D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8834" y="758952"/>
            <a:ext cx="128016"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 name="Content Placeholder 2">
            <a:extLst>
              <a:ext uri="{FF2B5EF4-FFF2-40B4-BE49-F238E27FC236}">
                <a16:creationId xmlns:a16="http://schemas.microsoft.com/office/drawing/2014/main" id="{3787B3DE-5DCD-FC19-616B-5E6BE8B42A42}"/>
              </a:ext>
            </a:extLst>
          </p:cNvPr>
          <p:cNvSpPr>
            <a:spLocks noGrp="1"/>
          </p:cNvSpPr>
          <p:nvPr>
            <p:ph idx="1"/>
          </p:nvPr>
        </p:nvSpPr>
        <p:spPr>
          <a:xfrm>
            <a:off x="566926" y="2221993"/>
            <a:ext cx="11250700" cy="2966234"/>
          </a:xfrm>
        </p:spPr>
        <p:txBody>
          <a:bodyPr>
            <a:normAutofit/>
          </a:bodyPr>
          <a:lstStyle/>
          <a:p>
            <a:pPr>
              <a:spcAft>
                <a:spcPts val="600"/>
              </a:spcAft>
            </a:pPr>
            <a:r>
              <a:rPr lang="en-US" sz="2400"/>
              <a:t>You can't disable OIDC issuer once enabled</a:t>
            </a:r>
          </a:p>
          <a:p>
            <a:pPr>
              <a:spcAft>
                <a:spcPts val="600"/>
              </a:spcAft>
            </a:pPr>
            <a:r>
              <a:rPr lang="en-US" sz="2400"/>
              <a:t>Enabling OIDC issuer on existing clusters requires API server restart (brief downtime)</a:t>
            </a:r>
          </a:p>
          <a:p>
            <a:pPr>
              <a:spcAft>
                <a:spcPts val="600"/>
              </a:spcAft>
            </a:pPr>
            <a:r>
              <a:rPr lang="en-US" sz="2400"/>
              <a:t>Maximum token lifetime is 24 hours (one day)</a:t>
            </a:r>
          </a:p>
          <a:p>
            <a:pPr>
              <a:spcAft>
                <a:spcPts val="600"/>
              </a:spcAft>
            </a:pPr>
            <a:r>
              <a:rPr lang="en-US" sz="2400"/>
              <a:t>Projected service account tokens required for Kubernetes 1.30+ clusters</a:t>
            </a:r>
          </a:p>
        </p:txBody>
      </p:sp>
    </p:spTree>
    <p:extLst>
      <p:ext uri="{BB962C8B-B14F-4D97-AF65-F5344CB8AC3E}">
        <p14:creationId xmlns:p14="http://schemas.microsoft.com/office/powerpoint/2010/main" val="1027240615"/>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20E3460-5C96-3C33-F90A-080BF82F0810}"/>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49C24B3-CEB1-EAE1-D153-34ECE9D693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useBgFill="1">
        <p:nvSpPr>
          <p:cNvPr id="10" name="Rectangle 9">
            <a:extLst>
              <a:ext uri="{FF2B5EF4-FFF2-40B4-BE49-F238E27FC236}">
                <a16:creationId xmlns:a16="http://schemas.microsoft.com/office/drawing/2014/main" id="{6EB5E184-6A90-6D5F-6327-55B0A1C0B31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8209" y="0"/>
            <a:ext cx="11167447" cy="2018806"/>
          </a:xfrm>
          <a:prstGeom prst="rect">
            <a:avLst/>
          </a:prstGeom>
          <a:ln w="9525">
            <a:solidFill>
              <a:srgbClr val="E1E1E1"/>
            </a:solidFill>
          </a:ln>
          <a:effectLst>
            <a:outerShdw blurRad="50800" dist="38100" dir="2700000" algn="t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2" name="Rectangle 11">
            <a:extLst>
              <a:ext uri="{FF2B5EF4-FFF2-40B4-BE49-F238E27FC236}">
                <a16:creationId xmlns:a16="http://schemas.microsoft.com/office/drawing/2014/main" id="{6FC209B1-39D6-B470-2D66-1A820040436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6928" y="0"/>
            <a:ext cx="11155680" cy="2011680"/>
          </a:xfrm>
          <a:prstGeom prst="rect">
            <a:avLst/>
          </a:pr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4ABFB6A8-72CA-A075-B175-0C40A6D9367E}"/>
              </a:ext>
            </a:extLst>
          </p:cNvPr>
          <p:cNvSpPr>
            <a:spLocks noGrp="1"/>
          </p:cNvSpPr>
          <p:nvPr>
            <p:ph type="title"/>
          </p:nvPr>
        </p:nvSpPr>
        <p:spPr>
          <a:xfrm>
            <a:off x="1115568" y="548640"/>
            <a:ext cx="10168128" cy="1179576"/>
          </a:xfrm>
        </p:spPr>
        <p:txBody>
          <a:bodyPr>
            <a:normAutofit/>
          </a:bodyPr>
          <a:lstStyle/>
          <a:p>
            <a:r>
              <a:rPr lang="en-US" sz="4000"/>
              <a:t>Open ID Connect (OIDC) on AKS</a:t>
            </a:r>
          </a:p>
        </p:txBody>
      </p:sp>
      <p:sp>
        <p:nvSpPr>
          <p:cNvPr id="14" name="Rectangle 13">
            <a:extLst>
              <a:ext uri="{FF2B5EF4-FFF2-40B4-BE49-F238E27FC236}">
                <a16:creationId xmlns:a16="http://schemas.microsoft.com/office/drawing/2014/main" id="{2B50AACE-4138-503A-0CCD-A55D0DE965E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8834" y="758952"/>
            <a:ext cx="128016"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 name="TextBox 6">
            <a:extLst>
              <a:ext uri="{FF2B5EF4-FFF2-40B4-BE49-F238E27FC236}">
                <a16:creationId xmlns:a16="http://schemas.microsoft.com/office/drawing/2014/main" id="{2F63206D-E739-6FB7-38D3-4E3AF57E06EC}"/>
              </a:ext>
            </a:extLst>
          </p:cNvPr>
          <p:cNvSpPr txBox="1"/>
          <p:nvPr/>
        </p:nvSpPr>
        <p:spPr>
          <a:xfrm>
            <a:off x="241024" y="2770632"/>
            <a:ext cx="5853320" cy="3416320"/>
          </a:xfrm>
          <a:prstGeom prst="rect">
            <a:avLst/>
          </a:prstGeom>
          <a:noFill/>
          <a:ln w="3175">
            <a:solidFill>
              <a:schemeClr val="tx1"/>
            </a:solidFill>
            <a:prstDash val="solid"/>
          </a:ln>
        </p:spPr>
        <p:txBody>
          <a:bodyPr wrap="square">
            <a:spAutoFit/>
          </a:bodyPr>
          <a:lstStyle/>
          <a:p>
            <a:r>
              <a:rPr lang="en-US" b="1">
                <a:solidFill>
                  <a:schemeClr val="accent3">
                    <a:lumMod val="60000"/>
                    <a:lumOff val="40000"/>
                  </a:schemeClr>
                </a:solidFill>
              </a:rPr>
              <a:t># Set environment variables</a:t>
            </a:r>
          </a:p>
          <a:p>
            <a:r>
              <a:rPr lang="en-US">
                <a:latin typeface="Consolas" panose="020B0609020204030204" pitchFamily="49" charset="0"/>
              </a:rPr>
              <a:t>RESOURCE_GROUP=</a:t>
            </a:r>
            <a:r>
              <a:rPr lang="en-US">
                <a:solidFill>
                  <a:srgbClr val="EE0000"/>
                </a:solidFill>
                <a:latin typeface="Consolas" panose="020B0609020204030204" pitchFamily="49" charset="0"/>
              </a:rPr>
              <a:t>&lt;your-resource-group-name&gt;</a:t>
            </a:r>
          </a:p>
          <a:p>
            <a:r>
              <a:rPr lang="en-US">
                <a:latin typeface="Consolas" panose="020B0609020204030204" pitchFamily="49" charset="0"/>
              </a:rPr>
              <a:t>CLUSTER_NAME=</a:t>
            </a:r>
            <a:r>
              <a:rPr lang="en-US">
                <a:solidFill>
                  <a:srgbClr val="EE0000"/>
                </a:solidFill>
                <a:latin typeface="Consolas" panose="020B0609020204030204" pitchFamily="49" charset="0"/>
              </a:rPr>
              <a:t>&lt;your-</a:t>
            </a:r>
            <a:r>
              <a:rPr lang="en-US" err="1">
                <a:solidFill>
                  <a:srgbClr val="EE0000"/>
                </a:solidFill>
                <a:latin typeface="Consolas" panose="020B0609020204030204" pitchFamily="49" charset="0"/>
              </a:rPr>
              <a:t>aks</a:t>
            </a:r>
            <a:r>
              <a:rPr lang="en-US">
                <a:solidFill>
                  <a:srgbClr val="EE0000"/>
                </a:solidFill>
                <a:latin typeface="Consolas" panose="020B0609020204030204" pitchFamily="49" charset="0"/>
              </a:rPr>
              <a:t>-cluster-name&gt;</a:t>
            </a:r>
          </a:p>
          <a:p>
            <a:endParaRPr lang="en-US"/>
          </a:p>
          <a:p>
            <a:r>
              <a:rPr lang="en-US" b="1">
                <a:solidFill>
                  <a:schemeClr val="accent3">
                    <a:lumMod val="60000"/>
                    <a:lumOff val="40000"/>
                  </a:schemeClr>
                </a:solidFill>
              </a:rPr>
              <a:t># Create the AKS cluster with OIDC issuer enabled (OIDC issuer enabled by default for Kubernetes 1.34+)</a:t>
            </a:r>
          </a:p>
          <a:p>
            <a:r>
              <a:rPr lang="en-US" b="1" err="1">
                <a:solidFill>
                  <a:schemeClr val="tx2">
                    <a:lumMod val="75000"/>
                    <a:lumOff val="25000"/>
                  </a:schemeClr>
                </a:solidFill>
                <a:latin typeface="Consolas" panose="020B0609020204030204" pitchFamily="49" charset="0"/>
              </a:rPr>
              <a:t>az</a:t>
            </a:r>
            <a:r>
              <a:rPr lang="en-US" b="1">
                <a:solidFill>
                  <a:schemeClr val="tx2">
                    <a:lumMod val="75000"/>
                    <a:lumOff val="25000"/>
                  </a:schemeClr>
                </a:solidFill>
                <a:latin typeface="Consolas" panose="020B0609020204030204" pitchFamily="49" charset="0"/>
              </a:rPr>
              <a:t> </a:t>
            </a:r>
            <a:r>
              <a:rPr lang="en-US" b="1" err="1">
                <a:solidFill>
                  <a:schemeClr val="tx2">
                    <a:lumMod val="75000"/>
                    <a:lumOff val="25000"/>
                  </a:schemeClr>
                </a:solidFill>
                <a:latin typeface="Consolas" panose="020B0609020204030204" pitchFamily="49" charset="0"/>
              </a:rPr>
              <a:t>aks</a:t>
            </a:r>
            <a:r>
              <a:rPr lang="en-US" b="1">
                <a:solidFill>
                  <a:schemeClr val="tx2">
                    <a:lumMod val="75000"/>
                    <a:lumOff val="25000"/>
                  </a:schemeClr>
                </a:solidFill>
                <a:latin typeface="Consolas" panose="020B0609020204030204" pitchFamily="49" charset="0"/>
              </a:rPr>
              <a:t> create </a:t>
            </a:r>
          </a:p>
          <a:p>
            <a:r>
              <a:rPr lang="en-US">
                <a:solidFill>
                  <a:schemeClr val="accent4">
                    <a:lumMod val="75000"/>
                  </a:schemeClr>
                </a:solidFill>
                <a:latin typeface="Consolas" panose="020B0609020204030204" pitchFamily="49" charset="0"/>
              </a:rPr>
              <a:t>--resource-group </a:t>
            </a:r>
            <a:r>
              <a:rPr lang="en-US">
                <a:latin typeface="Consolas" panose="020B0609020204030204" pitchFamily="49" charset="0"/>
              </a:rPr>
              <a:t>$RESOURCE_GROUP </a:t>
            </a:r>
          </a:p>
          <a:p>
            <a:r>
              <a:rPr lang="en-US">
                <a:solidFill>
                  <a:schemeClr val="accent4">
                    <a:lumMod val="75000"/>
                  </a:schemeClr>
                </a:solidFill>
                <a:latin typeface="Consolas" panose="020B0609020204030204" pitchFamily="49" charset="0"/>
              </a:rPr>
              <a:t>--name </a:t>
            </a:r>
            <a:r>
              <a:rPr lang="en-US">
                <a:latin typeface="Consolas" panose="020B0609020204030204" pitchFamily="49" charset="0"/>
              </a:rPr>
              <a:t>$CLUSTER_NAME </a:t>
            </a:r>
          </a:p>
          <a:p>
            <a:r>
              <a:rPr lang="en-US">
                <a:solidFill>
                  <a:schemeClr val="accent4">
                    <a:lumMod val="75000"/>
                  </a:schemeClr>
                </a:solidFill>
                <a:latin typeface="Consolas" panose="020B0609020204030204" pitchFamily="49" charset="0"/>
              </a:rPr>
              <a:t>--node-count </a:t>
            </a:r>
            <a:r>
              <a:rPr lang="en-US">
                <a:latin typeface="Consolas" panose="020B0609020204030204" pitchFamily="49" charset="0"/>
              </a:rPr>
              <a:t>1 </a:t>
            </a:r>
          </a:p>
          <a:p>
            <a:r>
              <a:rPr lang="en-US">
                <a:solidFill>
                  <a:schemeClr val="accent4">
                    <a:lumMod val="75000"/>
                  </a:schemeClr>
                </a:solidFill>
                <a:latin typeface="Consolas" panose="020B0609020204030204" pitchFamily="49" charset="0"/>
              </a:rPr>
              <a:t>--enable-</a:t>
            </a:r>
            <a:r>
              <a:rPr lang="en-US" err="1">
                <a:solidFill>
                  <a:schemeClr val="accent4">
                    <a:lumMod val="75000"/>
                  </a:schemeClr>
                </a:solidFill>
                <a:latin typeface="Consolas" panose="020B0609020204030204" pitchFamily="49" charset="0"/>
              </a:rPr>
              <a:t>oidc</a:t>
            </a:r>
            <a:r>
              <a:rPr lang="en-US">
                <a:solidFill>
                  <a:schemeClr val="accent4">
                    <a:lumMod val="75000"/>
                  </a:schemeClr>
                </a:solidFill>
                <a:latin typeface="Consolas" panose="020B0609020204030204" pitchFamily="49" charset="0"/>
              </a:rPr>
              <a:t>-issuer </a:t>
            </a:r>
          </a:p>
          <a:p>
            <a:r>
              <a:rPr lang="en-US">
                <a:solidFill>
                  <a:schemeClr val="accent4">
                    <a:lumMod val="75000"/>
                  </a:schemeClr>
                </a:solidFill>
                <a:latin typeface="Consolas" panose="020B0609020204030204" pitchFamily="49" charset="0"/>
              </a:rPr>
              <a:t>--generate-ssh-keys</a:t>
            </a:r>
          </a:p>
        </p:txBody>
      </p:sp>
      <p:sp>
        <p:nvSpPr>
          <p:cNvPr id="11" name="TextBox 10">
            <a:extLst>
              <a:ext uri="{FF2B5EF4-FFF2-40B4-BE49-F238E27FC236}">
                <a16:creationId xmlns:a16="http://schemas.microsoft.com/office/drawing/2014/main" id="{81200CD9-EF60-0550-71DE-64C70CBDEE74}"/>
              </a:ext>
            </a:extLst>
          </p:cNvPr>
          <p:cNvSpPr txBox="1"/>
          <p:nvPr/>
        </p:nvSpPr>
        <p:spPr>
          <a:xfrm>
            <a:off x="6265795" y="2770632"/>
            <a:ext cx="5685181" cy="2585323"/>
          </a:xfrm>
          <a:prstGeom prst="rect">
            <a:avLst/>
          </a:prstGeom>
          <a:noFill/>
          <a:ln w="3175">
            <a:solidFill>
              <a:schemeClr val="tx1"/>
            </a:solidFill>
            <a:prstDash val="solid"/>
          </a:ln>
        </p:spPr>
        <p:txBody>
          <a:bodyPr wrap="square">
            <a:spAutoFit/>
          </a:bodyPr>
          <a:lstStyle/>
          <a:p>
            <a:r>
              <a:rPr lang="en-US" b="1">
                <a:solidFill>
                  <a:schemeClr val="accent3">
                    <a:lumMod val="60000"/>
                    <a:lumOff val="40000"/>
                  </a:schemeClr>
                </a:solidFill>
              </a:rPr>
              <a:t># Set environment variables</a:t>
            </a:r>
          </a:p>
          <a:p>
            <a:r>
              <a:rPr lang="en-US">
                <a:latin typeface="Consolas" panose="020B0609020204030204" pitchFamily="49" charset="0"/>
              </a:rPr>
              <a:t>RESOURCE_GROUP=</a:t>
            </a:r>
            <a:r>
              <a:rPr lang="en-US">
                <a:solidFill>
                  <a:srgbClr val="EE0000"/>
                </a:solidFill>
                <a:latin typeface="Consolas" panose="020B0609020204030204" pitchFamily="49" charset="0"/>
              </a:rPr>
              <a:t>&lt;your-resource-group-name&gt;</a:t>
            </a:r>
          </a:p>
          <a:p>
            <a:r>
              <a:rPr lang="en-US">
                <a:latin typeface="Consolas" panose="020B0609020204030204" pitchFamily="49" charset="0"/>
              </a:rPr>
              <a:t>CLUSTER_NAME=</a:t>
            </a:r>
            <a:r>
              <a:rPr lang="en-US">
                <a:solidFill>
                  <a:srgbClr val="EE0000"/>
                </a:solidFill>
                <a:latin typeface="Consolas" panose="020B0609020204030204" pitchFamily="49" charset="0"/>
              </a:rPr>
              <a:t>&lt;your-</a:t>
            </a:r>
            <a:r>
              <a:rPr lang="en-US" err="1">
                <a:solidFill>
                  <a:srgbClr val="EE0000"/>
                </a:solidFill>
                <a:latin typeface="Consolas" panose="020B0609020204030204" pitchFamily="49" charset="0"/>
              </a:rPr>
              <a:t>aks</a:t>
            </a:r>
            <a:r>
              <a:rPr lang="en-US">
                <a:solidFill>
                  <a:srgbClr val="EE0000"/>
                </a:solidFill>
                <a:latin typeface="Consolas" panose="020B0609020204030204" pitchFamily="49" charset="0"/>
              </a:rPr>
              <a:t>-cluster-name&gt;</a:t>
            </a:r>
          </a:p>
          <a:p>
            <a:endParaRPr lang="en-US">
              <a:latin typeface="Consolas" panose="020B0609020204030204" pitchFamily="49" charset="0"/>
            </a:endParaRPr>
          </a:p>
          <a:p>
            <a:r>
              <a:rPr lang="en-US" b="1">
                <a:solidFill>
                  <a:schemeClr val="accent3">
                    <a:lumMod val="60000"/>
                    <a:lumOff val="40000"/>
                  </a:schemeClr>
                </a:solidFill>
              </a:rPr>
              <a:t># Enable the OIDC issuer on the existing AKS cluster</a:t>
            </a:r>
          </a:p>
          <a:p>
            <a:r>
              <a:rPr lang="en-US" b="1" err="1">
                <a:solidFill>
                  <a:schemeClr val="tx2">
                    <a:lumMod val="75000"/>
                    <a:lumOff val="25000"/>
                  </a:schemeClr>
                </a:solidFill>
                <a:latin typeface="Consolas" panose="020B0609020204030204" pitchFamily="49" charset="0"/>
              </a:rPr>
              <a:t>az</a:t>
            </a:r>
            <a:r>
              <a:rPr lang="en-US" b="1">
                <a:solidFill>
                  <a:schemeClr val="tx2">
                    <a:lumMod val="75000"/>
                    <a:lumOff val="25000"/>
                  </a:schemeClr>
                </a:solidFill>
                <a:latin typeface="Consolas" panose="020B0609020204030204" pitchFamily="49" charset="0"/>
              </a:rPr>
              <a:t> </a:t>
            </a:r>
            <a:r>
              <a:rPr lang="en-US" b="1" err="1">
                <a:solidFill>
                  <a:schemeClr val="tx2">
                    <a:lumMod val="75000"/>
                    <a:lumOff val="25000"/>
                  </a:schemeClr>
                </a:solidFill>
                <a:latin typeface="Consolas" panose="020B0609020204030204" pitchFamily="49" charset="0"/>
              </a:rPr>
              <a:t>aks</a:t>
            </a:r>
            <a:r>
              <a:rPr lang="en-US" b="1">
                <a:solidFill>
                  <a:schemeClr val="tx2">
                    <a:lumMod val="75000"/>
                    <a:lumOff val="25000"/>
                  </a:schemeClr>
                </a:solidFill>
                <a:latin typeface="Consolas" panose="020B0609020204030204" pitchFamily="49" charset="0"/>
              </a:rPr>
              <a:t> update</a:t>
            </a:r>
            <a:r>
              <a:rPr lang="en-US">
                <a:latin typeface="Consolas" panose="020B0609020204030204" pitchFamily="49" charset="0"/>
              </a:rPr>
              <a:t> </a:t>
            </a:r>
          </a:p>
          <a:p>
            <a:r>
              <a:rPr lang="en-US">
                <a:solidFill>
                  <a:schemeClr val="accent4">
                    <a:lumMod val="75000"/>
                  </a:schemeClr>
                </a:solidFill>
                <a:latin typeface="Consolas" panose="020B0609020204030204" pitchFamily="49" charset="0"/>
              </a:rPr>
              <a:t>--resource-group </a:t>
            </a:r>
            <a:r>
              <a:rPr lang="en-US">
                <a:latin typeface="Consolas" panose="020B0609020204030204" pitchFamily="49" charset="0"/>
              </a:rPr>
              <a:t>$RESOURCE_GROUP </a:t>
            </a:r>
          </a:p>
          <a:p>
            <a:r>
              <a:rPr lang="en-US">
                <a:solidFill>
                  <a:schemeClr val="accent4">
                    <a:lumMod val="75000"/>
                  </a:schemeClr>
                </a:solidFill>
                <a:latin typeface="Consolas" panose="020B0609020204030204" pitchFamily="49" charset="0"/>
              </a:rPr>
              <a:t>--name </a:t>
            </a:r>
            <a:r>
              <a:rPr lang="en-US">
                <a:latin typeface="Consolas" panose="020B0609020204030204" pitchFamily="49" charset="0"/>
              </a:rPr>
              <a:t>$CLUSTER_NAME </a:t>
            </a:r>
          </a:p>
          <a:p>
            <a:r>
              <a:rPr lang="en-US">
                <a:solidFill>
                  <a:schemeClr val="accent4">
                    <a:lumMod val="75000"/>
                  </a:schemeClr>
                </a:solidFill>
                <a:latin typeface="Consolas" panose="020B0609020204030204" pitchFamily="49" charset="0"/>
              </a:rPr>
              <a:t>--enable-</a:t>
            </a:r>
            <a:r>
              <a:rPr lang="en-US" err="1">
                <a:solidFill>
                  <a:schemeClr val="accent4">
                    <a:lumMod val="75000"/>
                  </a:schemeClr>
                </a:solidFill>
                <a:latin typeface="Consolas" panose="020B0609020204030204" pitchFamily="49" charset="0"/>
              </a:rPr>
              <a:t>oidc</a:t>
            </a:r>
            <a:r>
              <a:rPr lang="en-US">
                <a:solidFill>
                  <a:schemeClr val="accent4">
                    <a:lumMod val="75000"/>
                  </a:schemeClr>
                </a:solidFill>
                <a:latin typeface="Consolas" panose="020B0609020204030204" pitchFamily="49" charset="0"/>
              </a:rPr>
              <a:t>-issuer</a:t>
            </a:r>
          </a:p>
        </p:txBody>
      </p:sp>
      <p:sp>
        <p:nvSpPr>
          <p:cNvPr id="15" name="TextBox 14">
            <a:extLst>
              <a:ext uri="{FF2B5EF4-FFF2-40B4-BE49-F238E27FC236}">
                <a16:creationId xmlns:a16="http://schemas.microsoft.com/office/drawing/2014/main" id="{4FBB8ACE-66B4-1A82-EE32-0B2075AED2BE}"/>
              </a:ext>
            </a:extLst>
          </p:cNvPr>
          <p:cNvSpPr txBox="1"/>
          <p:nvPr/>
        </p:nvSpPr>
        <p:spPr>
          <a:xfrm>
            <a:off x="237712" y="2167896"/>
            <a:ext cx="5228810" cy="400110"/>
          </a:xfrm>
          <a:prstGeom prst="rect">
            <a:avLst/>
          </a:prstGeom>
          <a:noFill/>
        </p:spPr>
        <p:txBody>
          <a:bodyPr wrap="square">
            <a:spAutoFit/>
          </a:bodyPr>
          <a:lstStyle/>
          <a:p>
            <a:r>
              <a:rPr lang="en-US" sz="2000" b="1"/>
              <a:t>Create an AKS cluster with the OIDC issuer</a:t>
            </a:r>
          </a:p>
        </p:txBody>
      </p:sp>
      <p:sp>
        <p:nvSpPr>
          <p:cNvPr id="17" name="TextBox 16">
            <a:extLst>
              <a:ext uri="{FF2B5EF4-FFF2-40B4-BE49-F238E27FC236}">
                <a16:creationId xmlns:a16="http://schemas.microsoft.com/office/drawing/2014/main" id="{874C6C01-EC4A-F6BF-8974-C8263B7415F2}"/>
              </a:ext>
            </a:extLst>
          </p:cNvPr>
          <p:cNvSpPr txBox="1"/>
          <p:nvPr/>
        </p:nvSpPr>
        <p:spPr>
          <a:xfrm>
            <a:off x="6262483" y="2167896"/>
            <a:ext cx="5929517" cy="400110"/>
          </a:xfrm>
          <a:prstGeom prst="rect">
            <a:avLst/>
          </a:prstGeom>
          <a:noFill/>
        </p:spPr>
        <p:txBody>
          <a:bodyPr wrap="square">
            <a:spAutoFit/>
          </a:bodyPr>
          <a:lstStyle/>
          <a:p>
            <a:r>
              <a:rPr lang="en-US" sz="2000" b="1"/>
              <a:t>Enable the OIDC issuer on an existing AKS cluster</a:t>
            </a:r>
          </a:p>
        </p:txBody>
      </p:sp>
    </p:spTree>
    <p:extLst>
      <p:ext uri="{BB962C8B-B14F-4D97-AF65-F5344CB8AC3E}">
        <p14:creationId xmlns:p14="http://schemas.microsoft.com/office/powerpoint/2010/main" val="3728687266"/>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743AA782-23D1-4521-8CAD-47662984AA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1FCD82E3-B46D-E980-D577-D230A357CD92}"/>
              </a:ext>
            </a:extLst>
          </p:cNvPr>
          <p:cNvSpPr txBox="1"/>
          <p:nvPr/>
        </p:nvSpPr>
        <p:spPr>
          <a:xfrm>
            <a:off x="630936" y="640080"/>
            <a:ext cx="4229299" cy="1481328"/>
          </a:xfrm>
          <a:prstGeom prst="rect">
            <a:avLst/>
          </a:prstGeom>
        </p:spPr>
        <p:txBody>
          <a:bodyPr vert="horz" lIns="91440" tIns="45720" rIns="91440" bIns="45720" rtlCol="0" anchor="b">
            <a:normAutofit/>
          </a:bodyPr>
          <a:lstStyle/>
          <a:p>
            <a:pPr>
              <a:lnSpc>
                <a:spcPct val="90000"/>
              </a:lnSpc>
              <a:spcBef>
                <a:spcPct val="0"/>
              </a:spcBef>
              <a:spcAft>
                <a:spcPts val="600"/>
              </a:spcAft>
            </a:pPr>
            <a:r>
              <a:rPr lang="en-US" sz="5000" kern="1200">
                <a:solidFill>
                  <a:schemeClr val="tx1"/>
                </a:solidFill>
                <a:latin typeface="+mj-lt"/>
                <a:ea typeface="+mj-ea"/>
                <a:cs typeface="+mj-cs"/>
              </a:rPr>
              <a:t>OIDC on AKS  How it works</a:t>
            </a:r>
          </a:p>
        </p:txBody>
      </p:sp>
      <p:sp>
        <p:nvSpPr>
          <p:cNvPr id="14" name="sketch line">
            <a:extLst>
              <a:ext uri="{FF2B5EF4-FFF2-40B4-BE49-F238E27FC236}">
                <a16:creationId xmlns:a16="http://schemas.microsoft.com/office/drawing/2014/main" id="{71877DBC-BB60-40F0-AC93-2ACDBAAE60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372868"/>
            <a:ext cx="3255095" cy="18288"/>
          </a:xfrm>
          <a:custGeom>
            <a:avLst/>
            <a:gdLst>
              <a:gd name="csX0" fmla="*/ 0 w 3255095"/>
              <a:gd name="csY0" fmla="*/ 0 h 18288"/>
              <a:gd name="csX1" fmla="*/ 618468 w 3255095"/>
              <a:gd name="csY1" fmla="*/ 0 h 18288"/>
              <a:gd name="csX2" fmla="*/ 1269487 w 3255095"/>
              <a:gd name="csY2" fmla="*/ 0 h 18288"/>
              <a:gd name="csX3" fmla="*/ 1953057 w 3255095"/>
              <a:gd name="csY3" fmla="*/ 0 h 18288"/>
              <a:gd name="csX4" fmla="*/ 2636627 w 3255095"/>
              <a:gd name="csY4" fmla="*/ 0 h 18288"/>
              <a:gd name="csX5" fmla="*/ 3255095 w 3255095"/>
              <a:gd name="csY5" fmla="*/ 0 h 18288"/>
              <a:gd name="csX6" fmla="*/ 3255095 w 3255095"/>
              <a:gd name="csY6" fmla="*/ 18288 h 18288"/>
              <a:gd name="csX7" fmla="*/ 2538974 w 3255095"/>
              <a:gd name="csY7" fmla="*/ 18288 h 18288"/>
              <a:gd name="csX8" fmla="*/ 1822853 w 3255095"/>
              <a:gd name="csY8" fmla="*/ 18288 h 18288"/>
              <a:gd name="csX9" fmla="*/ 1171834 w 3255095"/>
              <a:gd name="csY9" fmla="*/ 18288 h 18288"/>
              <a:gd name="csX10" fmla="*/ 0 w 3255095"/>
              <a:gd name="csY10" fmla="*/ 18288 h 18288"/>
              <a:gd name="csX11" fmla="*/ 0 w 3255095"/>
              <a:gd name="csY11"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D2CF2C99-3EEA-C445-2547-DC63E64FD4B3}"/>
              </a:ext>
            </a:extLst>
          </p:cNvPr>
          <p:cNvSpPr txBox="1"/>
          <p:nvPr/>
        </p:nvSpPr>
        <p:spPr>
          <a:xfrm>
            <a:off x="362583" y="2660904"/>
            <a:ext cx="4051367" cy="3547872"/>
          </a:xfrm>
          <a:prstGeom prst="rect">
            <a:avLst/>
          </a:prstGeom>
        </p:spPr>
        <p:txBody>
          <a:bodyPr vert="horz" lIns="91440" tIns="45720" rIns="91440" bIns="45720" rtlCol="0" anchor="t">
            <a:normAutofit/>
          </a:bodyPr>
          <a:lstStyle/>
          <a:p>
            <a:r>
              <a:rPr lang="en-US" sz="1500"/>
              <a:t>In this security model, the AKS cluster acts </a:t>
            </a:r>
          </a:p>
          <a:p>
            <a:r>
              <a:rPr lang="en-US" sz="1500"/>
              <a:t>as the token issuer. </a:t>
            </a:r>
          </a:p>
          <a:p>
            <a:endParaRPr lang="en-US" sz="1500"/>
          </a:p>
          <a:p>
            <a:r>
              <a:rPr lang="en-US" sz="1500"/>
              <a:t>Microsoft Entra ID uses OIDC to discover </a:t>
            </a:r>
          </a:p>
          <a:p>
            <a:r>
              <a:rPr lang="en-US" sz="1500"/>
              <a:t>public signing keys and verify the authenticity </a:t>
            </a:r>
          </a:p>
          <a:p>
            <a:r>
              <a:rPr lang="en-US" sz="1500"/>
              <a:t>of the service account token before exchanging it for a Microsoft Entra token. </a:t>
            </a:r>
          </a:p>
          <a:p>
            <a:endParaRPr lang="en-US" sz="1500"/>
          </a:p>
          <a:p>
            <a:r>
              <a:rPr lang="en-US" sz="1500"/>
              <a:t>Your workload can exchange a service account </a:t>
            </a:r>
          </a:p>
          <a:p>
            <a:r>
              <a:rPr lang="en-US" sz="1500"/>
              <a:t>token projected to its volume for a </a:t>
            </a:r>
          </a:p>
          <a:p>
            <a:r>
              <a:rPr lang="en-US" sz="1500"/>
              <a:t>Microsoft Entra token using the Azure Identity </a:t>
            </a:r>
          </a:p>
          <a:p>
            <a:r>
              <a:rPr lang="en-US" sz="1500"/>
              <a:t>client library or the MSAL.</a:t>
            </a:r>
          </a:p>
        </p:txBody>
      </p:sp>
      <p:pic>
        <p:nvPicPr>
          <p:cNvPr id="4" name="Picture 3" descr="Diagram of the AKS Microsoft Entra Workload ID security model.">
            <a:extLst>
              <a:ext uri="{FF2B5EF4-FFF2-40B4-BE49-F238E27FC236}">
                <a16:creationId xmlns:a16="http://schemas.microsoft.com/office/drawing/2014/main" id="{9E2DE0D2-DC6E-C2FA-8481-BFEFBF672943}"/>
              </a:ext>
            </a:extLst>
          </p:cNvPr>
          <p:cNvPicPr>
            <a:picLocks noChangeAspect="1"/>
          </p:cNvPicPr>
          <p:nvPr/>
        </p:nvPicPr>
        <p:blipFill>
          <a:blip r:embed="rId2"/>
          <a:stretch>
            <a:fillRect/>
          </a:stretch>
        </p:blipFill>
        <p:spPr>
          <a:xfrm>
            <a:off x="4462675" y="1623796"/>
            <a:ext cx="7509697" cy="4430720"/>
          </a:xfrm>
          <a:prstGeom prst="rect">
            <a:avLst/>
          </a:prstGeom>
        </p:spPr>
      </p:pic>
    </p:spTree>
    <p:extLst>
      <p:ext uri="{BB962C8B-B14F-4D97-AF65-F5344CB8AC3E}">
        <p14:creationId xmlns:p14="http://schemas.microsoft.com/office/powerpoint/2010/main" val="1338012161"/>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9B7AD9F6-8CE7-4299-8FC6-328F4DCD3FF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CEFA974-4C98-9B69-D243-3F864748CE23}"/>
              </a:ext>
            </a:extLst>
          </p:cNvPr>
          <p:cNvSpPr>
            <a:spLocks noGrp="1"/>
          </p:cNvSpPr>
          <p:nvPr>
            <p:ph type="title"/>
          </p:nvPr>
        </p:nvSpPr>
        <p:spPr>
          <a:xfrm>
            <a:off x="890338" y="640080"/>
            <a:ext cx="3734014" cy="3566160"/>
          </a:xfrm>
        </p:spPr>
        <p:txBody>
          <a:bodyPr vert="horz" lIns="91440" tIns="45720" rIns="91440" bIns="45720" rtlCol="0" anchor="b">
            <a:normAutofit/>
          </a:bodyPr>
          <a:lstStyle/>
          <a:p>
            <a:r>
              <a:rPr lang="en-US" sz="4600"/>
              <a:t>Authentication Sequence of OIDC</a:t>
            </a:r>
          </a:p>
        </p:txBody>
      </p:sp>
      <p:sp>
        <p:nvSpPr>
          <p:cNvPr id="11" name="sketchy line">
            <a:extLst>
              <a:ext uri="{FF2B5EF4-FFF2-40B4-BE49-F238E27FC236}">
                <a16:creationId xmlns:a16="http://schemas.microsoft.com/office/drawing/2014/main" id="{F49775AF-8896-43EE-92C6-83497D6DC56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90338" y="4409267"/>
            <a:ext cx="3474720" cy="18288"/>
          </a:xfrm>
          <a:custGeom>
            <a:avLst/>
            <a:gdLst>
              <a:gd name="csX0" fmla="*/ 0 w 3474720"/>
              <a:gd name="csY0" fmla="*/ 0 h 18288"/>
              <a:gd name="csX1" fmla="*/ 694944 w 3474720"/>
              <a:gd name="csY1" fmla="*/ 0 h 18288"/>
              <a:gd name="csX2" fmla="*/ 1355141 w 3474720"/>
              <a:gd name="csY2" fmla="*/ 0 h 18288"/>
              <a:gd name="csX3" fmla="*/ 2015338 w 3474720"/>
              <a:gd name="csY3" fmla="*/ 0 h 18288"/>
              <a:gd name="csX4" fmla="*/ 2779776 w 3474720"/>
              <a:gd name="csY4" fmla="*/ 0 h 18288"/>
              <a:gd name="csX5" fmla="*/ 3474720 w 3474720"/>
              <a:gd name="csY5" fmla="*/ 0 h 18288"/>
              <a:gd name="csX6" fmla="*/ 3474720 w 3474720"/>
              <a:gd name="csY6" fmla="*/ 18288 h 18288"/>
              <a:gd name="csX7" fmla="*/ 2779776 w 3474720"/>
              <a:gd name="csY7" fmla="*/ 18288 h 18288"/>
              <a:gd name="csX8" fmla="*/ 2189074 w 3474720"/>
              <a:gd name="csY8" fmla="*/ 18288 h 18288"/>
              <a:gd name="csX9" fmla="*/ 1528877 w 3474720"/>
              <a:gd name="csY9" fmla="*/ 18288 h 18288"/>
              <a:gd name="csX10" fmla="*/ 868680 w 3474720"/>
              <a:gd name="csY10" fmla="*/ 18288 h 18288"/>
              <a:gd name="csX11" fmla="*/ 0 w 3474720"/>
              <a:gd name="csY11" fmla="*/ 18288 h 18288"/>
              <a:gd name="csX12" fmla="*/ 0 w 3474720"/>
              <a:gd name="csY12"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3474720" h="18288" fill="none" extrusionOk="0">
                <a:moveTo>
                  <a:pt x="0" y="0"/>
                </a:moveTo>
                <a:cubicBezTo>
                  <a:pt x="224454" y="-14544"/>
                  <a:pt x="495407" y="26540"/>
                  <a:pt x="694944" y="0"/>
                </a:cubicBezTo>
                <a:cubicBezTo>
                  <a:pt x="894481" y="-26540"/>
                  <a:pt x="1130063" y="24713"/>
                  <a:pt x="1355141" y="0"/>
                </a:cubicBezTo>
                <a:cubicBezTo>
                  <a:pt x="1580219" y="-24713"/>
                  <a:pt x="1820099" y="26695"/>
                  <a:pt x="2015338" y="0"/>
                </a:cubicBezTo>
                <a:cubicBezTo>
                  <a:pt x="2210577" y="-26695"/>
                  <a:pt x="2402045" y="165"/>
                  <a:pt x="2779776" y="0"/>
                </a:cubicBezTo>
                <a:cubicBezTo>
                  <a:pt x="3157507" y="-165"/>
                  <a:pt x="3286859" y="-15571"/>
                  <a:pt x="3474720" y="0"/>
                </a:cubicBezTo>
                <a:cubicBezTo>
                  <a:pt x="3474286" y="7551"/>
                  <a:pt x="3474253" y="9822"/>
                  <a:pt x="3474720" y="18288"/>
                </a:cubicBezTo>
                <a:cubicBezTo>
                  <a:pt x="3233904" y="29845"/>
                  <a:pt x="2945134" y="-5256"/>
                  <a:pt x="2779776" y="18288"/>
                </a:cubicBezTo>
                <a:cubicBezTo>
                  <a:pt x="2614418" y="41832"/>
                  <a:pt x="2339768" y="22709"/>
                  <a:pt x="2189074" y="18288"/>
                </a:cubicBezTo>
                <a:cubicBezTo>
                  <a:pt x="2038380" y="13867"/>
                  <a:pt x="1817434" y="-4947"/>
                  <a:pt x="1528877" y="18288"/>
                </a:cubicBezTo>
                <a:cubicBezTo>
                  <a:pt x="1240320" y="41523"/>
                  <a:pt x="1042447" y="37198"/>
                  <a:pt x="868680" y="18288"/>
                </a:cubicBezTo>
                <a:cubicBezTo>
                  <a:pt x="694913" y="-622"/>
                  <a:pt x="233232" y="44909"/>
                  <a:pt x="0" y="18288"/>
                </a:cubicBezTo>
                <a:cubicBezTo>
                  <a:pt x="60" y="11696"/>
                  <a:pt x="66" y="3758"/>
                  <a:pt x="0" y="0"/>
                </a:cubicBezTo>
                <a:close/>
              </a:path>
              <a:path w="3474720" h="18288" stroke="0" extrusionOk="0">
                <a:moveTo>
                  <a:pt x="0" y="0"/>
                </a:moveTo>
                <a:cubicBezTo>
                  <a:pt x="202328" y="-14716"/>
                  <a:pt x="332722" y="-11499"/>
                  <a:pt x="625450" y="0"/>
                </a:cubicBezTo>
                <a:cubicBezTo>
                  <a:pt x="918178" y="11499"/>
                  <a:pt x="1096688" y="5123"/>
                  <a:pt x="1389888" y="0"/>
                </a:cubicBezTo>
                <a:cubicBezTo>
                  <a:pt x="1683088" y="-5123"/>
                  <a:pt x="1835981" y="-14038"/>
                  <a:pt x="1980590" y="0"/>
                </a:cubicBezTo>
                <a:cubicBezTo>
                  <a:pt x="2125199" y="14038"/>
                  <a:pt x="2396099" y="-7203"/>
                  <a:pt x="2571293" y="0"/>
                </a:cubicBezTo>
                <a:cubicBezTo>
                  <a:pt x="2746487" y="7203"/>
                  <a:pt x="3041609" y="-12036"/>
                  <a:pt x="3474720" y="0"/>
                </a:cubicBezTo>
                <a:cubicBezTo>
                  <a:pt x="3474638" y="4406"/>
                  <a:pt x="3474631" y="9982"/>
                  <a:pt x="3474720" y="18288"/>
                </a:cubicBezTo>
                <a:cubicBezTo>
                  <a:pt x="3324873" y="21876"/>
                  <a:pt x="3136771" y="12587"/>
                  <a:pt x="2814523" y="18288"/>
                </a:cubicBezTo>
                <a:cubicBezTo>
                  <a:pt x="2492275" y="23989"/>
                  <a:pt x="2294402" y="47111"/>
                  <a:pt x="2154326" y="18288"/>
                </a:cubicBezTo>
                <a:cubicBezTo>
                  <a:pt x="2014250" y="-10535"/>
                  <a:pt x="1820317" y="33903"/>
                  <a:pt x="1494130" y="18288"/>
                </a:cubicBezTo>
                <a:cubicBezTo>
                  <a:pt x="1167943" y="2673"/>
                  <a:pt x="948432" y="14868"/>
                  <a:pt x="729691" y="18288"/>
                </a:cubicBezTo>
                <a:cubicBezTo>
                  <a:pt x="510950" y="21708"/>
                  <a:pt x="264032" y="24354"/>
                  <a:pt x="0" y="18288"/>
                </a:cubicBezTo>
                <a:cubicBezTo>
                  <a:pt x="189" y="14288"/>
                  <a:pt x="-703" y="3747"/>
                  <a:pt x="0" y="0"/>
                </a:cubicBezTo>
                <a:close/>
              </a:path>
            </a:pathLst>
          </a:custGeom>
          <a:solidFill>
            <a:schemeClr val="accent2"/>
          </a:solidFill>
          <a:ln w="44450" cap="rnd">
            <a:solidFill>
              <a:schemeClr val="accent2"/>
            </a:solidFill>
            <a:round/>
            <a:extLst>
              <a:ext uri="{C807C97D-BFC1-408E-A445-0C87EB9F89A2}">
                <ask:lineSketchStyleProps xmlns:ask="http://schemas.microsoft.com/office/drawing/2018/sketchyshapes" sd="2863741219">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Diagram of the AKS Microsoft Entra Workload ID OIDC authentication sequence.">
            <a:extLst>
              <a:ext uri="{FF2B5EF4-FFF2-40B4-BE49-F238E27FC236}">
                <a16:creationId xmlns:a16="http://schemas.microsoft.com/office/drawing/2014/main" id="{CF86CF09-68AB-8FE8-D740-EDA651992B5D}"/>
              </a:ext>
            </a:extLst>
          </p:cNvPr>
          <p:cNvPicPr>
            <a:picLocks noChangeAspect="1"/>
          </p:cNvPicPr>
          <p:nvPr/>
        </p:nvPicPr>
        <p:blipFill>
          <a:blip r:embed="rId2"/>
          <a:stretch>
            <a:fillRect/>
          </a:stretch>
        </p:blipFill>
        <p:spPr>
          <a:xfrm>
            <a:off x="5088835" y="0"/>
            <a:ext cx="6987208" cy="6858000"/>
          </a:xfrm>
          <a:prstGeom prst="rect">
            <a:avLst/>
          </a:prstGeom>
        </p:spPr>
      </p:pic>
    </p:spTree>
    <p:extLst>
      <p:ext uri="{BB962C8B-B14F-4D97-AF65-F5344CB8AC3E}">
        <p14:creationId xmlns:p14="http://schemas.microsoft.com/office/powerpoint/2010/main" val="32933020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7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D38979D-4E8F-A7F8-F81E-225FBB44EF63}"/>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55D70251-F7B4-B02A-9D65-9B3AD9DAB2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useBgFill="1">
        <p:nvSpPr>
          <p:cNvPr id="10" name="Rectangle 9">
            <a:extLst>
              <a:ext uri="{FF2B5EF4-FFF2-40B4-BE49-F238E27FC236}">
                <a16:creationId xmlns:a16="http://schemas.microsoft.com/office/drawing/2014/main" id="{90937578-B2AB-ADB4-976C-46F1799874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8209" y="0"/>
            <a:ext cx="11167447" cy="2018806"/>
          </a:xfrm>
          <a:prstGeom prst="rect">
            <a:avLst/>
          </a:prstGeom>
          <a:ln w="9525">
            <a:solidFill>
              <a:srgbClr val="E1E1E1"/>
            </a:solidFill>
          </a:ln>
          <a:effectLst>
            <a:outerShdw blurRad="50800" dist="38100" dir="2700000" algn="t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2" name="Rectangle 11">
            <a:extLst>
              <a:ext uri="{FF2B5EF4-FFF2-40B4-BE49-F238E27FC236}">
                <a16:creationId xmlns:a16="http://schemas.microsoft.com/office/drawing/2014/main" id="{F09CDCDA-7399-C2B2-7539-2BA3ECDE9BC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6928" y="0"/>
            <a:ext cx="11155680" cy="2011680"/>
          </a:xfrm>
          <a:prstGeom prst="rect">
            <a:avLst/>
          </a:pr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05865A8E-3618-0238-C6AE-7B4EF420A2F4}"/>
              </a:ext>
            </a:extLst>
          </p:cNvPr>
          <p:cNvSpPr>
            <a:spLocks noGrp="1"/>
          </p:cNvSpPr>
          <p:nvPr>
            <p:ph type="title"/>
          </p:nvPr>
        </p:nvSpPr>
        <p:spPr>
          <a:xfrm>
            <a:off x="1115568" y="548640"/>
            <a:ext cx="10168128" cy="1179576"/>
          </a:xfrm>
        </p:spPr>
        <p:txBody>
          <a:bodyPr>
            <a:normAutofit/>
          </a:bodyPr>
          <a:lstStyle/>
          <a:p>
            <a:r>
              <a:rPr lang="en-US" sz="4000"/>
              <a:t>Open ID Connect (OIDC) on AKS</a:t>
            </a:r>
          </a:p>
        </p:txBody>
      </p:sp>
      <p:sp>
        <p:nvSpPr>
          <p:cNvPr id="14" name="Rectangle 13">
            <a:extLst>
              <a:ext uri="{FF2B5EF4-FFF2-40B4-BE49-F238E27FC236}">
                <a16:creationId xmlns:a16="http://schemas.microsoft.com/office/drawing/2014/main" id="{15BAF43F-04BA-8370-D08F-3FBDAEB6E75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8834" y="758952"/>
            <a:ext cx="128016"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aphicFrame>
        <p:nvGraphicFramePr>
          <p:cNvPr id="6" name="Table 5">
            <a:extLst>
              <a:ext uri="{FF2B5EF4-FFF2-40B4-BE49-F238E27FC236}">
                <a16:creationId xmlns:a16="http://schemas.microsoft.com/office/drawing/2014/main" id="{46F2D74E-FD8F-77EF-A767-F0CE1A9DBDCE}"/>
              </a:ext>
            </a:extLst>
          </p:cNvPr>
          <p:cNvGraphicFramePr>
            <a:graphicFrameLocks noGrp="1"/>
          </p:cNvGraphicFramePr>
          <p:nvPr>
            <p:extLst>
              <p:ext uri="{D42A27DB-BD31-4B8C-83A1-F6EECF244321}">
                <p14:modId xmlns:p14="http://schemas.microsoft.com/office/powerpoint/2010/main" val="1821152536"/>
              </p:ext>
            </p:extLst>
          </p:nvPr>
        </p:nvGraphicFramePr>
        <p:xfrm>
          <a:off x="576467" y="2221992"/>
          <a:ext cx="11167447" cy="1341120"/>
        </p:xfrm>
        <a:graphic>
          <a:graphicData uri="http://schemas.openxmlformats.org/drawingml/2006/table">
            <a:tbl>
              <a:tblPr/>
              <a:tblGrid>
                <a:gridCol w="3637724">
                  <a:extLst>
                    <a:ext uri="{9D8B030D-6E8A-4147-A177-3AD203B41FA5}">
                      <a16:colId xmlns:a16="http://schemas.microsoft.com/office/drawing/2014/main" val="1848566490"/>
                    </a:ext>
                  </a:extLst>
                </a:gridCol>
                <a:gridCol w="7529723">
                  <a:extLst>
                    <a:ext uri="{9D8B030D-6E8A-4147-A177-3AD203B41FA5}">
                      <a16:colId xmlns:a16="http://schemas.microsoft.com/office/drawing/2014/main" val="856657601"/>
                    </a:ext>
                  </a:extLst>
                </a:gridCol>
              </a:tblGrid>
              <a:tr h="0">
                <a:tc>
                  <a:txBody>
                    <a:bodyPr/>
                    <a:lstStyle/>
                    <a:p>
                      <a:pPr algn="l" fontAlgn="t">
                        <a:buNone/>
                      </a:pPr>
                      <a:r>
                        <a:rPr lang="en-US" sz="1400" b="1">
                          <a:effectLst/>
                        </a:rPr>
                        <a:t>Endpoint</a:t>
                      </a:r>
                    </a:p>
                  </a:txBody>
                  <a:tcPr>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400" b="1">
                          <a:effectLst/>
                        </a:rPr>
                        <a:t>Description</a:t>
                      </a:r>
                    </a:p>
                  </a:txBody>
                  <a:tcPr>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3778207093"/>
                  </a:ext>
                </a:extLst>
              </a:tr>
              <a:tr h="0">
                <a:tc>
                  <a:txBody>
                    <a:bodyPr/>
                    <a:lstStyle/>
                    <a:p>
                      <a:pPr algn="l" fontAlgn="t">
                        <a:buNone/>
                      </a:pPr>
                      <a:r>
                        <a:rPr lang="en-US" sz="1400">
                          <a:effectLst/>
                          <a:latin typeface="SFMono-Regular"/>
                        </a:rPr>
                        <a:t>{</a:t>
                      </a:r>
                      <a:r>
                        <a:rPr lang="en-US" sz="1400" err="1">
                          <a:effectLst/>
                          <a:latin typeface="SFMono-Regular"/>
                        </a:rPr>
                        <a:t>IssuerURL</a:t>
                      </a:r>
                      <a:r>
                        <a:rPr lang="en-US" sz="1400">
                          <a:effectLst/>
                          <a:latin typeface="SFMono-Regular"/>
                        </a:rPr>
                        <a:t>}/.well-known/</a:t>
                      </a:r>
                      <a:r>
                        <a:rPr lang="en-US" sz="1400" err="1">
                          <a:effectLst/>
                          <a:latin typeface="SFMono-Regular"/>
                        </a:rPr>
                        <a:t>openid</a:t>
                      </a:r>
                      <a:r>
                        <a:rPr lang="en-US" sz="1400">
                          <a:effectLst/>
                          <a:latin typeface="SFMono-Regular"/>
                        </a:rPr>
                        <a:t>-configuration</a:t>
                      </a:r>
                      <a:endParaRPr lang="en-US" sz="1400">
                        <a:effectLst/>
                      </a:endParaRPr>
                    </a:p>
                  </a:txBody>
                  <a:tcPr>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400">
                          <a:effectLst/>
                        </a:rPr>
                        <a:t>Also known as the OIDC discovery document. This contains the metadata about the issuer's configurations.</a:t>
                      </a:r>
                    </a:p>
                  </a:txBody>
                  <a:tcPr>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3805942949"/>
                  </a:ext>
                </a:extLst>
              </a:tr>
              <a:tr h="0">
                <a:tc>
                  <a:txBody>
                    <a:bodyPr/>
                    <a:lstStyle/>
                    <a:p>
                      <a:pPr algn="l" fontAlgn="t">
                        <a:buNone/>
                      </a:pPr>
                      <a:r>
                        <a:rPr lang="en-US" sz="1400">
                          <a:effectLst/>
                          <a:latin typeface="SFMono-Regular"/>
                        </a:rPr>
                        <a:t>{</a:t>
                      </a:r>
                      <a:r>
                        <a:rPr lang="en-US" sz="1400" err="1">
                          <a:effectLst/>
                          <a:latin typeface="SFMono-Regular"/>
                        </a:rPr>
                        <a:t>IssuerURL</a:t>
                      </a:r>
                      <a:r>
                        <a:rPr lang="en-US" sz="1400">
                          <a:effectLst/>
                          <a:latin typeface="SFMono-Regular"/>
                        </a:rPr>
                        <a:t>}/</a:t>
                      </a:r>
                      <a:r>
                        <a:rPr lang="en-US" sz="1400" err="1">
                          <a:effectLst/>
                          <a:latin typeface="SFMono-Regular"/>
                        </a:rPr>
                        <a:t>openid</a:t>
                      </a:r>
                      <a:r>
                        <a:rPr lang="en-US" sz="1400">
                          <a:effectLst/>
                          <a:latin typeface="SFMono-Regular"/>
                        </a:rPr>
                        <a:t>/v1/</a:t>
                      </a:r>
                      <a:r>
                        <a:rPr lang="en-US" sz="1400" err="1">
                          <a:effectLst/>
                          <a:latin typeface="SFMono-Regular"/>
                        </a:rPr>
                        <a:t>jwks</a:t>
                      </a:r>
                      <a:endParaRPr lang="en-US" sz="1400">
                        <a:effectLst/>
                      </a:endParaRPr>
                    </a:p>
                  </a:txBody>
                  <a:tcPr>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400">
                          <a:effectLst/>
                        </a:rPr>
                        <a:t>This contains the public signing key(s) that Microsoft Entra ID uses to verify the authenticity of the service account token.</a:t>
                      </a:r>
                    </a:p>
                  </a:txBody>
                  <a:tcPr>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3676529359"/>
                  </a:ext>
                </a:extLst>
              </a:tr>
            </a:tbl>
          </a:graphicData>
        </a:graphic>
      </p:graphicFrame>
      <p:sp>
        <p:nvSpPr>
          <p:cNvPr id="9" name="TextBox 8">
            <a:extLst>
              <a:ext uri="{FF2B5EF4-FFF2-40B4-BE49-F238E27FC236}">
                <a16:creationId xmlns:a16="http://schemas.microsoft.com/office/drawing/2014/main" id="{BF7C92ED-D115-B373-965B-E7C8A992008C}"/>
              </a:ext>
            </a:extLst>
          </p:cNvPr>
          <p:cNvSpPr txBox="1"/>
          <p:nvPr/>
        </p:nvSpPr>
        <p:spPr>
          <a:xfrm>
            <a:off x="576467" y="4138593"/>
            <a:ext cx="5256182" cy="2585323"/>
          </a:xfrm>
          <a:prstGeom prst="rect">
            <a:avLst/>
          </a:prstGeom>
          <a:noFill/>
          <a:ln w="3175">
            <a:solidFill>
              <a:schemeClr val="tx1"/>
            </a:solidFill>
            <a:prstDash val="solid"/>
          </a:ln>
        </p:spPr>
        <p:txBody>
          <a:bodyPr wrap="square">
            <a:spAutoFit/>
          </a:bodyPr>
          <a:lstStyle/>
          <a:p>
            <a:r>
              <a:rPr lang="en-US" b="1">
                <a:solidFill>
                  <a:schemeClr val="accent6"/>
                </a:solidFill>
              </a:rPr>
              <a:t># Set environment variables</a:t>
            </a:r>
          </a:p>
          <a:p>
            <a:r>
              <a:rPr lang="en-US"/>
              <a:t>RESOURCE_GROUP=</a:t>
            </a:r>
            <a:r>
              <a:rPr lang="en-US">
                <a:solidFill>
                  <a:srgbClr val="EE0000"/>
                </a:solidFill>
              </a:rPr>
              <a:t>&lt;your-resource-group-name&gt;</a:t>
            </a:r>
          </a:p>
          <a:p>
            <a:r>
              <a:rPr lang="en-US"/>
              <a:t>CLUSTER_NAME=</a:t>
            </a:r>
            <a:r>
              <a:rPr lang="en-US">
                <a:solidFill>
                  <a:srgbClr val="EE0000"/>
                </a:solidFill>
              </a:rPr>
              <a:t>&lt;your-</a:t>
            </a:r>
            <a:r>
              <a:rPr lang="en-US" err="1">
                <a:solidFill>
                  <a:srgbClr val="EE0000"/>
                </a:solidFill>
              </a:rPr>
              <a:t>aks</a:t>
            </a:r>
            <a:r>
              <a:rPr lang="en-US">
                <a:solidFill>
                  <a:srgbClr val="EE0000"/>
                </a:solidFill>
              </a:rPr>
              <a:t>-cluster-name&gt;</a:t>
            </a:r>
          </a:p>
          <a:p>
            <a:endParaRPr lang="en-US"/>
          </a:p>
          <a:p>
            <a:r>
              <a:rPr lang="en-US" b="1">
                <a:solidFill>
                  <a:schemeClr val="accent6"/>
                </a:solidFill>
              </a:rPr>
              <a:t># Get the OIDC issuer URL</a:t>
            </a:r>
          </a:p>
          <a:p>
            <a:r>
              <a:rPr lang="en-US" b="1" err="1">
                <a:solidFill>
                  <a:srgbClr val="0070C0"/>
                </a:solidFill>
              </a:rPr>
              <a:t>az</a:t>
            </a:r>
            <a:r>
              <a:rPr lang="en-US" b="1">
                <a:solidFill>
                  <a:srgbClr val="0070C0"/>
                </a:solidFill>
              </a:rPr>
              <a:t> </a:t>
            </a:r>
            <a:r>
              <a:rPr lang="en-US" b="1" err="1">
                <a:solidFill>
                  <a:srgbClr val="0070C0"/>
                </a:solidFill>
              </a:rPr>
              <a:t>aks</a:t>
            </a:r>
            <a:r>
              <a:rPr lang="en-US" b="1">
                <a:solidFill>
                  <a:srgbClr val="0070C0"/>
                </a:solidFill>
              </a:rPr>
              <a:t> show </a:t>
            </a:r>
          </a:p>
          <a:p>
            <a:r>
              <a:rPr lang="en-US">
                <a:solidFill>
                  <a:srgbClr val="00B0F0"/>
                </a:solidFill>
              </a:rPr>
              <a:t>--name</a:t>
            </a:r>
            <a:r>
              <a:rPr lang="en-US"/>
              <a:t> $CLUSTER_NAME </a:t>
            </a:r>
          </a:p>
          <a:p>
            <a:r>
              <a:rPr lang="en-US">
                <a:solidFill>
                  <a:srgbClr val="00B0F0"/>
                </a:solidFill>
              </a:rPr>
              <a:t>--resource-group</a:t>
            </a:r>
            <a:r>
              <a:rPr lang="en-US"/>
              <a:t> $RESOURCE_GROUP </a:t>
            </a:r>
          </a:p>
          <a:p>
            <a:r>
              <a:rPr lang="en-US">
                <a:solidFill>
                  <a:srgbClr val="00B0F0"/>
                </a:solidFill>
              </a:rPr>
              <a:t>--query</a:t>
            </a:r>
            <a:r>
              <a:rPr lang="en-US"/>
              <a:t> "</a:t>
            </a:r>
            <a:r>
              <a:rPr lang="en-US" err="1"/>
              <a:t>oidcIssuerProfile.issuerUrl</a:t>
            </a:r>
            <a:r>
              <a:rPr lang="en-US"/>
              <a:t>" -o </a:t>
            </a:r>
            <a:r>
              <a:rPr lang="en-US" err="1"/>
              <a:t>tsv</a:t>
            </a:r>
            <a:endParaRPr lang="en-US"/>
          </a:p>
        </p:txBody>
      </p:sp>
      <p:sp>
        <p:nvSpPr>
          <p:cNvPr id="11" name="TextBox 10">
            <a:extLst>
              <a:ext uri="{FF2B5EF4-FFF2-40B4-BE49-F238E27FC236}">
                <a16:creationId xmlns:a16="http://schemas.microsoft.com/office/drawing/2014/main" id="{0CC3A7B6-C2C9-AE37-7B67-BB3EE0D5F601}"/>
              </a:ext>
            </a:extLst>
          </p:cNvPr>
          <p:cNvSpPr txBox="1"/>
          <p:nvPr/>
        </p:nvSpPr>
        <p:spPr>
          <a:xfrm>
            <a:off x="566928" y="3724788"/>
            <a:ext cx="2730235" cy="369332"/>
          </a:xfrm>
          <a:prstGeom prst="rect">
            <a:avLst/>
          </a:prstGeom>
          <a:noFill/>
        </p:spPr>
        <p:txBody>
          <a:bodyPr wrap="none" rtlCol="0">
            <a:spAutoFit/>
          </a:bodyPr>
          <a:lstStyle/>
          <a:p>
            <a:r>
              <a:rPr lang="en-US" b="1"/>
              <a:t>Get the OIDC Issuer URL</a:t>
            </a:r>
          </a:p>
        </p:txBody>
      </p:sp>
    </p:spTree>
    <p:extLst>
      <p:ext uri="{BB962C8B-B14F-4D97-AF65-F5344CB8AC3E}">
        <p14:creationId xmlns:p14="http://schemas.microsoft.com/office/powerpoint/2010/main" val="725342305"/>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56B4544-E4F3-9868-C6F1-C55C65643D02}"/>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C5E5626-C23A-42AD-89AE-2FC9BAF3CC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useBgFill="1">
        <p:nvSpPr>
          <p:cNvPr id="10" name="Rectangle 9">
            <a:extLst>
              <a:ext uri="{FF2B5EF4-FFF2-40B4-BE49-F238E27FC236}">
                <a16:creationId xmlns:a16="http://schemas.microsoft.com/office/drawing/2014/main" id="{349A8084-9217-4DB1-B24E-AB7A11434C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8209" y="0"/>
            <a:ext cx="11167447" cy="2018806"/>
          </a:xfrm>
          <a:prstGeom prst="rect">
            <a:avLst/>
          </a:prstGeom>
          <a:ln w="9525">
            <a:solidFill>
              <a:srgbClr val="E1E1E1"/>
            </a:solidFill>
          </a:ln>
          <a:effectLst>
            <a:outerShdw blurRad="50800" dist="38100" dir="2700000" algn="t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2" name="Rectangle 11">
            <a:extLst>
              <a:ext uri="{FF2B5EF4-FFF2-40B4-BE49-F238E27FC236}">
                <a16:creationId xmlns:a16="http://schemas.microsoft.com/office/drawing/2014/main" id="{333695A8-6585-652F-5855-360ED6A0AF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6928" y="0"/>
            <a:ext cx="11155680" cy="2011680"/>
          </a:xfrm>
          <a:prstGeom prst="rect">
            <a:avLst/>
          </a:pr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B535BF53-37A9-CDE4-A7E1-59C27A9AF9B0}"/>
              </a:ext>
            </a:extLst>
          </p:cNvPr>
          <p:cNvSpPr>
            <a:spLocks noGrp="1"/>
          </p:cNvSpPr>
          <p:nvPr>
            <p:ph type="title"/>
          </p:nvPr>
        </p:nvSpPr>
        <p:spPr>
          <a:xfrm>
            <a:off x="1115568" y="548640"/>
            <a:ext cx="10168128" cy="1179576"/>
          </a:xfrm>
        </p:spPr>
        <p:txBody>
          <a:bodyPr>
            <a:normAutofit/>
          </a:bodyPr>
          <a:lstStyle/>
          <a:p>
            <a:r>
              <a:rPr lang="en-US" sz="4000"/>
              <a:t>Service Account Labels and Annotations</a:t>
            </a:r>
          </a:p>
        </p:txBody>
      </p:sp>
      <p:sp>
        <p:nvSpPr>
          <p:cNvPr id="14" name="Rectangle 13">
            <a:extLst>
              <a:ext uri="{FF2B5EF4-FFF2-40B4-BE49-F238E27FC236}">
                <a16:creationId xmlns:a16="http://schemas.microsoft.com/office/drawing/2014/main" id="{D31BD7F6-8F85-B8AC-7E5F-2504E6F071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8834" y="758952"/>
            <a:ext cx="128016"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 name="TextBox 3">
            <a:extLst>
              <a:ext uri="{FF2B5EF4-FFF2-40B4-BE49-F238E27FC236}">
                <a16:creationId xmlns:a16="http://schemas.microsoft.com/office/drawing/2014/main" id="{EA7D5E59-779C-1E45-FE95-659967F3F4A0}"/>
              </a:ext>
            </a:extLst>
          </p:cNvPr>
          <p:cNvSpPr txBox="1"/>
          <p:nvPr/>
        </p:nvSpPr>
        <p:spPr>
          <a:xfrm>
            <a:off x="498834" y="2276856"/>
            <a:ext cx="11220592" cy="3708708"/>
          </a:xfrm>
          <a:prstGeom prst="rect">
            <a:avLst/>
          </a:prstGeom>
          <a:noFill/>
        </p:spPr>
        <p:txBody>
          <a:bodyPr wrap="square">
            <a:spAutoFit/>
          </a:bodyPr>
          <a:lstStyle/>
          <a:p>
            <a:r>
              <a:rPr lang="en-US" sz="2000"/>
              <a:t>Microsoft Entra Workload ID supports the following mappings related to a service account:</a:t>
            </a:r>
          </a:p>
          <a:p>
            <a:endParaRPr lang="en-US" sz="2000"/>
          </a:p>
          <a:p>
            <a:pPr marL="285750" indent="-285750">
              <a:lnSpc>
                <a:spcPct val="150000"/>
              </a:lnSpc>
              <a:spcAft>
                <a:spcPts val="600"/>
              </a:spcAft>
              <a:buFont typeface="Arial" panose="020B0604020202020204" pitchFamily="34" charset="0"/>
              <a:buChar char="•"/>
            </a:pPr>
            <a:r>
              <a:rPr lang="en-US" sz="2000" b="1"/>
              <a:t>One-to-one</a:t>
            </a:r>
            <a:r>
              <a:rPr lang="en-US" sz="2000"/>
              <a:t>, where a service account references a Microsoft Entra object.</a:t>
            </a:r>
          </a:p>
          <a:p>
            <a:pPr marL="285750" indent="-285750">
              <a:lnSpc>
                <a:spcPct val="150000"/>
              </a:lnSpc>
              <a:spcAft>
                <a:spcPts val="600"/>
              </a:spcAft>
              <a:buFont typeface="Arial" panose="020B0604020202020204" pitchFamily="34" charset="0"/>
              <a:buChar char="•"/>
            </a:pPr>
            <a:r>
              <a:rPr lang="en-US" sz="2000" b="1"/>
              <a:t>Many-to-one</a:t>
            </a:r>
            <a:r>
              <a:rPr lang="en-US" sz="2000"/>
              <a:t>, where multiple service accounts reference the same Microsoft Entra object.</a:t>
            </a:r>
          </a:p>
          <a:p>
            <a:pPr marL="285750" indent="-285750">
              <a:lnSpc>
                <a:spcPct val="150000"/>
              </a:lnSpc>
              <a:spcAft>
                <a:spcPts val="600"/>
              </a:spcAft>
              <a:buFont typeface="Arial" panose="020B0604020202020204" pitchFamily="34" charset="0"/>
              <a:buChar char="•"/>
            </a:pPr>
            <a:r>
              <a:rPr lang="en-US" sz="2000" b="1"/>
              <a:t>One-to-many</a:t>
            </a:r>
            <a:r>
              <a:rPr lang="en-US" sz="2000"/>
              <a:t>, where a service account references multiple Microsoft Entra objects by changing the client ID annotation. </a:t>
            </a:r>
          </a:p>
          <a:p>
            <a:endParaRPr lang="en-US" sz="2000"/>
          </a:p>
          <a:p>
            <a:r>
              <a:rPr lang="en-US" sz="2000" b="1"/>
              <a:t>Note:</a:t>
            </a:r>
            <a:r>
              <a:rPr lang="en-US" sz="2000"/>
              <a:t> If you update the service account annotations, you must restart the pod for the changes to take effect.</a:t>
            </a:r>
          </a:p>
        </p:txBody>
      </p:sp>
    </p:spTree>
    <p:extLst>
      <p:ext uri="{BB962C8B-B14F-4D97-AF65-F5344CB8AC3E}">
        <p14:creationId xmlns:p14="http://schemas.microsoft.com/office/powerpoint/2010/main" val="4208932202"/>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83524BF-5B7B-2DBC-AD1C-0E61F6CF9196}"/>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37C321A-1F5E-405D-D243-2CA8EEA3FF4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useBgFill="1">
        <p:nvSpPr>
          <p:cNvPr id="10" name="Rectangle 9">
            <a:extLst>
              <a:ext uri="{FF2B5EF4-FFF2-40B4-BE49-F238E27FC236}">
                <a16:creationId xmlns:a16="http://schemas.microsoft.com/office/drawing/2014/main" id="{59B6A496-314A-3B20-BB7E-4A22E71D69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8209" y="0"/>
            <a:ext cx="11167447" cy="2018806"/>
          </a:xfrm>
          <a:prstGeom prst="rect">
            <a:avLst/>
          </a:prstGeom>
          <a:ln w="9525">
            <a:solidFill>
              <a:srgbClr val="E1E1E1"/>
            </a:solidFill>
          </a:ln>
          <a:effectLst>
            <a:outerShdw blurRad="50800" dist="38100" dir="2700000" algn="t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2" name="Rectangle 11">
            <a:extLst>
              <a:ext uri="{FF2B5EF4-FFF2-40B4-BE49-F238E27FC236}">
                <a16:creationId xmlns:a16="http://schemas.microsoft.com/office/drawing/2014/main" id="{794F43B1-BFF1-6E10-9127-7F2BE139475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6928" y="0"/>
            <a:ext cx="11155680" cy="2011680"/>
          </a:xfrm>
          <a:prstGeom prst="rect">
            <a:avLst/>
          </a:pr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58879F0F-3E7E-49A8-2583-EA5C6B787010}"/>
              </a:ext>
            </a:extLst>
          </p:cNvPr>
          <p:cNvSpPr>
            <a:spLocks noGrp="1"/>
          </p:cNvSpPr>
          <p:nvPr>
            <p:ph type="title"/>
          </p:nvPr>
        </p:nvSpPr>
        <p:spPr>
          <a:xfrm>
            <a:off x="1115568" y="548640"/>
            <a:ext cx="10168128" cy="1179576"/>
          </a:xfrm>
        </p:spPr>
        <p:txBody>
          <a:bodyPr>
            <a:normAutofit/>
          </a:bodyPr>
          <a:lstStyle/>
          <a:p>
            <a:r>
              <a:rPr lang="en-US" sz="4000"/>
              <a:t>Service Account Annotations</a:t>
            </a:r>
          </a:p>
        </p:txBody>
      </p:sp>
      <p:sp>
        <p:nvSpPr>
          <p:cNvPr id="14" name="Rectangle 13">
            <a:extLst>
              <a:ext uri="{FF2B5EF4-FFF2-40B4-BE49-F238E27FC236}">
                <a16:creationId xmlns:a16="http://schemas.microsoft.com/office/drawing/2014/main" id="{F473F037-E920-827F-BA7D-8B1FF0FBC98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8834" y="758952"/>
            <a:ext cx="128016"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aphicFrame>
        <p:nvGraphicFramePr>
          <p:cNvPr id="3" name="Table 2">
            <a:extLst>
              <a:ext uri="{FF2B5EF4-FFF2-40B4-BE49-F238E27FC236}">
                <a16:creationId xmlns:a16="http://schemas.microsoft.com/office/drawing/2014/main" id="{75679273-6A0B-5CD8-A4C7-732DB6930D12}"/>
              </a:ext>
            </a:extLst>
          </p:cNvPr>
          <p:cNvGraphicFramePr>
            <a:graphicFrameLocks noGrp="1"/>
          </p:cNvGraphicFramePr>
          <p:nvPr>
            <p:extLst>
              <p:ext uri="{D42A27DB-BD31-4B8C-83A1-F6EECF244321}">
                <p14:modId xmlns:p14="http://schemas.microsoft.com/office/powerpoint/2010/main" val="3934441063"/>
              </p:ext>
            </p:extLst>
          </p:nvPr>
        </p:nvGraphicFramePr>
        <p:xfrm>
          <a:off x="566928" y="2567446"/>
          <a:ext cx="11181124" cy="2409563"/>
        </p:xfrm>
        <a:graphic>
          <a:graphicData uri="http://schemas.openxmlformats.org/drawingml/2006/table">
            <a:tbl>
              <a:tblPr/>
              <a:tblGrid>
                <a:gridCol w="3378907">
                  <a:extLst>
                    <a:ext uri="{9D8B030D-6E8A-4147-A177-3AD203B41FA5}">
                      <a16:colId xmlns:a16="http://schemas.microsoft.com/office/drawing/2014/main" val="1051040934"/>
                    </a:ext>
                  </a:extLst>
                </a:gridCol>
                <a:gridCol w="4890052">
                  <a:extLst>
                    <a:ext uri="{9D8B030D-6E8A-4147-A177-3AD203B41FA5}">
                      <a16:colId xmlns:a16="http://schemas.microsoft.com/office/drawing/2014/main" val="3003606410"/>
                    </a:ext>
                  </a:extLst>
                </a:gridCol>
                <a:gridCol w="2912165">
                  <a:extLst>
                    <a:ext uri="{9D8B030D-6E8A-4147-A177-3AD203B41FA5}">
                      <a16:colId xmlns:a16="http://schemas.microsoft.com/office/drawing/2014/main" val="2699256802"/>
                    </a:ext>
                  </a:extLst>
                </a:gridCol>
              </a:tblGrid>
              <a:tr h="198778">
                <a:tc>
                  <a:txBody>
                    <a:bodyPr/>
                    <a:lstStyle/>
                    <a:p>
                      <a:pPr algn="l" fontAlgn="t">
                        <a:buNone/>
                      </a:pPr>
                      <a:r>
                        <a:rPr lang="en-US" sz="1000" b="1">
                          <a:effectLst/>
                        </a:rPr>
                        <a:t>Annotation</a:t>
                      </a:r>
                    </a:p>
                  </a:txBody>
                  <a:tcPr marL="49694" marR="49694" marT="24847" marB="24847">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000" b="1">
                          <a:effectLst/>
                        </a:rPr>
                        <a:t>Description</a:t>
                      </a:r>
                    </a:p>
                  </a:txBody>
                  <a:tcPr marL="49694" marR="49694" marT="24847" marB="24847">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000" b="1">
                          <a:effectLst/>
                        </a:rPr>
                        <a:t>Default</a:t>
                      </a:r>
                    </a:p>
                  </a:txBody>
                  <a:tcPr marL="49694" marR="49694" marT="24847" marB="24847">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2266153793"/>
                  </a:ext>
                </a:extLst>
              </a:tr>
              <a:tr h="347861">
                <a:tc>
                  <a:txBody>
                    <a:bodyPr/>
                    <a:lstStyle/>
                    <a:p>
                      <a:pPr algn="l" fontAlgn="t">
                        <a:buNone/>
                      </a:pPr>
                      <a:r>
                        <a:rPr lang="en-US" sz="1100" err="1">
                          <a:effectLst/>
                          <a:latin typeface="SFMono-Regular"/>
                        </a:rPr>
                        <a:t>azure.workload.identity</a:t>
                      </a:r>
                      <a:r>
                        <a:rPr lang="en-US" sz="1100">
                          <a:effectLst/>
                          <a:latin typeface="SFMono-Regular"/>
                        </a:rPr>
                        <a:t>/client-id</a:t>
                      </a:r>
                      <a:endParaRPr lang="en-US" sz="1100">
                        <a:effectLst/>
                      </a:endParaRPr>
                    </a:p>
                  </a:txBody>
                  <a:tcPr marL="49694" marR="49694" marT="24847" marB="24847">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lnSpc>
                          <a:spcPct val="150000"/>
                        </a:lnSpc>
                        <a:buNone/>
                      </a:pPr>
                      <a:r>
                        <a:rPr lang="en-US" sz="1100">
                          <a:effectLst/>
                        </a:rPr>
                        <a:t>Represents the Microsoft Entra application client ID to be used with the pod.</a:t>
                      </a:r>
                    </a:p>
                  </a:txBody>
                  <a:tcPr marL="49694" marR="49694" marT="24847" marB="24847">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endParaRPr lang="en-US" sz="1100">
                        <a:effectLst/>
                      </a:endParaRPr>
                    </a:p>
                  </a:txBody>
                  <a:tcPr marL="49694" marR="49694" marT="24847" marB="24847">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2202854954"/>
                  </a:ext>
                </a:extLst>
              </a:tr>
              <a:tr h="347861">
                <a:tc>
                  <a:txBody>
                    <a:bodyPr/>
                    <a:lstStyle/>
                    <a:p>
                      <a:pPr algn="l" fontAlgn="t">
                        <a:buNone/>
                      </a:pPr>
                      <a:r>
                        <a:rPr lang="en-US" sz="1100">
                          <a:effectLst/>
                          <a:latin typeface="SFMono-Regular"/>
                        </a:rPr>
                        <a:t>azure.workload.identity/tenant-id</a:t>
                      </a:r>
                      <a:endParaRPr lang="en-US" sz="1100">
                        <a:effectLst/>
                      </a:endParaRPr>
                    </a:p>
                  </a:txBody>
                  <a:tcPr marL="49694" marR="49694" marT="24847" marB="24847">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lnSpc>
                          <a:spcPct val="150000"/>
                        </a:lnSpc>
                        <a:buNone/>
                      </a:pPr>
                      <a:r>
                        <a:rPr lang="en-US" sz="1100">
                          <a:effectLst/>
                        </a:rPr>
                        <a:t>Represents the Azure tenant ID where the Microsoft Entra application is registered.</a:t>
                      </a:r>
                    </a:p>
                  </a:txBody>
                  <a:tcPr marL="49694" marR="49694" marT="24847" marB="24847">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100">
                          <a:effectLst/>
                        </a:rPr>
                        <a:t>AZURE_TENANT_ID environment variable extracted</a:t>
                      </a:r>
                      <a:br>
                        <a:rPr lang="en-US" sz="1100">
                          <a:effectLst/>
                        </a:rPr>
                      </a:br>
                      <a:r>
                        <a:rPr lang="en-US" sz="1100">
                          <a:effectLst/>
                        </a:rPr>
                        <a:t>from </a:t>
                      </a:r>
                      <a:r>
                        <a:rPr lang="en-US" sz="1100">
                          <a:effectLst/>
                          <a:latin typeface="SFMono-Regular"/>
                        </a:rPr>
                        <a:t>azure-</a:t>
                      </a:r>
                      <a:r>
                        <a:rPr lang="en-US" sz="1100" err="1">
                          <a:effectLst/>
                          <a:latin typeface="SFMono-Regular"/>
                        </a:rPr>
                        <a:t>wi</a:t>
                      </a:r>
                      <a:r>
                        <a:rPr lang="en-US" sz="1100">
                          <a:effectLst/>
                          <a:latin typeface="SFMono-Regular"/>
                        </a:rPr>
                        <a:t>-webhook-config</a:t>
                      </a:r>
                      <a:r>
                        <a:rPr lang="en-US" sz="1100">
                          <a:effectLst/>
                        </a:rPr>
                        <a:t> </a:t>
                      </a:r>
                      <a:r>
                        <a:rPr lang="en-US" sz="1100" err="1">
                          <a:effectLst/>
                        </a:rPr>
                        <a:t>ConfigMap</a:t>
                      </a:r>
                      <a:r>
                        <a:rPr lang="en-US" sz="1100">
                          <a:effectLst/>
                        </a:rPr>
                        <a:t>.</a:t>
                      </a:r>
                    </a:p>
                  </a:txBody>
                  <a:tcPr marL="49694" marR="49694" marT="24847" marB="24847">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3752182263"/>
                  </a:ext>
                </a:extLst>
              </a:tr>
              <a:tr h="944194">
                <a:tc>
                  <a:txBody>
                    <a:bodyPr/>
                    <a:lstStyle/>
                    <a:p>
                      <a:pPr algn="l" fontAlgn="t">
                        <a:buNone/>
                      </a:pPr>
                      <a:r>
                        <a:rPr lang="en-US" sz="1100">
                          <a:effectLst/>
                          <a:latin typeface="SFMono-Regular"/>
                        </a:rPr>
                        <a:t>azure.workload.identity/service-account-token-expiration</a:t>
                      </a:r>
                      <a:endParaRPr lang="en-US" sz="1100">
                        <a:effectLst/>
                      </a:endParaRPr>
                    </a:p>
                  </a:txBody>
                  <a:tcPr marL="49694" marR="49694" marT="24847" marB="24847">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lnSpc>
                          <a:spcPct val="150000"/>
                        </a:lnSpc>
                        <a:buNone/>
                      </a:pPr>
                      <a:r>
                        <a:rPr lang="en-US" sz="1100">
                          <a:effectLst/>
                        </a:rPr>
                        <a:t>Represents the </a:t>
                      </a:r>
                      <a:r>
                        <a:rPr lang="en-US" sz="1100" err="1">
                          <a:effectLst/>
                          <a:latin typeface="SFMono-Regular"/>
                        </a:rPr>
                        <a:t>expirationSeconds</a:t>
                      </a:r>
                      <a:r>
                        <a:rPr lang="en-US" sz="1100">
                          <a:effectLst/>
                        </a:rPr>
                        <a:t> field for the projected service account token. It's an optional field that you configure to prevent any downtime caused by errors during service account token refresh. Kubernetes service account token expiry isn't correlated with Microsoft Entra tokens. Microsoft Entra tokens expire in 24 hours after they're issued.</a:t>
                      </a:r>
                    </a:p>
                  </a:txBody>
                  <a:tcPr marL="49694" marR="49694" marT="24847" marB="24847">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100">
                          <a:effectLst/>
                        </a:rPr>
                        <a:t>3600</a:t>
                      </a:r>
                      <a:br>
                        <a:rPr lang="en-US" sz="1100">
                          <a:effectLst/>
                        </a:rPr>
                      </a:br>
                      <a:r>
                        <a:rPr lang="en-US" sz="1100">
                          <a:effectLst/>
                        </a:rPr>
                        <a:t>Supported range is 3600-86400.</a:t>
                      </a:r>
                    </a:p>
                  </a:txBody>
                  <a:tcPr marL="49694" marR="49694" marT="24847" marB="24847">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1900575607"/>
                  </a:ext>
                </a:extLst>
              </a:tr>
            </a:tbl>
          </a:graphicData>
        </a:graphic>
      </p:graphicFrame>
    </p:spTree>
    <p:extLst>
      <p:ext uri="{BB962C8B-B14F-4D97-AF65-F5344CB8AC3E}">
        <p14:creationId xmlns:p14="http://schemas.microsoft.com/office/powerpoint/2010/main" val="660422530"/>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DFA1AA8-7CAF-9845-6C09-300ACC1BBA10}"/>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A60E0ED9-2E70-C2E5-3E09-276D9CAB4F9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useBgFill="1">
        <p:nvSpPr>
          <p:cNvPr id="10" name="Rectangle 9">
            <a:extLst>
              <a:ext uri="{FF2B5EF4-FFF2-40B4-BE49-F238E27FC236}">
                <a16:creationId xmlns:a16="http://schemas.microsoft.com/office/drawing/2014/main" id="{80D29217-2ECD-5E22-290E-9010BD4BDB7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8209" y="0"/>
            <a:ext cx="11167447" cy="2018806"/>
          </a:xfrm>
          <a:prstGeom prst="rect">
            <a:avLst/>
          </a:prstGeom>
          <a:ln w="9525">
            <a:solidFill>
              <a:srgbClr val="E1E1E1"/>
            </a:solidFill>
          </a:ln>
          <a:effectLst>
            <a:outerShdw blurRad="50800" dist="38100" dir="2700000" algn="t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2" name="Rectangle 11">
            <a:extLst>
              <a:ext uri="{FF2B5EF4-FFF2-40B4-BE49-F238E27FC236}">
                <a16:creationId xmlns:a16="http://schemas.microsoft.com/office/drawing/2014/main" id="{5698BAFE-C604-1D33-FE02-D952BE50F33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6928" y="0"/>
            <a:ext cx="11155680" cy="2011680"/>
          </a:xfrm>
          <a:prstGeom prst="rect">
            <a:avLst/>
          </a:pr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BFB93FA8-3094-1BB2-4C61-5793860175AB}"/>
              </a:ext>
            </a:extLst>
          </p:cNvPr>
          <p:cNvSpPr>
            <a:spLocks noGrp="1"/>
          </p:cNvSpPr>
          <p:nvPr>
            <p:ph type="title"/>
          </p:nvPr>
        </p:nvSpPr>
        <p:spPr>
          <a:xfrm>
            <a:off x="1115568" y="548640"/>
            <a:ext cx="10168128" cy="1179576"/>
          </a:xfrm>
        </p:spPr>
        <p:txBody>
          <a:bodyPr>
            <a:normAutofit/>
          </a:bodyPr>
          <a:lstStyle/>
          <a:p>
            <a:r>
              <a:rPr lang="en-US" sz="4000"/>
              <a:t>Pod Labels</a:t>
            </a:r>
          </a:p>
        </p:txBody>
      </p:sp>
      <p:sp>
        <p:nvSpPr>
          <p:cNvPr id="14" name="Rectangle 13">
            <a:extLst>
              <a:ext uri="{FF2B5EF4-FFF2-40B4-BE49-F238E27FC236}">
                <a16:creationId xmlns:a16="http://schemas.microsoft.com/office/drawing/2014/main" id="{65070596-0C07-A553-6A74-B6E8226D1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8834" y="758952"/>
            <a:ext cx="128016"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aphicFrame>
        <p:nvGraphicFramePr>
          <p:cNvPr id="4" name="Table 3">
            <a:extLst>
              <a:ext uri="{FF2B5EF4-FFF2-40B4-BE49-F238E27FC236}">
                <a16:creationId xmlns:a16="http://schemas.microsoft.com/office/drawing/2014/main" id="{30F78693-FC73-9703-D773-8D502F2225F9}"/>
              </a:ext>
            </a:extLst>
          </p:cNvPr>
          <p:cNvGraphicFramePr>
            <a:graphicFrameLocks noGrp="1"/>
          </p:cNvGraphicFramePr>
          <p:nvPr>
            <p:extLst>
              <p:ext uri="{D42A27DB-BD31-4B8C-83A1-F6EECF244321}">
                <p14:modId xmlns:p14="http://schemas.microsoft.com/office/powerpoint/2010/main" val="2299596537"/>
              </p:ext>
            </p:extLst>
          </p:nvPr>
        </p:nvGraphicFramePr>
        <p:xfrm>
          <a:off x="558209" y="3137587"/>
          <a:ext cx="11173120" cy="1622860"/>
        </p:xfrm>
        <a:graphic>
          <a:graphicData uri="http://schemas.openxmlformats.org/drawingml/2006/table">
            <a:tbl>
              <a:tblPr/>
              <a:tblGrid>
                <a:gridCol w="2483165">
                  <a:extLst>
                    <a:ext uri="{9D8B030D-6E8A-4147-A177-3AD203B41FA5}">
                      <a16:colId xmlns:a16="http://schemas.microsoft.com/office/drawing/2014/main" val="3376633057"/>
                    </a:ext>
                  </a:extLst>
                </a:gridCol>
                <a:gridCol w="5814391">
                  <a:extLst>
                    <a:ext uri="{9D8B030D-6E8A-4147-A177-3AD203B41FA5}">
                      <a16:colId xmlns:a16="http://schemas.microsoft.com/office/drawing/2014/main" val="498254926"/>
                    </a:ext>
                  </a:extLst>
                </a:gridCol>
                <a:gridCol w="1540565">
                  <a:extLst>
                    <a:ext uri="{9D8B030D-6E8A-4147-A177-3AD203B41FA5}">
                      <a16:colId xmlns:a16="http://schemas.microsoft.com/office/drawing/2014/main" val="1305125283"/>
                    </a:ext>
                  </a:extLst>
                </a:gridCol>
                <a:gridCol w="1334999">
                  <a:extLst>
                    <a:ext uri="{9D8B030D-6E8A-4147-A177-3AD203B41FA5}">
                      <a16:colId xmlns:a16="http://schemas.microsoft.com/office/drawing/2014/main" val="4180459243"/>
                    </a:ext>
                  </a:extLst>
                </a:gridCol>
              </a:tblGrid>
              <a:tr h="445843">
                <a:tc>
                  <a:txBody>
                    <a:bodyPr/>
                    <a:lstStyle/>
                    <a:p>
                      <a:pPr algn="l" fontAlgn="t">
                        <a:buNone/>
                      </a:pPr>
                      <a:r>
                        <a:rPr lang="en-US" sz="1500" b="1">
                          <a:effectLst/>
                        </a:rPr>
                        <a:t>Label</a:t>
                      </a:r>
                    </a:p>
                  </a:txBody>
                  <a:tcPr marL="77702" marR="77702" marT="38851" marB="38851">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500" b="1">
                          <a:effectLst/>
                        </a:rPr>
                        <a:t>Description</a:t>
                      </a:r>
                    </a:p>
                  </a:txBody>
                  <a:tcPr marL="77702" marR="77702" marT="38851" marB="38851">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500" b="1">
                          <a:effectLst/>
                        </a:rPr>
                        <a:t>Recommended value</a:t>
                      </a:r>
                    </a:p>
                  </a:txBody>
                  <a:tcPr marL="77702" marR="77702" marT="38851" marB="38851">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500" b="1">
                          <a:effectLst/>
                        </a:rPr>
                        <a:t>Required</a:t>
                      </a:r>
                    </a:p>
                  </a:txBody>
                  <a:tcPr marL="77702" marR="77702" marT="38851" marB="38851">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1804759759"/>
                  </a:ext>
                </a:extLst>
              </a:tr>
              <a:tr h="1087958">
                <a:tc>
                  <a:txBody>
                    <a:bodyPr/>
                    <a:lstStyle/>
                    <a:p>
                      <a:pPr algn="l" fontAlgn="t">
                        <a:buNone/>
                      </a:pPr>
                      <a:r>
                        <a:rPr lang="en-US" sz="1500">
                          <a:effectLst/>
                          <a:latin typeface="SFMono-Regular"/>
                        </a:rPr>
                        <a:t>azure.workload.identity/use</a:t>
                      </a:r>
                      <a:endParaRPr lang="en-US" sz="1500">
                        <a:effectLst/>
                      </a:endParaRPr>
                    </a:p>
                  </a:txBody>
                  <a:tcPr marL="77702" marR="77702" marT="38851" marB="38851">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500">
                          <a:effectLst/>
                        </a:rPr>
                        <a:t>This label is required in the pod template spec. Only pods with this label are mutated by the azure-workload-identity mutating admission webhook to inject the Azure specific environment variables and the projected service account token volume.</a:t>
                      </a:r>
                    </a:p>
                  </a:txBody>
                  <a:tcPr marL="77702" marR="77702" marT="38851" marB="38851">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500">
                          <a:effectLst/>
                        </a:rPr>
                        <a:t>true</a:t>
                      </a:r>
                    </a:p>
                  </a:txBody>
                  <a:tcPr marL="77702" marR="77702" marT="38851" marB="38851">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500">
                          <a:effectLst/>
                        </a:rPr>
                        <a:t>Yes</a:t>
                      </a:r>
                    </a:p>
                  </a:txBody>
                  <a:tcPr marL="77702" marR="77702" marT="38851" marB="38851">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1338853820"/>
                  </a:ext>
                </a:extLst>
              </a:tr>
            </a:tbl>
          </a:graphicData>
        </a:graphic>
      </p:graphicFrame>
    </p:spTree>
    <p:extLst>
      <p:ext uri="{BB962C8B-B14F-4D97-AF65-F5344CB8AC3E}">
        <p14:creationId xmlns:p14="http://schemas.microsoft.com/office/powerpoint/2010/main" val="3331747759"/>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1CEEA8D-03BB-03F4-AE4E-566DF5BE183D}"/>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BE5C0ED-040A-327B-6049-A589959EC1E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useBgFill="1">
        <p:nvSpPr>
          <p:cNvPr id="10" name="Rectangle 9">
            <a:extLst>
              <a:ext uri="{FF2B5EF4-FFF2-40B4-BE49-F238E27FC236}">
                <a16:creationId xmlns:a16="http://schemas.microsoft.com/office/drawing/2014/main" id="{AD088820-3831-B156-2F93-3197BC19926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8209" y="0"/>
            <a:ext cx="11167447" cy="2018806"/>
          </a:xfrm>
          <a:prstGeom prst="rect">
            <a:avLst/>
          </a:prstGeom>
          <a:ln w="9525">
            <a:solidFill>
              <a:srgbClr val="E1E1E1"/>
            </a:solidFill>
          </a:ln>
          <a:effectLst>
            <a:outerShdw blurRad="50800" dist="38100" dir="2700000" algn="t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2" name="Rectangle 11">
            <a:extLst>
              <a:ext uri="{FF2B5EF4-FFF2-40B4-BE49-F238E27FC236}">
                <a16:creationId xmlns:a16="http://schemas.microsoft.com/office/drawing/2014/main" id="{78B7CD94-D61C-3639-EE40-34129F7DF0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6928" y="0"/>
            <a:ext cx="11155680" cy="2011680"/>
          </a:xfrm>
          <a:prstGeom prst="rect">
            <a:avLst/>
          </a:pr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880BE792-28C3-AC42-D181-28DF6B39C05C}"/>
              </a:ext>
            </a:extLst>
          </p:cNvPr>
          <p:cNvSpPr>
            <a:spLocks noGrp="1"/>
          </p:cNvSpPr>
          <p:nvPr>
            <p:ph type="title"/>
          </p:nvPr>
        </p:nvSpPr>
        <p:spPr>
          <a:xfrm>
            <a:off x="1115568" y="548640"/>
            <a:ext cx="10168128" cy="1179576"/>
          </a:xfrm>
        </p:spPr>
        <p:txBody>
          <a:bodyPr>
            <a:normAutofit/>
          </a:bodyPr>
          <a:lstStyle/>
          <a:p>
            <a:r>
              <a:rPr lang="en-US" sz="4000"/>
              <a:t>Pod Annotations</a:t>
            </a:r>
          </a:p>
        </p:txBody>
      </p:sp>
      <p:sp>
        <p:nvSpPr>
          <p:cNvPr id="14" name="Rectangle 13">
            <a:extLst>
              <a:ext uri="{FF2B5EF4-FFF2-40B4-BE49-F238E27FC236}">
                <a16:creationId xmlns:a16="http://schemas.microsoft.com/office/drawing/2014/main" id="{97589B57-2569-A264-8C37-FB4427F7BC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8834" y="758952"/>
            <a:ext cx="128016"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aphicFrame>
        <p:nvGraphicFramePr>
          <p:cNvPr id="3" name="Table 2">
            <a:extLst>
              <a:ext uri="{FF2B5EF4-FFF2-40B4-BE49-F238E27FC236}">
                <a16:creationId xmlns:a16="http://schemas.microsoft.com/office/drawing/2014/main" id="{79728FE5-F48C-03CD-EACB-50159C2F53FD}"/>
              </a:ext>
            </a:extLst>
          </p:cNvPr>
          <p:cNvGraphicFramePr>
            <a:graphicFrameLocks noGrp="1"/>
          </p:cNvGraphicFramePr>
          <p:nvPr>
            <p:extLst>
              <p:ext uri="{D42A27DB-BD31-4B8C-83A1-F6EECF244321}">
                <p14:modId xmlns:p14="http://schemas.microsoft.com/office/powerpoint/2010/main" val="2645185745"/>
              </p:ext>
            </p:extLst>
          </p:nvPr>
        </p:nvGraphicFramePr>
        <p:xfrm>
          <a:off x="555161" y="2365512"/>
          <a:ext cx="11176167" cy="3619899"/>
        </p:xfrm>
        <a:graphic>
          <a:graphicData uri="http://schemas.openxmlformats.org/drawingml/2006/table">
            <a:tbl>
              <a:tblPr/>
              <a:tblGrid>
                <a:gridCol w="3162074">
                  <a:extLst>
                    <a:ext uri="{9D8B030D-6E8A-4147-A177-3AD203B41FA5}">
                      <a16:colId xmlns:a16="http://schemas.microsoft.com/office/drawing/2014/main" val="2157973385"/>
                    </a:ext>
                  </a:extLst>
                </a:gridCol>
                <a:gridCol w="5158408">
                  <a:extLst>
                    <a:ext uri="{9D8B030D-6E8A-4147-A177-3AD203B41FA5}">
                      <a16:colId xmlns:a16="http://schemas.microsoft.com/office/drawing/2014/main" val="4203712295"/>
                    </a:ext>
                  </a:extLst>
                </a:gridCol>
                <a:gridCol w="2855685">
                  <a:extLst>
                    <a:ext uri="{9D8B030D-6E8A-4147-A177-3AD203B41FA5}">
                      <a16:colId xmlns:a16="http://schemas.microsoft.com/office/drawing/2014/main" val="3959015242"/>
                    </a:ext>
                  </a:extLst>
                </a:gridCol>
              </a:tblGrid>
              <a:tr h="304700">
                <a:tc>
                  <a:txBody>
                    <a:bodyPr/>
                    <a:lstStyle/>
                    <a:p>
                      <a:pPr algn="l" fontAlgn="t">
                        <a:buNone/>
                      </a:pPr>
                      <a:r>
                        <a:rPr lang="en-US" sz="1400" b="1">
                          <a:effectLst/>
                        </a:rPr>
                        <a:t>Annotation</a:t>
                      </a:r>
                    </a:p>
                  </a:txBody>
                  <a:tcPr marL="50597" marR="50597" marT="25298" marB="252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400" b="1">
                          <a:effectLst/>
                        </a:rPr>
                        <a:t>Description</a:t>
                      </a:r>
                    </a:p>
                  </a:txBody>
                  <a:tcPr marL="50597" marR="50597" marT="25298" marB="252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400" b="1">
                          <a:effectLst/>
                        </a:rPr>
                        <a:t>Default</a:t>
                      </a:r>
                    </a:p>
                  </a:txBody>
                  <a:tcPr marL="50597" marR="50597" marT="25298" marB="252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350913743"/>
                  </a:ext>
                </a:extLst>
              </a:tr>
              <a:tr h="603225">
                <a:tc>
                  <a:txBody>
                    <a:bodyPr/>
                    <a:lstStyle/>
                    <a:p>
                      <a:pPr algn="l" fontAlgn="t">
                        <a:buNone/>
                      </a:pPr>
                      <a:r>
                        <a:rPr lang="en-US" sz="1400" err="1">
                          <a:effectLst/>
                          <a:latin typeface="SFMono-Regular"/>
                        </a:rPr>
                        <a:t>azure.workload.identity</a:t>
                      </a:r>
                      <a:r>
                        <a:rPr lang="en-US" sz="1400">
                          <a:effectLst/>
                          <a:latin typeface="SFMono-Regular"/>
                        </a:rPr>
                        <a:t>/service-account-token-expiration</a:t>
                      </a:r>
                      <a:endParaRPr lang="en-US" sz="1400">
                        <a:effectLst/>
                      </a:endParaRPr>
                    </a:p>
                  </a:txBody>
                  <a:tcPr marL="50597" marR="50597" marT="25298" marB="252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400" b="1">
                          <a:effectLst/>
                        </a:rPr>
                        <a:t>Pod annotations take precedence over service account annotations</a:t>
                      </a:r>
                      <a:r>
                        <a:rPr lang="en-US" sz="1400">
                          <a:effectLst/>
                        </a:rPr>
                        <a:t>.</a:t>
                      </a:r>
                    </a:p>
                  </a:txBody>
                  <a:tcPr marL="50597" marR="50597" marT="25298" marB="252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400">
                          <a:effectLst/>
                        </a:rPr>
                        <a:t>3600</a:t>
                      </a:r>
                      <a:br>
                        <a:rPr lang="en-US" sz="1400">
                          <a:effectLst/>
                        </a:rPr>
                      </a:br>
                      <a:r>
                        <a:rPr lang="en-US" sz="1400">
                          <a:effectLst/>
                        </a:rPr>
                        <a:t>Supported range is 3600-86400.</a:t>
                      </a:r>
                    </a:p>
                  </a:txBody>
                  <a:tcPr marL="50597" marR="50597" marT="25298" marB="252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260358407"/>
                  </a:ext>
                </a:extLst>
              </a:tr>
              <a:tr h="797289">
                <a:tc>
                  <a:txBody>
                    <a:bodyPr/>
                    <a:lstStyle/>
                    <a:p>
                      <a:pPr algn="l" fontAlgn="t">
                        <a:buNone/>
                      </a:pPr>
                      <a:r>
                        <a:rPr lang="en-US" sz="1400">
                          <a:effectLst/>
                          <a:latin typeface="SFMono-Regular"/>
                        </a:rPr>
                        <a:t>azure.workload.identity/skip-containers</a:t>
                      </a:r>
                      <a:endParaRPr lang="en-US" sz="1400">
                        <a:effectLst/>
                      </a:endParaRPr>
                    </a:p>
                  </a:txBody>
                  <a:tcPr marL="50597" marR="50597" marT="25298" marB="252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400">
                          <a:effectLst/>
                        </a:rPr>
                        <a:t>Represents a semi-colon-separated list of containers to skip adding projected service account token volume. For example, </a:t>
                      </a:r>
                      <a:r>
                        <a:rPr lang="en-US" sz="1400">
                          <a:effectLst/>
                          <a:latin typeface="SFMono-Regular"/>
                        </a:rPr>
                        <a:t>container1;container2</a:t>
                      </a:r>
                      <a:r>
                        <a:rPr lang="en-US" sz="1400">
                          <a:effectLst/>
                        </a:rPr>
                        <a:t>.</a:t>
                      </a:r>
                    </a:p>
                  </a:txBody>
                  <a:tcPr marL="50597" marR="50597" marT="25298" marB="252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400">
                          <a:effectLst/>
                        </a:rPr>
                        <a:t>By default, the projected service account token volume is added to all containers if the pod is labeled with </a:t>
                      </a:r>
                      <a:r>
                        <a:rPr lang="en-US" sz="1400">
                          <a:effectLst/>
                          <a:latin typeface="SFMono-Regular"/>
                        </a:rPr>
                        <a:t>azure.workload.identity/use: true</a:t>
                      </a:r>
                      <a:r>
                        <a:rPr lang="en-US" sz="1400">
                          <a:effectLst/>
                        </a:rPr>
                        <a:t>.</a:t>
                      </a:r>
                    </a:p>
                  </a:txBody>
                  <a:tcPr marL="50597" marR="50597" marT="25298" marB="252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476244893"/>
                  </a:ext>
                </a:extLst>
              </a:tr>
              <a:tr h="1043583">
                <a:tc>
                  <a:txBody>
                    <a:bodyPr/>
                    <a:lstStyle/>
                    <a:p>
                      <a:pPr algn="l" fontAlgn="t">
                        <a:buNone/>
                      </a:pPr>
                      <a:r>
                        <a:rPr lang="en-US" sz="1400">
                          <a:effectLst/>
                          <a:latin typeface="SFMono-Regular"/>
                        </a:rPr>
                        <a:t>azure.workload.identity/inject-proxy-sidecar</a:t>
                      </a:r>
                      <a:endParaRPr lang="en-US" sz="1400">
                        <a:effectLst/>
                      </a:endParaRPr>
                    </a:p>
                  </a:txBody>
                  <a:tcPr marL="50597" marR="50597" marT="25298" marB="252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400">
                          <a:effectLst/>
                        </a:rPr>
                        <a:t>Injects a proxy init container and proxy sidecar into the pod. The proxy sidecar is used to intercept token requests to IMDS and acquire a Microsoft Entra token on behalf of the user with federated identity credential.</a:t>
                      </a:r>
                    </a:p>
                  </a:txBody>
                  <a:tcPr marL="50597" marR="50597" marT="25298" marB="252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400">
                          <a:effectLst/>
                        </a:rPr>
                        <a:t>false</a:t>
                      </a:r>
                    </a:p>
                  </a:txBody>
                  <a:tcPr marL="50597" marR="50597" marT="25298" marB="252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1745314689"/>
                  </a:ext>
                </a:extLst>
              </a:tr>
              <a:tr h="550995">
                <a:tc>
                  <a:txBody>
                    <a:bodyPr/>
                    <a:lstStyle/>
                    <a:p>
                      <a:pPr algn="l" fontAlgn="t">
                        <a:buNone/>
                      </a:pPr>
                      <a:r>
                        <a:rPr lang="en-US" sz="1400">
                          <a:effectLst/>
                          <a:latin typeface="SFMono-Regular"/>
                        </a:rPr>
                        <a:t>azure.workload.identity/proxy-sidecar-port</a:t>
                      </a:r>
                      <a:endParaRPr lang="en-US" sz="1400">
                        <a:effectLst/>
                      </a:endParaRPr>
                    </a:p>
                  </a:txBody>
                  <a:tcPr marL="50597" marR="50597" marT="25298" marB="252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400">
                          <a:effectLst/>
                        </a:rPr>
                        <a:t>Represents the port of the proxy sidecar.</a:t>
                      </a:r>
                    </a:p>
                  </a:txBody>
                  <a:tcPr marL="50597" marR="50597" marT="25298" marB="252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400">
                          <a:effectLst/>
                        </a:rPr>
                        <a:t>8000</a:t>
                      </a:r>
                    </a:p>
                  </a:txBody>
                  <a:tcPr marL="50597" marR="50597" marT="25298" marB="252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3115048298"/>
                  </a:ext>
                </a:extLst>
              </a:tr>
            </a:tbl>
          </a:graphicData>
        </a:graphic>
      </p:graphicFrame>
    </p:spTree>
    <p:extLst>
      <p:ext uri="{BB962C8B-B14F-4D97-AF65-F5344CB8AC3E}">
        <p14:creationId xmlns:p14="http://schemas.microsoft.com/office/powerpoint/2010/main" val="3545184821"/>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943CAA20-3569-4189-9E48-239A229A86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C2B108BA-CE66-2908-88CD-284D3F55490C}"/>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ABE0EBD9-543C-DF01-01FB-128713202535}"/>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Deploy and configure Microsoft Entra Workload ID on an Azure Kubernetes Service (AKS) cluster</a:t>
            </a:r>
            <a:endParaRPr lang="en-US" sz="2400" kern="1200">
              <a:solidFill>
                <a:schemeClr val="tx1"/>
              </a:solidFill>
              <a:latin typeface="+mn-lt"/>
              <a:ea typeface="+mn-ea"/>
              <a:cs typeface="+mn-cs"/>
            </a:endParaRPr>
          </a:p>
        </p:txBody>
      </p:sp>
      <p:sp>
        <p:nvSpPr>
          <p:cNvPr id="10" name="sketch line">
            <a:extLst>
              <a:ext uri="{FF2B5EF4-FFF2-40B4-BE49-F238E27FC236}">
                <a16:creationId xmlns:a16="http://schemas.microsoft.com/office/drawing/2014/main" id="{DA542B6D-E775-4832-91DC-2D20F85781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540744057"/>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6263244-4949-EB37-4D42-76690E48CA37}"/>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kern="1200">
                <a:solidFill>
                  <a:schemeClr val="tx1"/>
                </a:solidFill>
                <a:latin typeface="+mj-lt"/>
                <a:ea typeface="+mj-ea"/>
                <a:cs typeface="+mj-cs"/>
              </a:rPr>
              <a:t>Deploy and configure Microsoft Entra Workload ID on an Azure Kubernetes Service (AKS) cluster</a:t>
            </a:r>
          </a:p>
        </p:txBody>
      </p:sp>
      <p:sp>
        <p:nvSpPr>
          <p:cNvPr id="12"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D53DE259-39F3-0924-0353-80307BA326A8}"/>
              </a:ext>
            </a:extLst>
          </p:cNvPr>
          <p:cNvSpPr txBox="1"/>
          <p:nvPr/>
        </p:nvSpPr>
        <p:spPr>
          <a:xfrm>
            <a:off x="838200" y="2138102"/>
            <a:ext cx="10853928" cy="3855193"/>
          </a:xfrm>
          <a:prstGeom prst="rect">
            <a:avLst/>
          </a:prstGeom>
        </p:spPr>
        <p:txBody>
          <a:bodyPr vert="horz" lIns="91440" tIns="45720" rIns="91440" bIns="45720" rtlCol="0">
            <a:normAutofit fontScale="92500"/>
          </a:bodyPr>
          <a:lstStyle/>
          <a:p>
            <a:pPr marL="285750" indent="-228600">
              <a:lnSpc>
                <a:spcPct val="90000"/>
              </a:lnSpc>
              <a:spcBef>
                <a:spcPts val="600"/>
              </a:spcBef>
              <a:spcAft>
                <a:spcPts val="1200"/>
              </a:spcAft>
              <a:buFont typeface="Arial" panose="020B0604020202020204" pitchFamily="34" charset="0"/>
              <a:buChar char="•"/>
            </a:pPr>
            <a:r>
              <a:rPr lang="en-US" sz="2800"/>
              <a:t>Create a new or update an existing AKS cluster using the Azure CLI with OpenID Connect (OIDC) issuer and Microsoft Entra Workload ID enabled.</a:t>
            </a:r>
          </a:p>
          <a:p>
            <a:pPr marL="285750" indent="-228600">
              <a:lnSpc>
                <a:spcPct val="90000"/>
              </a:lnSpc>
              <a:spcBef>
                <a:spcPts val="600"/>
              </a:spcBef>
              <a:spcAft>
                <a:spcPts val="1200"/>
              </a:spcAft>
              <a:buFont typeface="Arial" panose="020B0604020202020204" pitchFamily="34" charset="0"/>
              <a:buChar char="•"/>
            </a:pPr>
            <a:r>
              <a:rPr lang="en-US" sz="2800"/>
              <a:t>Create a workload identity and Kubernetes service account.</a:t>
            </a:r>
          </a:p>
          <a:p>
            <a:pPr marL="285750" indent="-228600">
              <a:lnSpc>
                <a:spcPct val="90000"/>
              </a:lnSpc>
              <a:spcBef>
                <a:spcPts val="600"/>
              </a:spcBef>
              <a:spcAft>
                <a:spcPts val="1200"/>
              </a:spcAft>
              <a:buFont typeface="Arial" panose="020B0604020202020204" pitchFamily="34" charset="0"/>
              <a:buChar char="•"/>
            </a:pPr>
            <a:r>
              <a:rPr lang="en-US" sz="2800"/>
              <a:t>Configure the managed identity for token federation.</a:t>
            </a:r>
          </a:p>
          <a:p>
            <a:pPr marL="285750" indent="-228600">
              <a:lnSpc>
                <a:spcPct val="90000"/>
              </a:lnSpc>
              <a:spcBef>
                <a:spcPts val="600"/>
              </a:spcBef>
              <a:spcAft>
                <a:spcPts val="1200"/>
              </a:spcAft>
              <a:buFont typeface="Arial" panose="020B0604020202020204" pitchFamily="34" charset="0"/>
              <a:buChar char="•"/>
            </a:pPr>
            <a:r>
              <a:rPr lang="en-US" sz="2800"/>
              <a:t>Deploy the workload and verify authentication with the workload identity.</a:t>
            </a:r>
          </a:p>
          <a:p>
            <a:pPr marL="285750" indent="-228600">
              <a:lnSpc>
                <a:spcPct val="90000"/>
              </a:lnSpc>
              <a:spcBef>
                <a:spcPts val="600"/>
              </a:spcBef>
              <a:spcAft>
                <a:spcPts val="1200"/>
              </a:spcAft>
              <a:buFont typeface="Arial" panose="020B0604020202020204" pitchFamily="34" charset="0"/>
              <a:buChar char="•"/>
            </a:pPr>
            <a:r>
              <a:rPr lang="en-US" sz="2800"/>
              <a:t>Optionally grant a pod in the cluster access to secrets in an Azure key vault.</a:t>
            </a:r>
          </a:p>
        </p:txBody>
      </p:sp>
    </p:spTree>
    <p:extLst>
      <p:ext uri="{BB962C8B-B14F-4D97-AF65-F5344CB8AC3E}">
        <p14:creationId xmlns:p14="http://schemas.microsoft.com/office/powerpoint/2010/main" val="3131274016"/>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01FAE03-065D-7599-E1A5-CD22D24CF1BD}"/>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FA3CE1F1-6713-86E6-8AAE-D4881CBA77A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useBgFill="1">
        <p:nvSpPr>
          <p:cNvPr id="9" name="Freeform: Shape 8">
            <a:extLst>
              <a:ext uri="{FF2B5EF4-FFF2-40B4-BE49-F238E27FC236}">
                <a16:creationId xmlns:a16="http://schemas.microsoft.com/office/drawing/2014/main" id="{80BF5A8E-E44E-B657-27D7-896E964025F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14425" y="0"/>
            <a:ext cx="9963150"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solidFill>
              <a:srgbClr val="EFEFEF"/>
            </a:solidFill>
          </a:ln>
          <a:effectLst>
            <a:outerShdw blurRad="139700" sx="102000" sy="102000" algn="ctr" rotWithShape="0">
              <a:schemeClr val="bg1">
                <a:lumMod val="85000"/>
                <a:alpha val="38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1" name="Freeform: Shape 10">
            <a:extLst>
              <a:ext uri="{FF2B5EF4-FFF2-40B4-BE49-F238E27FC236}">
                <a16:creationId xmlns:a16="http://schemas.microsoft.com/office/drawing/2014/main" id="{905E75DA-A16C-ED99-D713-E4E5F9E5F1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1664" y="0"/>
            <a:ext cx="9948672"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E815B1F9-1A96-BEBB-3AFB-11C6D3E74BFB}"/>
              </a:ext>
            </a:extLst>
          </p:cNvPr>
          <p:cNvSpPr>
            <a:spLocks noGrp="1"/>
          </p:cNvSpPr>
          <p:nvPr>
            <p:ph type="title"/>
          </p:nvPr>
        </p:nvSpPr>
        <p:spPr>
          <a:xfrm>
            <a:off x="1524003" y="1999615"/>
            <a:ext cx="9144000" cy="2764028"/>
          </a:xfrm>
        </p:spPr>
        <p:txBody>
          <a:bodyPr vert="horz" lIns="91440" tIns="45720" rIns="91440" bIns="45720" rtlCol="0" anchor="ctr">
            <a:normAutofit/>
          </a:bodyPr>
          <a:lstStyle/>
          <a:p>
            <a:pPr algn="ctr"/>
            <a:r>
              <a:rPr lang="en-US" sz="7200" kern="1200">
                <a:solidFill>
                  <a:schemeClr val="tx1"/>
                </a:solidFill>
                <a:latin typeface="+mj-lt"/>
                <a:ea typeface="+mj-ea"/>
                <a:cs typeface="+mj-cs"/>
              </a:rPr>
              <a:t>Secrets Store CSI Driver</a:t>
            </a:r>
          </a:p>
        </p:txBody>
      </p:sp>
      <p:sp>
        <p:nvSpPr>
          <p:cNvPr id="13" name="Rectangle 12">
            <a:extLst>
              <a:ext uri="{FF2B5EF4-FFF2-40B4-BE49-F238E27FC236}">
                <a16:creationId xmlns:a16="http://schemas.microsoft.com/office/drawing/2014/main" id="{E15175E4-7419-54E6-D29E-F2CDE4CC7F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718560" y="5524786"/>
            <a:ext cx="4754880" cy="2743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694935753"/>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08CB151-A4A3-4C6A-7C88-FCCE678625B9}"/>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97C4004E-D86A-D5D9-A5C5-42EDE4D05E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7C72ECC-5817-3BC3-CAC7-F7DD858BF1BB}"/>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kern="1200">
                <a:solidFill>
                  <a:schemeClr val="tx1"/>
                </a:solidFill>
                <a:latin typeface="+mj-lt"/>
                <a:ea typeface="+mj-ea"/>
                <a:cs typeface="+mj-cs"/>
              </a:rPr>
              <a:t>CSI Driver</a:t>
            </a:r>
          </a:p>
        </p:txBody>
      </p:sp>
      <p:sp>
        <p:nvSpPr>
          <p:cNvPr id="12" name="sketch line">
            <a:extLst>
              <a:ext uri="{FF2B5EF4-FFF2-40B4-BE49-F238E27FC236}">
                <a16:creationId xmlns:a16="http://schemas.microsoft.com/office/drawing/2014/main" id="{B612F7B7-1977-27E7-45C6-C453C68A8D1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2CE0DF66-6242-2523-C6BD-189FBDE76F9C}"/>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The Container Storage Interface (CSI) is a standard for exposing arbitrary block and file storage systems to containerized workloads on Container Orchestration Systems (COS) like Kubernetes. </a:t>
            </a:r>
          </a:p>
          <a:p>
            <a:pPr marL="285750" indent="-228600">
              <a:lnSpc>
                <a:spcPct val="90000"/>
              </a:lnSpc>
              <a:spcBef>
                <a:spcPts val="600"/>
              </a:spcBef>
              <a:spcAft>
                <a:spcPts val="1200"/>
              </a:spcAft>
              <a:buFont typeface="Arial" panose="020B0604020202020204" pitchFamily="34" charset="0"/>
              <a:buChar char="•"/>
            </a:pPr>
            <a:r>
              <a:rPr lang="en-US" sz="2800"/>
              <a:t>Using CSI third-party storage providers can write and deploy plugins exposing new storage systems in Kubernetes without ever having to touch the core Kubernetes code.</a:t>
            </a:r>
          </a:p>
        </p:txBody>
      </p:sp>
    </p:spTree>
    <p:extLst>
      <p:ext uri="{BB962C8B-B14F-4D97-AF65-F5344CB8AC3E}">
        <p14:creationId xmlns:p14="http://schemas.microsoft.com/office/powerpoint/2010/main" val="1943525955"/>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98D4151-C8A8-720E-A6FB-5A4B080E9CFB}"/>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93E9CFE6-6D88-3158-450F-1FA33584567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DD73244-415D-1E68-2BC3-7944B43AEF25}"/>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kern="1200">
                <a:solidFill>
                  <a:schemeClr val="tx1"/>
                </a:solidFill>
                <a:latin typeface="+mj-lt"/>
                <a:ea typeface="+mj-ea"/>
                <a:cs typeface="+mj-cs"/>
              </a:rPr>
              <a:t>Secret Store CSI Driver</a:t>
            </a:r>
          </a:p>
        </p:txBody>
      </p:sp>
      <p:sp>
        <p:nvSpPr>
          <p:cNvPr id="12" name="sketch line">
            <a:extLst>
              <a:ext uri="{FF2B5EF4-FFF2-40B4-BE49-F238E27FC236}">
                <a16:creationId xmlns:a16="http://schemas.microsoft.com/office/drawing/2014/main" id="{7946E436-2FE2-E7BC-3266-1C0DAED1C4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BDD22AB8-9347-F997-4926-1151CE27FC93}"/>
              </a:ext>
            </a:extLst>
          </p:cNvPr>
          <p:cNvSpPr txBox="1"/>
          <p:nvPr/>
        </p:nvSpPr>
        <p:spPr>
          <a:xfrm>
            <a:off x="838200" y="2297126"/>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Secrets Store CSI Driver for Kubernetes secrets - Integrates secrets stores with Kubernetes via a Container Storage Interface (CSI) volume. </a:t>
            </a:r>
          </a:p>
          <a:p>
            <a:pPr marL="285750" indent="-228600">
              <a:lnSpc>
                <a:spcPct val="90000"/>
              </a:lnSpc>
              <a:spcBef>
                <a:spcPts val="600"/>
              </a:spcBef>
              <a:spcAft>
                <a:spcPts val="1200"/>
              </a:spcAft>
              <a:buFont typeface="Arial" panose="020B0604020202020204" pitchFamily="34" charset="0"/>
              <a:buChar char="•"/>
            </a:pPr>
            <a:r>
              <a:rPr lang="en-US" sz="2800"/>
              <a:t>The Secrets Store CSI Driver secrets-store.csi.k8s.io allows Kubernetes to mount multiple secrets, keys, and certs stored in enterprise-grade external secrets stores into their pods as a volume. Once the Volume is attached, the data in it is mounted into the container's file system.</a:t>
            </a:r>
          </a:p>
        </p:txBody>
      </p:sp>
    </p:spTree>
    <p:extLst>
      <p:ext uri="{BB962C8B-B14F-4D97-AF65-F5344CB8AC3E}">
        <p14:creationId xmlns:p14="http://schemas.microsoft.com/office/powerpoint/2010/main" val="31476329"/>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5B06DFB-F903-5FD4-627E-711A082B7596}"/>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7EAFD258-A185-3E83-8EB6-7BF75E17528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CFAF51A-E526-0A71-1402-88AE146C1C05}"/>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a:t>Azure Key Vault provider for </a:t>
            </a:r>
            <a:r>
              <a:rPr lang="en-US" sz="4200" kern="1200">
                <a:solidFill>
                  <a:schemeClr val="tx1"/>
                </a:solidFill>
                <a:latin typeface="+mj-lt"/>
                <a:ea typeface="+mj-ea"/>
                <a:cs typeface="+mj-cs"/>
              </a:rPr>
              <a:t>Secret Store CSI Driver</a:t>
            </a:r>
            <a:r>
              <a:rPr lang="en-US" sz="4200"/>
              <a:t> in an AKS cluster</a:t>
            </a:r>
            <a:endParaRPr lang="en-US" sz="4200" kern="1200">
              <a:solidFill>
                <a:schemeClr val="tx1"/>
              </a:solidFill>
              <a:latin typeface="+mj-lt"/>
              <a:ea typeface="+mj-ea"/>
              <a:cs typeface="+mj-cs"/>
            </a:endParaRPr>
          </a:p>
        </p:txBody>
      </p:sp>
      <p:sp>
        <p:nvSpPr>
          <p:cNvPr id="12" name="sketch line">
            <a:extLst>
              <a:ext uri="{FF2B5EF4-FFF2-40B4-BE49-F238E27FC236}">
                <a16:creationId xmlns:a16="http://schemas.microsoft.com/office/drawing/2014/main" id="{DA48ADF1-C7DC-D347-1224-85369B2CD4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3A20040C-9D0D-FBC1-5C0C-81B85D27ED0A}"/>
              </a:ext>
            </a:extLst>
          </p:cNvPr>
          <p:cNvSpPr txBox="1"/>
          <p:nvPr/>
        </p:nvSpPr>
        <p:spPr>
          <a:xfrm>
            <a:off x="838200" y="2545606"/>
            <a:ext cx="10853928" cy="2528121"/>
          </a:xfrm>
          <a:prstGeom prst="rect">
            <a:avLst/>
          </a:prstGeom>
        </p:spPr>
        <p:txBody>
          <a:bodyPr vert="horz" lIns="91440" tIns="45720" rIns="91440" bIns="45720" rtlCol="0">
            <a:normAutofit/>
          </a:bodyPr>
          <a:lstStyle/>
          <a:p>
            <a:pPr marL="57150">
              <a:lnSpc>
                <a:spcPct val="90000"/>
              </a:lnSpc>
              <a:spcBef>
                <a:spcPts val="600"/>
              </a:spcBef>
              <a:spcAft>
                <a:spcPts val="1200"/>
              </a:spcAft>
            </a:pPr>
            <a:r>
              <a:rPr lang="en-US" sz="2800"/>
              <a:t>The Azure Key Vault provider for Secrets Store CSI Driver allows for the integration of an Azure Key Vault as a secret store with an Azure Kubernetes Service (AKS) cluster via a CSI volume.</a:t>
            </a:r>
          </a:p>
        </p:txBody>
      </p:sp>
    </p:spTree>
    <p:extLst>
      <p:ext uri="{BB962C8B-B14F-4D97-AF65-F5344CB8AC3E}">
        <p14:creationId xmlns:p14="http://schemas.microsoft.com/office/powerpoint/2010/main" val="2748666702"/>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4CEF19C-DCB6-46A6-96B4-EEE2B1BFA1EB}"/>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2DE6783-DEDC-C7D0-4E8E-0BADBE52619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3AF5AF1-97BC-0B3E-C481-F63DF4FC92FE}"/>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a:t>Features</a:t>
            </a:r>
            <a:endParaRPr lang="en-US" sz="4200" kern="1200">
              <a:solidFill>
                <a:schemeClr val="tx1"/>
              </a:solidFill>
              <a:latin typeface="+mj-lt"/>
              <a:ea typeface="+mj-ea"/>
              <a:cs typeface="+mj-cs"/>
            </a:endParaRPr>
          </a:p>
        </p:txBody>
      </p:sp>
      <p:sp>
        <p:nvSpPr>
          <p:cNvPr id="12" name="sketch line">
            <a:extLst>
              <a:ext uri="{FF2B5EF4-FFF2-40B4-BE49-F238E27FC236}">
                <a16:creationId xmlns:a16="http://schemas.microsoft.com/office/drawing/2014/main" id="{07651CE5-3B86-D2AA-AB71-9F80F0E044D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25A57006-ADBE-F5AA-4E04-3185D74D844D}"/>
              </a:ext>
            </a:extLst>
          </p:cNvPr>
          <p:cNvSpPr txBox="1"/>
          <p:nvPr/>
        </p:nvSpPr>
        <p:spPr>
          <a:xfrm>
            <a:off x="218661" y="2138102"/>
            <a:ext cx="11807687" cy="4354773"/>
          </a:xfrm>
          <a:prstGeom prst="rect">
            <a:avLst/>
          </a:prstGeom>
        </p:spPr>
        <p:txBody>
          <a:bodyPr vert="horz" lIns="91440" tIns="45720" rIns="91440" bIns="45720" rtlCol="0">
            <a:normAutofit/>
          </a:bodyPr>
          <a:lstStyle/>
          <a:p>
            <a:pPr marL="514350" indent="-457200">
              <a:spcBef>
                <a:spcPts val="600"/>
              </a:spcBef>
              <a:spcAft>
                <a:spcPts val="600"/>
              </a:spcAft>
              <a:buFont typeface="Arial" panose="020B0604020202020204" pitchFamily="34" charset="0"/>
              <a:buChar char="•"/>
            </a:pPr>
            <a:r>
              <a:rPr lang="en-US" sz="2400"/>
              <a:t>Mounts secrets, keys, and certificates to a pod using a CSI volume.</a:t>
            </a:r>
          </a:p>
          <a:p>
            <a:pPr marL="514350" indent="-457200">
              <a:spcBef>
                <a:spcPts val="600"/>
              </a:spcBef>
              <a:spcAft>
                <a:spcPts val="600"/>
              </a:spcAft>
              <a:buFont typeface="Arial" panose="020B0604020202020204" pitchFamily="34" charset="0"/>
              <a:buChar char="•"/>
            </a:pPr>
            <a:r>
              <a:rPr lang="en-US" sz="2400"/>
              <a:t>Supports CSI inline volumes.</a:t>
            </a:r>
          </a:p>
          <a:p>
            <a:pPr marL="514350" indent="-457200">
              <a:spcBef>
                <a:spcPts val="600"/>
              </a:spcBef>
              <a:spcAft>
                <a:spcPts val="600"/>
              </a:spcAft>
              <a:buFont typeface="Arial" panose="020B0604020202020204" pitchFamily="34" charset="0"/>
              <a:buChar char="•"/>
            </a:pPr>
            <a:r>
              <a:rPr lang="en-US" sz="2400"/>
              <a:t>Supports mounting multiple secrets store objects as a single volume.</a:t>
            </a:r>
          </a:p>
          <a:p>
            <a:pPr marL="514350" indent="-457200">
              <a:spcBef>
                <a:spcPts val="600"/>
              </a:spcBef>
              <a:spcAft>
                <a:spcPts val="600"/>
              </a:spcAft>
              <a:buFont typeface="Arial" panose="020B0604020202020204" pitchFamily="34" charset="0"/>
              <a:buChar char="•"/>
            </a:pPr>
            <a:r>
              <a:rPr lang="en-US" sz="2400"/>
              <a:t>Supports pod portability with the </a:t>
            </a:r>
            <a:r>
              <a:rPr lang="en-US" sz="2400" err="1"/>
              <a:t>SecretProviderClass</a:t>
            </a:r>
            <a:r>
              <a:rPr lang="en-US" sz="2400"/>
              <a:t> CRD.</a:t>
            </a:r>
          </a:p>
          <a:p>
            <a:pPr marL="514350" indent="-457200">
              <a:spcBef>
                <a:spcPts val="600"/>
              </a:spcBef>
              <a:spcAft>
                <a:spcPts val="600"/>
              </a:spcAft>
              <a:buFont typeface="Arial" panose="020B0604020202020204" pitchFamily="34" charset="0"/>
              <a:buChar char="•"/>
            </a:pPr>
            <a:r>
              <a:rPr lang="en-US" sz="2400"/>
              <a:t>Supports Windows containers.</a:t>
            </a:r>
          </a:p>
          <a:p>
            <a:pPr marL="514350" indent="-457200">
              <a:spcBef>
                <a:spcPts val="600"/>
              </a:spcBef>
              <a:spcAft>
                <a:spcPts val="600"/>
              </a:spcAft>
              <a:buFont typeface="Arial" panose="020B0604020202020204" pitchFamily="34" charset="0"/>
              <a:buChar char="•"/>
            </a:pPr>
            <a:r>
              <a:rPr lang="en-US" sz="2400"/>
              <a:t>Syncs with Kubernetes secrets.</a:t>
            </a:r>
          </a:p>
          <a:p>
            <a:pPr marL="514350" indent="-457200">
              <a:spcBef>
                <a:spcPts val="600"/>
              </a:spcBef>
              <a:spcAft>
                <a:spcPts val="600"/>
              </a:spcAft>
              <a:buFont typeface="Arial" panose="020B0604020202020204" pitchFamily="34" charset="0"/>
              <a:buChar char="•"/>
            </a:pPr>
            <a:r>
              <a:rPr lang="en-US" sz="2400"/>
              <a:t>Supports autorotation of mounted contents and synced Kubernetes secrets.</a:t>
            </a:r>
          </a:p>
        </p:txBody>
      </p:sp>
    </p:spTree>
    <p:extLst>
      <p:ext uri="{BB962C8B-B14F-4D97-AF65-F5344CB8AC3E}">
        <p14:creationId xmlns:p14="http://schemas.microsoft.com/office/powerpoint/2010/main" val="457470317"/>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2B3B339-A53B-9AEC-243D-B5695075C5AA}"/>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9D3C736D-9A58-0684-9A8B-F3330CEEE8C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0EC7264-E972-D17B-8715-77C42B8E5E0E}"/>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a:t>Limitations</a:t>
            </a:r>
            <a:endParaRPr lang="en-US" sz="4200" kern="1200">
              <a:solidFill>
                <a:schemeClr val="tx1"/>
              </a:solidFill>
              <a:latin typeface="+mj-lt"/>
              <a:ea typeface="+mj-ea"/>
              <a:cs typeface="+mj-cs"/>
            </a:endParaRPr>
          </a:p>
        </p:txBody>
      </p:sp>
      <p:sp>
        <p:nvSpPr>
          <p:cNvPr id="12" name="sketch line">
            <a:extLst>
              <a:ext uri="{FF2B5EF4-FFF2-40B4-BE49-F238E27FC236}">
                <a16:creationId xmlns:a16="http://schemas.microsoft.com/office/drawing/2014/main" id="{88C885C2-3F92-7D36-B017-59E9F23E22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E0762854-9D1C-A13C-B22B-E8745BEB7227}"/>
              </a:ext>
            </a:extLst>
          </p:cNvPr>
          <p:cNvSpPr txBox="1"/>
          <p:nvPr/>
        </p:nvSpPr>
        <p:spPr>
          <a:xfrm>
            <a:off x="218661" y="2138102"/>
            <a:ext cx="11807687" cy="4354773"/>
          </a:xfrm>
          <a:prstGeom prst="rect">
            <a:avLst/>
          </a:prstGeom>
        </p:spPr>
        <p:txBody>
          <a:bodyPr vert="horz" lIns="91440" tIns="45720" rIns="91440" bIns="45720" rtlCol="0">
            <a:normAutofit/>
          </a:bodyPr>
          <a:lstStyle/>
          <a:p>
            <a:pPr marL="514350" indent="-457200">
              <a:spcBef>
                <a:spcPts val="600"/>
              </a:spcBef>
              <a:spcAft>
                <a:spcPts val="600"/>
              </a:spcAft>
              <a:buFont typeface="Arial" panose="020B0604020202020204" pitchFamily="34" charset="0"/>
              <a:buChar char="•"/>
            </a:pPr>
            <a:r>
              <a:rPr lang="en-US" sz="2400"/>
              <a:t>A container using a </a:t>
            </a:r>
            <a:r>
              <a:rPr lang="en-US" sz="2400" err="1"/>
              <a:t>ConfigMap</a:t>
            </a:r>
            <a:r>
              <a:rPr lang="en-US" sz="2400"/>
              <a:t> or Secret as a </a:t>
            </a:r>
            <a:r>
              <a:rPr lang="en-US" sz="2400" err="1"/>
              <a:t>subPath</a:t>
            </a:r>
            <a:r>
              <a:rPr lang="en-US" sz="2400"/>
              <a:t> volume mount does not receive automated updates when the secret is rotated. This is a Kubernetes limitation. To have the changes take effect, the application needs to reload the changed file by either watching for changes in the file system or by restarting the pod. </a:t>
            </a:r>
          </a:p>
          <a:p>
            <a:pPr marL="514350" indent="-457200">
              <a:spcBef>
                <a:spcPts val="600"/>
              </a:spcBef>
              <a:spcAft>
                <a:spcPts val="600"/>
              </a:spcAft>
              <a:buFont typeface="Arial" panose="020B0604020202020204" pitchFamily="34" charset="0"/>
              <a:buChar char="•"/>
            </a:pPr>
            <a:r>
              <a:rPr lang="en-US" sz="2400"/>
              <a:t>The add-on creates a managed identity named </a:t>
            </a:r>
            <a:r>
              <a:rPr lang="en-US" sz="2400" err="1"/>
              <a:t>azurekeyvaultsecretsprovider</a:t>
            </a:r>
            <a:r>
              <a:rPr lang="en-US" sz="2400"/>
              <a:t>-xxx in the node resource group and assigns it to the Virtual Machine Scale Sets (VMSS) automatically. You can use this managed identity or your own managed identity to access the key vault. It's not supported to prevent creation of the identity.</a:t>
            </a:r>
          </a:p>
        </p:txBody>
      </p:sp>
    </p:spTree>
    <p:extLst>
      <p:ext uri="{BB962C8B-B14F-4D97-AF65-F5344CB8AC3E}">
        <p14:creationId xmlns:p14="http://schemas.microsoft.com/office/powerpoint/2010/main" val="4275599633"/>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0BF4F92-21E9-E558-F76C-E35CF71B05B7}"/>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3CEA2B19-95AB-C604-52E0-14FFEE09A1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78BC852B-E404-BC8F-6D54-D7F69E935787}"/>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0BA872B3-F8E5-9FB3-0731-5C7DF1418BCA}"/>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Azure Key Vault Provider for Secret Store CSI Driver in AKS</a:t>
            </a:r>
            <a:endParaRPr lang="en-US" sz="2400" kern="1200">
              <a:solidFill>
                <a:schemeClr val="tx1"/>
              </a:solidFill>
              <a:latin typeface="+mn-lt"/>
              <a:ea typeface="+mn-ea"/>
              <a:cs typeface="+mn-cs"/>
            </a:endParaRPr>
          </a:p>
        </p:txBody>
      </p:sp>
      <p:sp>
        <p:nvSpPr>
          <p:cNvPr id="10" name="sketch line">
            <a:extLst>
              <a:ext uri="{FF2B5EF4-FFF2-40B4-BE49-F238E27FC236}">
                <a16:creationId xmlns:a16="http://schemas.microsoft.com/office/drawing/2014/main" id="{1CD68F60-313A-D32E-92ED-BE498F54C7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433606623"/>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3F52C18-96C4-D862-9BD9-9FC9A33B8A20}"/>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A00D6497-2834-0600-478A-4A19C4FAE4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useBgFill="1">
        <p:nvSpPr>
          <p:cNvPr id="9" name="Freeform: Shape 8">
            <a:extLst>
              <a:ext uri="{FF2B5EF4-FFF2-40B4-BE49-F238E27FC236}">
                <a16:creationId xmlns:a16="http://schemas.microsoft.com/office/drawing/2014/main" id="{42E1EBEC-0A7A-80D3-61C4-47991D941B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14425" y="0"/>
            <a:ext cx="9963150"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solidFill>
              <a:srgbClr val="EFEFEF"/>
            </a:solidFill>
          </a:ln>
          <a:effectLst>
            <a:outerShdw blurRad="139700" sx="102000" sy="102000" algn="ctr" rotWithShape="0">
              <a:schemeClr val="bg1">
                <a:lumMod val="85000"/>
                <a:alpha val="38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1" name="Freeform: Shape 10">
            <a:extLst>
              <a:ext uri="{FF2B5EF4-FFF2-40B4-BE49-F238E27FC236}">
                <a16:creationId xmlns:a16="http://schemas.microsoft.com/office/drawing/2014/main" id="{FC6FFFB7-F11C-E5AE-9F0A-01FE756594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1664" y="0"/>
            <a:ext cx="9948672"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9D882827-A7DB-FE5D-80C4-42D6E49AE04D}"/>
              </a:ext>
            </a:extLst>
          </p:cNvPr>
          <p:cNvSpPr>
            <a:spLocks noGrp="1"/>
          </p:cNvSpPr>
          <p:nvPr>
            <p:ph type="title"/>
          </p:nvPr>
        </p:nvSpPr>
        <p:spPr>
          <a:xfrm>
            <a:off x="1524003" y="1999615"/>
            <a:ext cx="9144000" cy="2764028"/>
          </a:xfrm>
        </p:spPr>
        <p:txBody>
          <a:bodyPr vert="horz" lIns="91440" tIns="45720" rIns="91440" bIns="45720" rtlCol="0" anchor="ctr">
            <a:normAutofit/>
          </a:bodyPr>
          <a:lstStyle/>
          <a:p>
            <a:pPr algn="ctr"/>
            <a:r>
              <a:rPr lang="en-US" sz="7200" kern="1200">
                <a:solidFill>
                  <a:schemeClr val="tx1"/>
                </a:solidFill>
                <a:latin typeface="+mj-lt"/>
                <a:ea typeface="+mj-ea"/>
                <a:cs typeface="+mj-cs"/>
              </a:rPr>
              <a:t>Pod Security Admission (PSA)</a:t>
            </a:r>
          </a:p>
        </p:txBody>
      </p:sp>
      <p:sp>
        <p:nvSpPr>
          <p:cNvPr id="13" name="Rectangle 12">
            <a:extLst>
              <a:ext uri="{FF2B5EF4-FFF2-40B4-BE49-F238E27FC236}">
                <a16:creationId xmlns:a16="http://schemas.microsoft.com/office/drawing/2014/main" id="{3DA883F1-D187-202F-6390-EA8DFA36BC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718560" y="5524786"/>
            <a:ext cx="4754880" cy="2743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54816947"/>
      </p:ext>
    </p:extLst>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7C06A07-EA2C-0764-71E0-E9FFDA3F07CB}"/>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4AF8F9B-1077-0923-D88C-E8F9888911B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7A4DA1B-1F5A-1943-49B1-E0EE88B37672}"/>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a:t>Pod Security Standards</a:t>
            </a:r>
          </a:p>
        </p:txBody>
      </p:sp>
      <p:sp>
        <p:nvSpPr>
          <p:cNvPr id="12" name="sketch line">
            <a:extLst>
              <a:ext uri="{FF2B5EF4-FFF2-40B4-BE49-F238E27FC236}">
                <a16:creationId xmlns:a16="http://schemas.microsoft.com/office/drawing/2014/main" id="{D559035B-0947-9112-A3F5-10FEE9BE648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6480673C-DBFD-EDAD-1BFF-9190037FAC9E}"/>
              </a:ext>
            </a:extLst>
          </p:cNvPr>
          <p:cNvSpPr txBox="1"/>
          <p:nvPr/>
        </p:nvSpPr>
        <p:spPr>
          <a:xfrm>
            <a:off x="838200" y="2018831"/>
            <a:ext cx="10853928" cy="1984651"/>
          </a:xfrm>
          <a:prstGeom prst="rect">
            <a:avLst/>
          </a:prstGeom>
        </p:spPr>
        <p:txBody>
          <a:bodyPr vert="horz" lIns="91440" tIns="45720" rIns="91440" bIns="45720" rtlCol="0">
            <a:normAutofit/>
          </a:bodyPr>
          <a:lstStyle/>
          <a:p>
            <a:pPr marL="57150">
              <a:lnSpc>
                <a:spcPct val="90000"/>
              </a:lnSpc>
              <a:spcBef>
                <a:spcPts val="600"/>
              </a:spcBef>
              <a:spcAft>
                <a:spcPts val="1200"/>
              </a:spcAft>
            </a:pPr>
            <a:r>
              <a:rPr lang="en-US" sz="2800"/>
              <a:t>The Pod Security Standards define three different policies to broadly cover the security spectrum. </a:t>
            </a:r>
          </a:p>
          <a:p>
            <a:pPr marL="57150">
              <a:lnSpc>
                <a:spcPct val="90000"/>
              </a:lnSpc>
              <a:spcBef>
                <a:spcPts val="600"/>
              </a:spcBef>
              <a:spcAft>
                <a:spcPts val="1200"/>
              </a:spcAft>
            </a:pPr>
            <a:r>
              <a:rPr lang="en-US" sz="2800"/>
              <a:t>These policies are cumulative and range from highly-permissive to highly-restrictive. </a:t>
            </a:r>
          </a:p>
        </p:txBody>
      </p:sp>
      <p:graphicFrame>
        <p:nvGraphicFramePr>
          <p:cNvPr id="3" name="Table 2">
            <a:extLst>
              <a:ext uri="{FF2B5EF4-FFF2-40B4-BE49-F238E27FC236}">
                <a16:creationId xmlns:a16="http://schemas.microsoft.com/office/drawing/2014/main" id="{2DC7441C-1AD8-365A-2446-85D2611DB8DE}"/>
              </a:ext>
            </a:extLst>
          </p:cNvPr>
          <p:cNvGraphicFramePr>
            <a:graphicFrameLocks noGrp="1"/>
          </p:cNvGraphicFramePr>
          <p:nvPr>
            <p:extLst>
              <p:ext uri="{D42A27DB-BD31-4B8C-83A1-F6EECF244321}">
                <p14:modId xmlns:p14="http://schemas.microsoft.com/office/powerpoint/2010/main" val="1218049854"/>
              </p:ext>
            </p:extLst>
          </p:nvPr>
        </p:nvGraphicFramePr>
        <p:xfrm>
          <a:off x="838200" y="4267018"/>
          <a:ext cx="10515600" cy="2011680"/>
        </p:xfrm>
        <a:graphic>
          <a:graphicData uri="http://schemas.openxmlformats.org/drawingml/2006/table">
            <a:tbl>
              <a:tblPr/>
              <a:tblGrid>
                <a:gridCol w="1489081">
                  <a:extLst>
                    <a:ext uri="{9D8B030D-6E8A-4147-A177-3AD203B41FA5}">
                      <a16:colId xmlns:a16="http://schemas.microsoft.com/office/drawing/2014/main" val="2413998057"/>
                    </a:ext>
                  </a:extLst>
                </a:gridCol>
                <a:gridCol w="9026519">
                  <a:extLst>
                    <a:ext uri="{9D8B030D-6E8A-4147-A177-3AD203B41FA5}">
                      <a16:colId xmlns:a16="http://schemas.microsoft.com/office/drawing/2014/main" val="1526893556"/>
                    </a:ext>
                  </a:extLst>
                </a:gridCol>
              </a:tblGrid>
              <a:tr h="0">
                <a:tc>
                  <a:txBody>
                    <a:bodyPr/>
                    <a:lstStyle/>
                    <a:p>
                      <a:pPr algn="l" fontAlgn="b">
                        <a:buNone/>
                      </a:pPr>
                      <a:r>
                        <a:rPr lang="en-US">
                          <a:effectLst/>
                        </a:rPr>
                        <a:t>Profile</a:t>
                      </a:r>
                    </a:p>
                  </a:txBody>
                  <a:tcPr anchor="b">
                    <a:lnL>
                      <a:noFill/>
                    </a:lnL>
                    <a:lnR>
                      <a:noFill/>
                    </a:lnR>
                    <a:lnT w="9525" cap="flat" cmpd="sng" algn="ctr">
                      <a:solidFill>
                        <a:srgbClr val="DEE2E6"/>
                      </a:solidFill>
                      <a:prstDash val="solid"/>
                      <a:round/>
                      <a:headEnd type="none" w="med" len="med"/>
                      <a:tailEnd type="none" w="med" len="med"/>
                    </a:lnT>
                    <a:lnB w="9525" cap="flat" cmpd="sng" algn="ctr">
                      <a:solidFill>
                        <a:srgbClr val="DEE2E6"/>
                      </a:solidFill>
                      <a:prstDash val="solid"/>
                      <a:round/>
                      <a:headEnd type="none" w="med" len="med"/>
                      <a:tailEnd type="none" w="med" len="med"/>
                    </a:lnB>
                    <a:solidFill>
                      <a:srgbClr val="FFFFFF"/>
                    </a:solidFill>
                  </a:tcPr>
                </a:tc>
                <a:tc>
                  <a:txBody>
                    <a:bodyPr/>
                    <a:lstStyle/>
                    <a:p>
                      <a:pPr algn="l" fontAlgn="b">
                        <a:buNone/>
                      </a:pPr>
                      <a:r>
                        <a:rPr lang="en-US">
                          <a:effectLst/>
                        </a:rPr>
                        <a:t>Description</a:t>
                      </a:r>
                    </a:p>
                  </a:txBody>
                  <a:tcPr anchor="b">
                    <a:lnL>
                      <a:noFill/>
                    </a:lnL>
                    <a:lnR>
                      <a:noFill/>
                    </a:lnR>
                    <a:lnT w="9525" cap="flat" cmpd="sng" algn="ctr">
                      <a:solidFill>
                        <a:srgbClr val="DEE2E6"/>
                      </a:solidFill>
                      <a:prstDash val="solid"/>
                      <a:round/>
                      <a:headEnd type="none" w="med" len="med"/>
                      <a:tailEnd type="none" w="med" len="med"/>
                    </a:lnT>
                    <a:lnB w="9525"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74318008"/>
                  </a:ext>
                </a:extLst>
              </a:tr>
              <a:tr h="0">
                <a:tc>
                  <a:txBody>
                    <a:bodyPr/>
                    <a:lstStyle/>
                    <a:p>
                      <a:pPr fontAlgn="t">
                        <a:buNone/>
                      </a:pPr>
                      <a:r>
                        <a:rPr lang="en-US" b="1">
                          <a:effectLst/>
                        </a:rPr>
                        <a:t>Privileged</a:t>
                      </a:r>
                      <a:endParaRPr lang="en-US" b="0">
                        <a:effectLst/>
                      </a:endParaRPr>
                    </a:p>
                  </a:txBody>
                  <a:tcPr>
                    <a:lnL>
                      <a:noFill/>
                    </a:lnL>
                    <a:lnR>
                      <a:noFill/>
                    </a:lnR>
                    <a:lnT w="9525" cap="flat" cmpd="sng" algn="ctr">
                      <a:solidFill>
                        <a:srgbClr val="DEE2E6"/>
                      </a:solidFill>
                      <a:prstDash val="solid"/>
                      <a:round/>
                      <a:headEnd type="none" w="med" len="med"/>
                      <a:tailEnd type="none" w="med" len="med"/>
                    </a:lnT>
                    <a:lnB w="9525"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b="0">
                          <a:effectLst/>
                        </a:rPr>
                        <a:t>Unrestricted policy, providing the widest possible level of permissions. This policy allows for known privilege escalations.</a:t>
                      </a:r>
                    </a:p>
                  </a:txBody>
                  <a:tcPr>
                    <a:lnL>
                      <a:noFill/>
                    </a:lnL>
                    <a:lnR>
                      <a:noFill/>
                    </a:lnR>
                    <a:lnT w="9525" cap="flat" cmpd="sng" algn="ctr">
                      <a:solidFill>
                        <a:srgbClr val="DEE2E6"/>
                      </a:solidFill>
                      <a:prstDash val="solid"/>
                      <a:round/>
                      <a:headEnd type="none" w="med" len="med"/>
                      <a:tailEnd type="none" w="med" len="med"/>
                    </a:lnT>
                    <a:lnB w="9525"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291771172"/>
                  </a:ext>
                </a:extLst>
              </a:tr>
              <a:tr h="0">
                <a:tc>
                  <a:txBody>
                    <a:bodyPr/>
                    <a:lstStyle/>
                    <a:p>
                      <a:pPr fontAlgn="t">
                        <a:buNone/>
                      </a:pPr>
                      <a:r>
                        <a:rPr lang="en-US" b="1">
                          <a:effectLst/>
                        </a:rPr>
                        <a:t>Baseline</a:t>
                      </a:r>
                      <a:endParaRPr lang="en-US" b="0">
                        <a:effectLst/>
                      </a:endParaRPr>
                    </a:p>
                  </a:txBody>
                  <a:tcPr>
                    <a:lnL>
                      <a:noFill/>
                    </a:lnL>
                    <a:lnR>
                      <a:noFill/>
                    </a:lnR>
                    <a:lnT w="9525" cap="flat" cmpd="sng" algn="ctr">
                      <a:solidFill>
                        <a:srgbClr val="DEE2E6"/>
                      </a:solidFill>
                      <a:prstDash val="solid"/>
                      <a:round/>
                      <a:headEnd type="none" w="med" len="med"/>
                      <a:tailEnd type="none" w="med" len="med"/>
                    </a:lnT>
                    <a:lnB w="9525"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b="0">
                          <a:effectLst/>
                        </a:rPr>
                        <a:t>Minimally restrictive policy which prevents known privilege escalations. Allows the default (minimally specified) Pod configuration.</a:t>
                      </a:r>
                    </a:p>
                  </a:txBody>
                  <a:tcPr>
                    <a:lnL>
                      <a:noFill/>
                    </a:lnL>
                    <a:lnR>
                      <a:noFill/>
                    </a:lnR>
                    <a:lnT w="9525" cap="flat" cmpd="sng" algn="ctr">
                      <a:solidFill>
                        <a:srgbClr val="DEE2E6"/>
                      </a:solidFill>
                      <a:prstDash val="solid"/>
                      <a:round/>
                      <a:headEnd type="none" w="med" len="med"/>
                      <a:tailEnd type="none" w="med" len="med"/>
                    </a:lnT>
                    <a:lnB w="9525"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291325860"/>
                  </a:ext>
                </a:extLst>
              </a:tr>
              <a:tr h="0">
                <a:tc>
                  <a:txBody>
                    <a:bodyPr/>
                    <a:lstStyle/>
                    <a:p>
                      <a:pPr fontAlgn="t">
                        <a:buNone/>
                      </a:pPr>
                      <a:r>
                        <a:rPr lang="en-US" b="1">
                          <a:effectLst/>
                        </a:rPr>
                        <a:t>Restricted</a:t>
                      </a:r>
                      <a:endParaRPr lang="en-US" b="0">
                        <a:effectLst/>
                      </a:endParaRPr>
                    </a:p>
                  </a:txBody>
                  <a:tcPr>
                    <a:lnL>
                      <a:noFill/>
                    </a:lnL>
                    <a:lnR>
                      <a:noFill/>
                    </a:lnR>
                    <a:lnT w="9525" cap="flat" cmpd="sng" algn="ctr">
                      <a:solidFill>
                        <a:srgbClr val="DEE2E6"/>
                      </a:solidFill>
                      <a:prstDash val="solid"/>
                      <a:round/>
                      <a:headEnd type="none" w="med" len="med"/>
                      <a:tailEnd type="none" w="med" len="med"/>
                    </a:lnT>
                    <a:lnB>
                      <a:noFill/>
                    </a:lnB>
                    <a:solidFill>
                      <a:srgbClr val="FFFFFF"/>
                    </a:solidFill>
                  </a:tcPr>
                </a:tc>
                <a:tc>
                  <a:txBody>
                    <a:bodyPr/>
                    <a:lstStyle/>
                    <a:p>
                      <a:pPr fontAlgn="t">
                        <a:buNone/>
                      </a:pPr>
                      <a:r>
                        <a:rPr lang="en-US" b="0">
                          <a:effectLst/>
                        </a:rPr>
                        <a:t>Heavily restricted policy, following current Pod hardening best practices.</a:t>
                      </a:r>
                    </a:p>
                  </a:txBody>
                  <a:tcPr>
                    <a:lnL>
                      <a:noFill/>
                    </a:lnL>
                    <a:lnR>
                      <a:noFill/>
                    </a:lnR>
                    <a:lnT w="9525" cap="flat" cmpd="sng" algn="ctr">
                      <a:solidFill>
                        <a:srgbClr val="DEE2E6"/>
                      </a:solidFill>
                      <a:prstDash val="solid"/>
                      <a:round/>
                      <a:headEnd type="none" w="med" len="med"/>
                      <a:tailEnd type="none" w="med" len="med"/>
                    </a:lnT>
                    <a:lnB>
                      <a:noFill/>
                    </a:lnB>
                    <a:solidFill>
                      <a:srgbClr val="FFFFFF"/>
                    </a:solidFill>
                  </a:tcPr>
                </a:tc>
                <a:extLst>
                  <a:ext uri="{0D108BD9-81ED-4DB2-BD59-A6C34878D82A}">
                    <a16:rowId xmlns:a16="http://schemas.microsoft.com/office/drawing/2014/main" val="545908330"/>
                  </a:ext>
                </a:extLst>
              </a:tr>
            </a:tbl>
          </a:graphicData>
        </a:graphic>
      </p:graphicFrame>
    </p:spTree>
    <p:extLst>
      <p:ext uri="{BB962C8B-B14F-4D97-AF65-F5344CB8AC3E}">
        <p14:creationId xmlns:p14="http://schemas.microsoft.com/office/powerpoint/2010/main" val="3871461859"/>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7D511D5-6F85-BCA6-012C-D367B75B3AD4}"/>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45F99691-F110-12A9-3C4A-434BE427DC7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4D7D15D-5A8B-93CA-E765-5097B2C90E8E}"/>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a:t>The Privileged Policy</a:t>
            </a:r>
          </a:p>
        </p:txBody>
      </p:sp>
      <p:sp>
        <p:nvSpPr>
          <p:cNvPr id="12" name="sketch line">
            <a:extLst>
              <a:ext uri="{FF2B5EF4-FFF2-40B4-BE49-F238E27FC236}">
                <a16:creationId xmlns:a16="http://schemas.microsoft.com/office/drawing/2014/main" id="{CBD7EF90-FFA0-5B7A-8C72-99B8F6751CA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D6C67AB8-B85D-91AE-BE05-3BA13B92FC18}"/>
              </a:ext>
            </a:extLst>
          </p:cNvPr>
          <p:cNvSpPr txBox="1"/>
          <p:nvPr/>
        </p:nvSpPr>
        <p:spPr>
          <a:xfrm>
            <a:off x="838200" y="2423558"/>
            <a:ext cx="10853928" cy="3557811"/>
          </a:xfrm>
          <a:prstGeom prst="rect">
            <a:avLst/>
          </a:prstGeom>
        </p:spPr>
        <p:txBody>
          <a:bodyPr vert="horz" lIns="91440" tIns="45720" rIns="91440" bIns="45720" rtlCol="0">
            <a:normAutofit/>
          </a:bodyPr>
          <a:lstStyle/>
          <a:p>
            <a:pPr marL="57150">
              <a:lnSpc>
                <a:spcPct val="90000"/>
              </a:lnSpc>
              <a:spcBef>
                <a:spcPts val="600"/>
              </a:spcBef>
              <a:spcAft>
                <a:spcPts val="1200"/>
              </a:spcAft>
            </a:pPr>
            <a:r>
              <a:rPr lang="en-US" sz="2800"/>
              <a:t>The Privileged policy is purposely-open, and entirely unrestricted. This type of policy is typically aimed at system- and infrastructure-level workloads managed by privileged, trusted users.</a:t>
            </a:r>
          </a:p>
          <a:p>
            <a:pPr marL="57150">
              <a:lnSpc>
                <a:spcPct val="90000"/>
              </a:lnSpc>
              <a:spcBef>
                <a:spcPts val="600"/>
              </a:spcBef>
              <a:spcAft>
                <a:spcPts val="1200"/>
              </a:spcAft>
            </a:pPr>
            <a:r>
              <a:rPr lang="en-US" sz="2800"/>
              <a:t>The Privileged policy is defined by an absence of restrictions. If you define a Pod where the Privileged security policy applies, the Pod you define is able to bypass typical container isolation mechanisms. For example, you can define a Pod that has access to the node's host network.</a:t>
            </a:r>
          </a:p>
        </p:txBody>
      </p:sp>
    </p:spTree>
    <p:extLst>
      <p:ext uri="{BB962C8B-B14F-4D97-AF65-F5344CB8AC3E}">
        <p14:creationId xmlns:p14="http://schemas.microsoft.com/office/powerpoint/2010/main" val="376929427"/>
      </p:ext>
    </p:extLst>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13144E8-F804-9118-A7AD-82D09510D450}"/>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54CF14E7-1A90-9DA4-2863-6A305FAF7A8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B2D8E11-E12A-C650-317C-1A33289350D7}"/>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a:t>The Baseline Policy</a:t>
            </a:r>
          </a:p>
        </p:txBody>
      </p:sp>
      <p:sp>
        <p:nvSpPr>
          <p:cNvPr id="12" name="sketch line">
            <a:extLst>
              <a:ext uri="{FF2B5EF4-FFF2-40B4-BE49-F238E27FC236}">
                <a16:creationId xmlns:a16="http://schemas.microsoft.com/office/drawing/2014/main" id="{1CE7B4EB-5F3E-5F36-578E-8D7639E77EA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644FBEED-1F8B-AC54-B2E0-15F272B9CBDD}"/>
              </a:ext>
            </a:extLst>
          </p:cNvPr>
          <p:cNvSpPr txBox="1"/>
          <p:nvPr/>
        </p:nvSpPr>
        <p:spPr>
          <a:xfrm>
            <a:off x="838200" y="2433497"/>
            <a:ext cx="10853928" cy="2471265"/>
          </a:xfrm>
          <a:prstGeom prst="rect">
            <a:avLst/>
          </a:prstGeom>
        </p:spPr>
        <p:txBody>
          <a:bodyPr vert="horz" lIns="91440" tIns="45720" rIns="91440" bIns="45720" rtlCol="0">
            <a:normAutofit/>
          </a:bodyPr>
          <a:lstStyle/>
          <a:p>
            <a:pPr marL="57150">
              <a:lnSpc>
                <a:spcPct val="90000"/>
              </a:lnSpc>
              <a:spcBef>
                <a:spcPts val="600"/>
              </a:spcBef>
              <a:spcAft>
                <a:spcPts val="1200"/>
              </a:spcAft>
            </a:pPr>
            <a:r>
              <a:rPr lang="en-US" sz="2800"/>
              <a:t>The Baseline policy is aimed at ease of adoption for common containerized workloads while preventing known privilege escalations. </a:t>
            </a:r>
          </a:p>
          <a:p>
            <a:pPr marL="57150">
              <a:lnSpc>
                <a:spcPct val="90000"/>
              </a:lnSpc>
              <a:spcBef>
                <a:spcPts val="600"/>
              </a:spcBef>
              <a:spcAft>
                <a:spcPts val="1200"/>
              </a:spcAft>
            </a:pPr>
            <a:r>
              <a:rPr lang="en-US" sz="2800"/>
              <a:t>This policy is targeted at application operators and developers of non-critical applications.</a:t>
            </a:r>
          </a:p>
        </p:txBody>
      </p:sp>
    </p:spTree>
    <p:extLst>
      <p:ext uri="{BB962C8B-B14F-4D97-AF65-F5344CB8AC3E}">
        <p14:creationId xmlns:p14="http://schemas.microsoft.com/office/powerpoint/2010/main" val="2140530945"/>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EE2AEDC-9D35-5A1E-90A3-EEA28C93E726}"/>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DE798FEE-151D-280B-6E2E-572230008F8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3A320DC-D331-853A-8517-C0B4F91500FB}"/>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a:t>The Restricted Policy</a:t>
            </a:r>
          </a:p>
        </p:txBody>
      </p:sp>
      <p:sp>
        <p:nvSpPr>
          <p:cNvPr id="12" name="sketch line">
            <a:extLst>
              <a:ext uri="{FF2B5EF4-FFF2-40B4-BE49-F238E27FC236}">
                <a16:creationId xmlns:a16="http://schemas.microsoft.com/office/drawing/2014/main" id="{EAC336F9-A603-B0EC-88E0-E477D2D037D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968F914E-AFD7-D361-F302-2958B299BDC7}"/>
              </a:ext>
            </a:extLst>
          </p:cNvPr>
          <p:cNvSpPr txBox="1"/>
          <p:nvPr/>
        </p:nvSpPr>
        <p:spPr>
          <a:xfrm>
            <a:off x="838200" y="2423558"/>
            <a:ext cx="10853928" cy="2275663"/>
          </a:xfrm>
          <a:prstGeom prst="rect">
            <a:avLst/>
          </a:prstGeom>
        </p:spPr>
        <p:txBody>
          <a:bodyPr vert="horz" lIns="91440" tIns="45720" rIns="91440" bIns="45720" rtlCol="0">
            <a:normAutofit/>
          </a:bodyPr>
          <a:lstStyle/>
          <a:p>
            <a:pPr marL="57150">
              <a:lnSpc>
                <a:spcPct val="90000"/>
              </a:lnSpc>
              <a:spcBef>
                <a:spcPts val="600"/>
              </a:spcBef>
              <a:spcAft>
                <a:spcPts val="1200"/>
              </a:spcAft>
            </a:pPr>
            <a:r>
              <a:rPr lang="en-US" sz="2800"/>
              <a:t>The Restricted policy is aimed at enforcing current Pod hardening best practices, at the expense of some compatibility. </a:t>
            </a:r>
          </a:p>
          <a:p>
            <a:pPr marL="57150">
              <a:lnSpc>
                <a:spcPct val="90000"/>
              </a:lnSpc>
              <a:spcBef>
                <a:spcPts val="600"/>
              </a:spcBef>
              <a:spcAft>
                <a:spcPts val="1200"/>
              </a:spcAft>
            </a:pPr>
            <a:r>
              <a:rPr lang="en-US" sz="2800"/>
              <a:t>It is targeted at operators and developers of security-critical applications, as well as lower-trust users.</a:t>
            </a:r>
          </a:p>
        </p:txBody>
      </p:sp>
    </p:spTree>
    <p:extLst>
      <p:ext uri="{BB962C8B-B14F-4D97-AF65-F5344CB8AC3E}">
        <p14:creationId xmlns:p14="http://schemas.microsoft.com/office/powerpoint/2010/main" val="2064698615"/>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2B997BC-EE95-5B83-DE0F-E3F1CB30892B}"/>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F13D58F2-85DD-48C3-E80D-73A5495244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D90FB55-8AA5-2161-38B7-9A7A79101521}"/>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a:t>Pod Security Admission in AKS</a:t>
            </a:r>
          </a:p>
        </p:txBody>
      </p:sp>
      <p:sp>
        <p:nvSpPr>
          <p:cNvPr id="12" name="sketch line">
            <a:extLst>
              <a:ext uri="{FF2B5EF4-FFF2-40B4-BE49-F238E27FC236}">
                <a16:creationId xmlns:a16="http://schemas.microsoft.com/office/drawing/2014/main" id="{4E30A4F9-70FB-9EA3-15F0-2A57AA0643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F7DD3020-C663-016B-C5A5-9E682BEDDD01}"/>
              </a:ext>
            </a:extLst>
          </p:cNvPr>
          <p:cNvSpPr txBox="1"/>
          <p:nvPr/>
        </p:nvSpPr>
        <p:spPr>
          <a:xfrm>
            <a:off x="838200" y="2423558"/>
            <a:ext cx="10853928" cy="2275663"/>
          </a:xfrm>
          <a:prstGeom prst="rect">
            <a:avLst/>
          </a:prstGeom>
        </p:spPr>
        <p:txBody>
          <a:bodyPr vert="horz" lIns="91440" tIns="45720" rIns="91440" bIns="45720" rtlCol="0">
            <a:normAutofit/>
          </a:bodyPr>
          <a:lstStyle/>
          <a:p>
            <a:pPr marL="57150">
              <a:lnSpc>
                <a:spcPct val="90000"/>
              </a:lnSpc>
              <a:spcBef>
                <a:spcPts val="600"/>
              </a:spcBef>
              <a:spcAft>
                <a:spcPts val="1200"/>
              </a:spcAft>
            </a:pPr>
            <a:r>
              <a:rPr lang="en-US" sz="2800"/>
              <a:t>Pod Security Admission (PSA) uses labels to enforce Pod Security Standards policies on pods running in a namespace. </a:t>
            </a:r>
          </a:p>
          <a:p>
            <a:pPr marL="57150">
              <a:lnSpc>
                <a:spcPct val="90000"/>
              </a:lnSpc>
              <a:spcBef>
                <a:spcPts val="600"/>
              </a:spcBef>
              <a:spcAft>
                <a:spcPts val="1200"/>
              </a:spcAft>
            </a:pPr>
            <a:r>
              <a:rPr lang="en-US" sz="2800"/>
              <a:t>In AKS, Pod Security Admission is enabled by default.</a:t>
            </a:r>
          </a:p>
        </p:txBody>
      </p:sp>
    </p:spTree>
    <p:extLst>
      <p:ext uri="{BB962C8B-B14F-4D97-AF65-F5344CB8AC3E}">
        <p14:creationId xmlns:p14="http://schemas.microsoft.com/office/powerpoint/2010/main" val="2023419515"/>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9F8CEEF-21FB-4E90-1312-85A38F4A6BAA}"/>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CA02917-ED24-661B-578F-63ED421F89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1C8FF8F0-84E3-861F-E004-1000EC5C062B}"/>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6013CD4F-1411-BB1E-0B04-7C6D2082A9D9}"/>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Pod Security Admission</a:t>
            </a:r>
            <a:endParaRPr lang="en-US" sz="2400" kern="1200">
              <a:solidFill>
                <a:schemeClr val="tx1"/>
              </a:solidFill>
              <a:latin typeface="+mn-lt"/>
              <a:ea typeface="+mn-ea"/>
              <a:cs typeface="+mn-cs"/>
            </a:endParaRPr>
          </a:p>
        </p:txBody>
      </p:sp>
      <p:sp>
        <p:nvSpPr>
          <p:cNvPr id="10" name="sketch line">
            <a:extLst>
              <a:ext uri="{FF2B5EF4-FFF2-40B4-BE49-F238E27FC236}">
                <a16:creationId xmlns:a16="http://schemas.microsoft.com/office/drawing/2014/main" id="{9243E848-C42F-FB60-CFD1-C1DF19AF52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818778201"/>
      </p:ext>
    </p:extLst>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8A4B89-FD2E-CDD1-7B1F-E654DF70EFF8}"/>
              </a:ext>
            </a:extLst>
          </p:cNvPr>
          <p:cNvSpPr>
            <a:spLocks noGrp="1"/>
          </p:cNvSpPr>
          <p:nvPr>
            <p:ph type="title"/>
          </p:nvPr>
        </p:nvSpPr>
        <p:spPr/>
        <p:txBody>
          <a:bodyPr/>
          <a:lstStyle/>
          <a:p>
            <a:r>
              <a:rPr lang="en-US"/>
              <a:t>Demo Companion</a:t>
            </a:r>
          </a:p>
        </p:txBody>
      </p:sp>
      <p:graphicFrame>
        <p:nvGraphicFramePr>
          <p:cNvPr id="6" name="Table 5">
            <a:extLst>
              <a:ext uri="{FF2B5EF4-FFF2-40B4-BE49-F238E27FC236}">
                <a16:creationId xmlns:a16="http://schemas.microsoft.com/office/drawing/2014/main" id="{A711F935-912B-1B27-1FDB-EDDCE2BEBB3A}"/>
              </a:ext>
            </a:extLst>
          </p:cNvPr>
          <p:cNvGraphicFramePr>
            <a:graphicFrameLocks noGrp="1"/>
          </p:cNvGraphicFramePr>
          <p:nvPr>
            <p:extLst>
              <p:ext uri="{D42A27DB-BD31-4B8C-83A1-F6EECF244321}">
                <p14:modId xmlns:p14="http://schemas.microsoft.com/office/powerpoint/2010/main" val="2051743218"/>
              </p:ext>
            </p:extLst>
          </p:nvPr>
        </p:nvGraphicFramePr>
        <p:xfrm>
          <a:off x="998882" y="1988863"/>
          <a:ext cx="9486901" cy="1731645"/>
        </p:xfrm>
        <a:graphic>
          <a:graphicData uri="http://schemas.openxmlformats.org/drawingml/2006/table">
            <a:tbl>
              <a:tblPr/>
              <a:tblGrid>
                <a:gridCol w="2324778">
                  <a:extLst>
                    <a:ext uri="{9D8B030D-6E8A-4147-A177-3AD203B41FA5}">
                      <a16:colId xmlns:a16="http://schemas.microsoft.com/office/drawing/2014/main" val="3159380899"/>
                    </a:ext>
                  </a:extLst>
                </a:gridCol>
                <a:gridCol w="2052795">
                  <a:extLst>
                    <a:ext uri="{9D8B030D-6E8A-4147-A177-3AD203B41FA5}">
                      <a16:colId xmlns:a16="http://schemas.microsoft.com/office/drawing/2014/main" val="1049103936"/>
                    </a:ext>
                  </a:extLst>
                </a:gridCol>
                <a:gridCol w="1616823">
                  <a:extLst>
                    <a:ext uri="{9D8B030D-6E8A-4147-A177-3AD203B41FA5}">
                      <a16:colId xmlns:a16="http://schemas.microsoft.com/office/drawing/2014/main" val="3060123714"/>
                    </a:ext>
                  </a:extLst>
                </a:gridCol>
                <a:gridCol w="3492505">
                  <a:extLst>
                    <a:ext uri="{9D8B030D-6E8A-4147-A177-3AD203B41FA5}">
                      <a16:colId xmlns:a16="http://schemas.microsoft.com/office/drawing/2014/main" val="1433798474"/>
                    </a:ext>
                  </a:extLst>
                </a:gridCol>
              </a:tblGrid>
              <a:tr h="190500">
                <a:tc>
                  <a:txBody>
                    <a:bodyPr/>
                    <a:lstStyle/>
                    <a:p>
                      <a:pPr algn="l" fontAlgn="b">
                        <a:buNone/>
                      </a:pPr>
                      <a:r>
                        <a:rPr lang="en-US" sz="1200" b="1" i="0" u="none" strike="noStrike">
                          <a:solidFill>
                            <a:srgbClr val="000000"/>
                          </a:solidFill>
                          <a:effectLst/>
                          <a:latin typeface="Aptos Narrow" panose="020B0004020202020204" pitchFamily="34" charset="0"/>
                        </a:rPr>
                        <a:t>Element</a:t>
                      </a: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b">
                        <a:buNone/>
                      </a:pPr>
                      <a:r>
                        <a:rPr lang="en-US" sz="1200" b="1" i="0" u="none" strike="noStrike">
                          <a:solidFill>
                            <a:srgbClr val="000000"/>
                          </a:solidFill>
                          <a:effectLst/>
                          <a:latin typeface="Aptos Narrow" panose="020B0004020202020204" pitchFamily="34" charset="0"/>
                        </a:rPr>
                        <a:t>Pod Level</a:t>
                      </a: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b">
                        <a:buNone/>
                      </a:pPr>
                      <a:r>
                        <a:rPr lang="en-US" sz="1200" b="1" i="0" u="none" strike="noStrike">
                          <a:solidFill>
                            <a:srgbClr val="000000"/>
                          </a:solidFill>
                          <a:effectLst/>
                          <a:latin typeface="Aptos Narrow" panose="020B0004020202020204" pitchFamily="34" charset="0"/>
                        </a:rPr>
                        <a:t>Container Level</a:t>
                      </a: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b">
                        <a:buNone/>
                      </a:pPr>
                      <a:r>
                        <a:rPr lang="en-US" sz="1200" b="1" i="0" u="none" strike="noStrike">
                          <a:solidFill>
                            <a:srgbClr val="000000"/>
                          </a:solidFill>
                          <a:effectLst/>
                          <a:latin typeface="Aptos Narrow" panose="020B0004020202020204" pitchFamily="34" charset="0"/>
                        </a:rPr>
                        <a:t>Purpose</a:t>
                      </a: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79455173"/>
                  </a:ext>
                </a:extLst>
              </a:tr>
              <a:tr h="190500">
                <a:tc>
                  <a:txBody>
                    <a:bodyPr/>
                    <a:lstStyle/>
                    <a:p>
                      <a:pPr algn="l" fontAlgn="b">
                        <a:buNone/>
                      </a:pPr>
                      <a:r>
                        <a:rPr lang="en-US" sz="1200" b="0" i="0" u="none" strike="noStrike" err="1">
                          <a:solidFill>
                            <a:srgbClr val="000000"/>
                          </a:solidFill>
                          <a:effectLst/>
                          <a:highlight>
                            <a:srgbClr val="00FFFF"/>
                          </a:highlight>
                          <a:latin typeface="Aptos Narrow" panose="020B0004020202020204" pitchFamily="34" charset="0"/>
                        </a:rPr>
                        <a:t>runAsNonRoot</a:t>
                      </a:r>
                      <a:endParaRPr lang="en-US" sz="1200" b="0" i="0" u="none" strike="noStrike">
                        <a:solidFill>
                          <a:srgbClr val="000000"/>
                        </a:solidFill>
                        <a:effectLst/>
                        <a:highlight>
                          <a:srgbClr val="00FFFF"/>
                        </a:highlight>
                        <a:latin typeface="Aptos Narrow" panose="020B0004020202020204" pitchFamily="34" charset="0"/>
                      </a:endParaRP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b">
                        <a:buNone/>
                      </a:pPr>
                      <a:r>
                        <a:rPr lang="en-US" sz="1200" b="0" i="0" u="none" strike="noStrike">
                          <a:solidFill>
                            <a:srgbClr val="000000"/>
                          </a:solidFill>
                          <a:effectLst/>
                          <a:latin typeface="Aptos Narrow" panose="020B0004020202020204" pitchFamily="34" charset="0"/>
                        </a:rPr>
                        <a:t>✓</a:t>
                      </a: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b">
                        <a:buNone/>
                      </a:pPr>
                      <a:r>
                        <a:rPr lang="en-US" sz="1200" b="0" i="0" u="none" strike="noStrike">
                          <a:solidFill>
                            <a:srgbClr val="000000"/>
                          </a:solidFill>
                          <a:effectLst/>
                          <a:latin typeface="Aptos Narrow" panose="020B0004020202020204" pitchFamily="34" charset="0"/>
                        </a:rPr>
                        <a:t>✓</a:t>
                      </a: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b">
                        <a:buNone/>
                      </a:pPr>
                      <a:r>
                        <a:rPr lang="en-US" sz="1200" b="0" i="0" u="none" strike="noStrike">
                          <a:solidFill>
                            <a:srgbClr val="000000"/>
                          </a:solidFill>
                          <a:effectLst/>
                          <a:latin typeface="Aptos Narrow" panose="020B0004020202020204" pitchFamily="34" charset="0"/>
                        </a:rPr>
                        <a:t>Prevent running as root</a:t>
                      </a: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29077091"/>
                  </a:ext>
                </a:extLst>
              </a:tr>
              <a:tr h="190500">
                <a:tc>
                  <a:txBody>
                    <a:bodyPr/>
                    <a:lstStyle/>
                    <a:p>
                      <a:pPr algn="l" fontAlgn="b">
                        <a:buNone/>
                      </a:pPr>
                      <a:r>
                        <a:rPr lang="en-US" sz="1200" b="0" i="0" u="none" strike="noStrike">
                          <a:solidFill>
                            <a:srgbClr val="000000"/>
                          </a:solidFill>
                          <a:effectLst/>
                          <a:latin typeface="Aptos Narrow" panose="020B0004020202020204" pitchFamily="34" charset="0"/>
                        </a:rPr>
                        <a:t>runAsUser</a:t>
                      </a: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b">
                        <a:buNone/>
                      </a:pPr>
                      <a:r>
                        <a:rPr lang="en-US" sz="1200" b="0" i="0" u="none" strike="noStrike">
                          <a:solidFill>
                            <a:srgbClr val="000000"/>
                          </a:solidFill>
                          <a:effectLst/>
                          <a:latin typeface="Aptos Narrow" panose="020B0004020202020204" pitchFamily="34" charset="0"/>
                        </a:rPr>
                        <a:t>✓</a:t>
                      </a: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b">
                        <a:buNone/>
                      </a:pPr>
                      <a:r>
                        <a:rPr lang="en-US" sz="1200" b="0" i="0" u="none" strike="noStrike">
                          <a:solidFill>
                            <a:srgbClr val="000000"/>
                          </a:solidFill>
                          <a:effectLst/>
                          <a:latin typeface="Aptos Narrow" panose="020B0004020202020204" pitchFamily="34" charset="0"/>
                        </a:rPr>
                        <a:t>✓</a:t>
                      </a: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b">
                        <a:buNone/>
                      </a:pPr>
                      <a:r>
                        <a:rPr lang="en-US" sz="1200" b="0" i="0" u="none" strike="noStrike">
                          <a:solidFill>
                            <a:srgbClr val="000000"/>
                          </a:solidFill>
                          <a:effectLst/>
                          <a:latin typeface="Aptos Narrow" panose="020B0004020202020204" pitchFamily="34" charset="0"/>
                        </a:rPr>
                        <a:t>Specify user ID</a:t>
                      </a: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120004191"/>
                  </a:ext>
                </a:extLst>
              </a:tr>
              <a:tr h="190500">
                <a:tc>
                  <a:txBody>
                    <a:bodyPr/>
                    <a:lstStyle/>
                    <a:p>
                      <a:pPr algn="l" fontAlgn="b">
                        <a:buNone/>
                      </a:pPr>
                      <a:r>
                        <a:rPr lang="en-US" sz="1200" b="0" i="0" u="none" strike="noStrike">
                          <a:solidFill>
                            <a:srgbClr val="000000"/>
                          </a:solidFill>
                          <a:effectLst/>
                          <a:latin typeface="Aptos Narrow" panose="020B0004020202020204" pitchFamily="34" charset="0"/>
                        </a:rPr>
                        <a:t>runAsGroup</a:t>
                      </a: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b">
                        <a:buNone/>
                      </a:pPr>
                      <a:r>
                        <a:rPr lang="en-US" sz="1200" b="0" i="0" u="none" strike="noStrike">
                          <a:solidFill>
                            <a:srgbClr val="000000"/>
                          </a:solidFill>
                          <a:effectLst/>
                          <a:latin typeface="Aptos Narrow" panose="020B0004020202020204" pitchFamily="34" charset="0"/>
                        </a:rPr>
                        <a:t>✓</a:t>
                      </a: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b">
                        <a:buNone/>
                      </a:pPr>
                      <a:r>
                        <a:rPr lang="en-US" sz="1200" b="0" i="0" u="none" strike="noStrike">
                          <a:solidFill>
                            <a:srgbClr val="000000"/>
                          </a:solidFill>
                          <a:effectLst/>
                          <a:latin typeface="Aptos Narrow" panose="020B0004020202020204" pitchFamily="34" charset="0"/>
                        </a:rPr>
                        <a:t>✓</a:t>
                      </a: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b">
                        <a:buNone/>
                      </a:pPr>
                      <a:r>
                        <a:rPr lang="en-US" sz="1200" b="0" i="0" u="none" strike="noStrike">
                          <a:solidFill>
                            <a:srgbClr val="000000"/>
                          </a:solidFill>
                          <a:effectLst/>
                          <a:latin typeface="Aptos Narrow" panose="020B0004020202020204" pitchFamily="34" charset="0"/>
                        </a:rPr>
                        <a:t>Specify group ID</a:t>
                      </a: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05159852"/>
                  </a:ext>
                </a:extLst>
              </a:tr>
              <a:tr h="190500">
                <a:tc>
                  <a:txBody>
                    <a:bodyPr/>
                    <a:lstStyle/>
                    <a:p>
                      <a:pPr algn="l" fontAlgn="b">
                        <a:buNone/>
                      </a:pPr>
                      <a:r>
                        <a:rPr lang="en-US" sz="1200" b="0" i="0" u="none" strike="noStrike">
                          <a:solidFill>
                            <a:srgbClr val="000000"/>
                          </a:solidFill>
                          <a:effectLst/>
                          <a:latin typeface="Aptos Narrow" panose="020B0004020202020204" pitchFamily="34" charset="0"/>
                        </a:rPr>
                        <a:t>fsGroup</a:t>
                      </a: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b">
                        <a:buNone/>
                      </a:pPr>
                      <a:r>
                        <a:rPr lang="en-US" sz="1200" b="0" i="0" u="none" strike="noStrike">
                          <a:solidFill>
                            <a:srgbClr val="000000"/>
                          </a:solidFill>
                          <a:effectLst/>
                          <a:latin typeface="Aptos Narrow" panose="020B0004020202020204" pitchFamily="34" charset="0"/>
                        </a:rPr>
                        <a:t>✓</a:t>
                      </a: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b">
                        <a:buNone/>
                      </a:pPr>
                      <a:endParaRPr lang="en-US" sz="1200" b="0" i="0" u="none" strike="noStrike">
                        <a:solidFill>
                          <a:srgbClr val="000000"/>
                        </a:solidFill>
                        <a:effectLst/>
                        <a:latin typeface="Aptos Narrow" panose="020B0004020202020204" pitchFamily="34" charset="0"/>
                      </a:endParaRP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b">
                        <a:buNone/>
                      </a:pPr>
                      <a:r>
                        <a:rPr lang="en-US" sz="1200" b="0" i="0" u="none" strike="noStrike">
                          <a:solidFill>
                            <a:srgbClr val="000000"/>
                          </a:solidFill>
                          <a:effectLst/>
                          <a:latin typeface="Aptos Narrow" panose="020B0004020202020204" pitchFamily="34" charset="0"/>
                        </a:rPr>
                        <a:t>File system group for volumes</a:t>
                      </a: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920513096"/>
                  </a:ext>
                </a:extLst>
              </a:tr>
              <a:tr h="190500">
                <a:tc>
                  <a:txBody>
                    <a:bodyPr/>
                    <a:lstStyle/>
                    <a:p>
                      <a:pPr algn="l" fontAlgn="b">
                        <a:buNone/>
                      </a:pPr>
                      <a:r>
                        <a:rPr lang="en-US" sz="1200" b="0" i="0" u="none" strike="noStrike">
                          <a:solidFill>
                            <a:srgbClr val="000000"/>
                          </a:solidFill>
                          <a:effectLst/>
                          <a:latin typeface="Aptos Narrow" panose="020B0004020202020204" pitchFamily="34" charset="0"/>
                        </a:rPr>
                        <a:t>readOnlyRootFilesystem</a:t>
                      </a: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b">
                        <a:buNone/>
                      </a:pPr>
                      <a:endParaRPr lang="en-US" sz="1200" b="0" i="0" u="none" strike="noStrike">
                        <a:solidFill>
                          <a:srgbClr val="000000"/>
                        </a:solidFill>
                        <a:effectLst/>
                        <a:latin typeface="Aptos Narrow" panose="020B0004020202020204" pitchFamily="34" charset="0"/>
                      </a:endParaRP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b">
                        <a:buNone/>
                      </a:pPr>
                      <a:r>
                        <a:rPr lang="en-US" sz="1200" b="0" i="0" u="none" strike="noStrike">
                          <a:solidFill>
                            <a:srgbClr val="000000"/>
                          </a:solidFill>
                          <a:effectLst/>
                          <a:latin typeface="Aptos Narrow" panose="020B0004020202020204" pitchFamily="34" charset="0"/>
                        </a:rPr>
                        <a:t>✓</a:t>
                      </a: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b">
                        <a:buNone/>
                      </a:pPr>
                      <a:r>
                        <a:rPr lang="en-US" sz="1200" b="0" i="0" u="none" strike="noStrike">
                          <a:solidFill>
                            <a:srgbClr val="000000"/>
                          </a:solidFill>
                          <a:effectLst/>
                          <a:latin typeface="Aptos Narrow" panose="020B0004020202020204" pitchFamily="34" charset="0"/>
                        </a:rPr>
                        <a:t>Make root filesystem read-only</a:t>
                      </a: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214550755"/>
                  </a:ext>
                </a:extLst>
              </a:tr>
              <a:tr h="190500">
                <a:tc>
                  <a:txBody>
                    <a:bodyPr/>
                    <a:lstStyle/>
                    <a:p>
                      <a:pPr algn="l" fontAlgn="b">
                        <a:buNone/>
                      </a:pPr>
                      <a:r>
                        <a:rPr lang="en-US" sz="1200" b="0" i="0" u="none" strike="noStrike" err="1">
                          <a:solidFill>
                            <a:srgbClr val="000000"/>
                          </a:solidFill>
                          <a:effectLst/>
                          <a:highlight>
                            <a:srgbClr val="FFFF00"/>
                          </a:highlight>
                          <a:latin typeface="Aptos Narrow" panose="020B0004020202020204" pitchFamily="34" charset="0"/>
                        </a:rPr>
                        <a:t>allowPrivilegeEscalation</a:t>
                      </a:r>
                      <a:endParaRPr lang="en-US" sz="1200" b="0" i="0" u="none" strike="noStrike">
                        <a:solidFill>
                          <a:srgbClr val="000000"/>
                        </a:solidFill>
                        <a:effectLst/>
                        <a:highlight>
                          <a:srgbClr val="FFFF00"/>
                        </a:highlight>
                        <a:latin typeface="Aptos Narrow" panose="020B0004020202020204" pitchFamily="34" charset="0"/>
                      </a:endParaRP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b">
                        <a:buNone/>
                      </a:pPr>
                      <a:endParaRPr lang="en-US" sz="1200" b="0" i="0" u="none" strike="noStrike">
                        <a:solidFill>
                          <a:srgbClr val="000000"/>
                        </a:solidFill>
                        <a:effectLst/>
                        <a:latin typeface="Aptos Narrow" panose="020B0004020202020204" pitchFamily="34" charset="0"/>
                      </a:endParaRP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b">
                        <a:buNone/>
                      </a:pPr>
                      <a:r>
                        <a:rPr lang="en-US" sz="1200" b="0" i="0" u="none" strike="noStrike">
                          <a:solidFill>
                            <a:srgbClr val="000000"/>
                          </a:solidFill>
                          <a:effectLst/>
                          <a:latin typeface="Aptos Narrow" panose="020B0004020202020204" pitchFamily="34" charset="0"/>
                        </a:rPr>
                        <a:t>✓</a:t>
                      </a: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b">
                        <a:buNone/>
                      </a:pPr>
                      <a:r>
                        <a:rPr lang="en-US" sz="1200" b="0" i="0" u="none" strike="noStrike">
                          <a:solidFill>
                            <a:srgbClr val="000000"/>
                          </a:solidFill>
                          <a:effectLst/>
                          <a:latin typeface="Aptos Narrow" panose="020B0004020202020204" pitchFamily="34" charset="0"/>
                        </a:rPr>
                        <a:t>Prevent privilege escalation</a:t>
                      </a: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58826430"/>
                  </a:ext>
                </a:extLst>
              </a:tr>
              <a:tr h="190500">
                <a:tc>
                  <a:txBody>
                    <a:bodyPr/>
                    <a:lstStyle/>
                    <a:p>
                      <a:pPr algn="l" fontAlgn="b">
                        <a:buNone/>
                      </a:pPr>
                      <a:r>
                        <a:rPr lang="en-US" sz="1200" b="0" i="0" u="none" strike="noStrike">
                          <a:solidFill>
                            <a:srgbClr val="000000"/>
                          </a:solidFill>
                          <a:effectLst/>
                          <a:latin typeface="Aptos Narrow" panose="020B0004020202020204" pitchFamily="34" charset="0"/>
                        </a:rPr>
                        <a:t>capabilities</a:t>
                      </a: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b">
                        <a:buNone/>
                      </a:pPr>
                      <a:endParaRPr lang="en-US" sz="1200" b="0" i="0" u="none" strike="noStrike">
                        <a:solidFill>
                          <a:srgbClr val="000000"/>
                        </a:solidFill>
                        <a:effectLst/>
                        <a:latin typeface="Aptos Narrow" panose="020B0004020202020204" pitchFamily="34" charset="0"/>
                      </a:endParaRP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b">
                        <a:buNone/>
                      </a:pPr>
                      <a:r>
                        <a:rPr lang="en-US" sz="1200" b="0" i="0" u="none" strike="noStrike">
                          <a:solidFill>
                            <a:srgbClr val="000000"/>
                          </a:solidFill>
                          <a:effectLst/>
                          <a:latin typeface="Aptos Narrow" panose="020B0004020202020204" pitchFamily="34" charset="0"/>
                        </a:rPr>
                        <a:t>✓</a:t>
                      </a: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b">
                        <a:buNone/>
                      </a:pPr>
                      <a:r>
                        <a:rPr lang="en-US" sz="1200" b="0" i="0" u="none" strike="noStrike">
                          <a:solidFill>
                            <a:srgbClr val="000000"/>
                          </a:solidFill>
                          <a:effectLst/>
                          <a:latin typeface="Aptos Narrow" panose="020B0004020202020204" pitchFamily="34" charset="0"/>
                        </a:rPr>
                        <a:t>Drop/add Linux capabilities</a:t>
                      </a: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55561793"/>
                  </a:ext>
                </a:extLst>
              </a:tr>
              <a:tr h="190500">
                <a:tc>
                  <a:txBody>
                    <a:bodyPr/>
                    <a:lstStyle/>
                    <a:p>
                      <a:pPr algn="l" fontAlgn="b">
                        <a:buNone/>
                      </a:pPr>
                      <a:r>
                        <a:rPr lang="en-US" sz="1200" b="0" i="0" u="none" strike="noStrike" err="1">
                          <a:solidFill>
                            <a:srgbClr val="000000"/>
                          </a:solidFill>
                          <a:effectLst/>
                          <a:highlight>
                            <a:srgbClr val="FF00FF"/>
                          </a:highlight>
                          <a:latin typeface="Aptos Narrow" panose="020B0004020202020204" pitchFamily="34" charset="0"/>
                        </a:rPr>
                        <a:t>seccompProfile</a:t>
                      </a:r>
                      <a:endParaRPr lang="en-US" sz="1200" b="0" i="0" u="none" strike="noStrike">
                        <a:solidFill>
                          <a:srgbClr val="000000"/>
                        </a:solidFill>
                        <a:effectLst/>
                        <a:highlight>
                          <a:srgbClr val="FF00FF"/>
                        </a:highlight>
                        <a:latin typeface="Aptos Narrow" panose="020B0004020202020204" pitchFamily="34" charset="0"/>
                      </a:endParaRP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b">
                        <a:buNone/>
                      </a:pPr>
                      <a:r>
                        <a:rPr lang="en-US" sz="1200" b="0" i="0" u="none" strike="noStrike">
                          <a:solidFill>
                            <a:srgbClr val="000000"/>
                          </a:solidFill>
                          <a:effectLst/>
                          <a:latin typeface="Aptos Narrow" panose="020B0004020202020204" pitchFamily="34" charset="0"/>
                        </a:rPr>
                        <a:t>✓</a:t>
                      </a: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b">
                        <a:buNone/>
                      </a:pPr>
                      <a:r>
                        <a:rPr lang="en-US" sz="1200" b="0" i="0" u="none" strike="noStrike">
                          <a:solidFill>
                            <a:srgbClr val="000000"/>
                          </a:solidFill>
                          <a:effectLst/>
                          <a:latin typeface="Aptos Narrow" panose="020B0004020202020204" pitchFamily="34" charset="0"/>
                        </a:rPr>
                        <a:t>✓</a:t>
                      </a: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b">
                        <a:buNone/>
                      </a:pPr>
                      <a:r>
                        <a:rPr lang="en-US" sz="1200" b="0" i="0" u="none" strike="noStrike">
                          <a:solidFill>
                            <a:srgbClr val="000000"/>
                          </a:solidFill>
                          <a:effectLst/>
                          <a:latin typeface="Aptos Narrow" panose="020B0004020202020204" pitchFamily="34" charset="0"/>
                        </a:rPr>
                        <a:t>Apply seccomp filtering</a:t>
                      </a: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308654247"/>
                  </a:ext>
                </a:extLst>
              </a:tr>
            </a:tbl>
          </a:graphicData>
        </a:graphic>
      </p:graphicFrame>
      <p:sp>
        <p:nvSpPr>
          <p:cNvPr id="7" name="TextBox 6">
            <a:extLst>
              <a:ext uri="{FF2B5EF4-FFF2-40B4-BE49-F238E27FC236}">
                <a16:creationId xmlns:a16="http://schemas.microsoft.com/office/drawing/2014/main" id="{6DAD52E1-88E1-5EB3-D301-338D29F5A4C2}"/>
              </a:ext>
            </a:extLst>
          </p:cNvPr>
          <p:cNvSpPr txBox="1"/>
          <p:nvPr/>
        </p:nvSpPr>
        <p:spPr>
          <a:xfrm>
            <a:off x="924339" y="1490871"/>
            <a:ext cx="4996176" cy="338554"/>
          </a:xfrm>
          <a:prstGeom prst="rect">
            <a:avLst/>
          </a:prstGeom>
          <a:noFill/>
        </p:spPr>
        <p:txBody>
          <a:bodyPr wrap="none" rtlCol="0">
            <a:spAutoFit/>
          </a:bodyPr>
          <a:lstStyle/>
          <a:p>
            <a:r>
              <a:rPr lang="en-US" sz="1600" b="1"/>
              <a:t>The following security context elements are missing</a:t>
            </a:r>
          </a:p>
        </p:txBody>
      </p:sp>
      <p:sp>
        <p:nvSpPr>
          <p:cNvPr id="11" name="TextBox 10">
            <a:extLst>
              <a:ext uri="{FF2B5EF4-FFF2-40B4-BE49-F238E27FC236}">
                <a16:creationId xmlns:a16="http://schemas.microsoft.com/office/drawing/2014/main" id="{A573ECAA-75C6-F13E-F33D-557B1480C020}"/>
              </a:ext>
            </a:extLst>
          </p:cNvPr>
          <p:cNvSpPr txBox="1"/>
          <p:nvPr/>
        </p:nvSpPr>
        <p:spPr>
          <a:xfrm>
            <a:off x="998882" y="4018683"/>
            <a:ext cx="10957892" cy="2308324"/>
          </a:xfrm>
          <a:prstGeom prst="rect">
            <a:avLst/>
          </a:prstGeom>
          <a:noFill/>
        </p:spPr>
        <p:txBody>
          <a:bodyPr wrap="square">
            <a:spAutoFit/>
          </a:bodyPr>
          <a:lstStyle/>
          <a:p>
            <a:r>
              <a:rPr lang="en-US" sz="1200"/>
              <a:t>Warning: would violate </a:t>
            </a:r>
            <a:r>
              <a:rPr lang="en-US" sz="1200" err="1"/>
              <a:t>PodSecurity</a:t>
            </a:r>
            <a:r>
              <a:rPr lang="en-US" sz="1200"/>
              <a:t> "</a:t>
            </a:r>
            <a:r>
              <a:rPr lang="en-US" sz="1200" err="1"/>
              <a:t>restricted:latest</a:t>
            </a:r>
            <a:r>
              <a:rPr lang="en-US" sz="1200"/>
              <a:t>": </a:t>
            </a:r>
            <a:r>
              <a:rPr lang="en-US" sz="1200" err="1">
                <a:highlight>
                  <a:srgbClr val="FFFF00"/>
                </a:highlight>
              </a:rPr>
              <a:t>allowPrivilegeEscalation</a:t>
            </a:r>
            <a:r>
              <a:rPr lang="en-US" sz="1200"/>
              <a:t> != false (container "azure-vote-back" must set </a:t>
            </a:r>
            <a:r>
              <a:rPr lang="en-US" sz="1200" err="1"/>
              <a:t>securityContext.allowPrivilegeEscalation</a:t>
            </a:r>
            <a:r>
              <a:rPr lang="en-US" sz="1200"/>
              <a:t>=false), unrestricted capabilities (container "azure-vote-back" must set </a:t>
            </a:r>
            <a:r>
              <a:rPr lang="en-US" sz="1200" err="1">
                <a:highlight>
                  <a:srgbClr val="FFFF00"/>
                </a:highlight>
              </a:rPr>
              <a:t>securityContext.capabilities.drop</a:t>
            </a:r>
            <a:r>
              <a:rPr lang="en-US" sz="1200">
                <a:highlight>
                  <a:srgbClr val="FFFF00"/>
                </a:highlight>
              </a:rPr>
              <a:t>=["ALL"]), </a:t>
            </a:r>
            <a:r>
              <a:rPr lang="en-US" sz="1200" err="1">
                <a:highlight>
                  <a:srgbClr val="00FFFF"/>
                </a:highlight>
              </a:rPr>
              <a:t>runAsNonRoot</a:t>
            </a:r>
            <a:r>
              <a:rPr lang="en-US" sz="1200"/>
              <a:t> != true (pod or container "azure-vote-back" must set </a:t>
            </a:r>
            <a:r>
              <a:rPr lang="en-US" sz="1200" err="1"/>
              <a:t>securityContext.runAsNonRoot</a:t>
            </a:r>
            <a:r>
              <a:rPr lang="en-US" sz="1200"/>
              <a:t>=true), </a:t>
            </a:r>
            <a:r>
              <a:rPr lang="en-US" sz="1200" err="1"/>
              <a:t>seccompProfile</a:t>
            </a:r>
            <a:r>
              <a:rPr lang="en-US" sz="1200"/>
              <a:t> (pod or container "azure-vote-back" must set </a:t>
            </a:r>
            <a:r>
              <a:rPr lang="en-US" sz="1200" err="1"/>
              <a:t>securityContext.</a:t>
            </a:r>
            <a:r>
              <a:rPr lang="en-US" sz="1200" err="1">
                <a:highlight>
                  <a:srgbClr val="FF00FF"/>
                </a:highlight>
              </a:rPr>
              <a:t>seccompProfile</a:t>
            </a:r>
            <a:r>
              <a:rPr lang="en-US" sz="1200" err="1"/>
              <a:t>.type</a:t>
            </a:r>
            <a:r>
              <a:rPr lang="en-US" sz="1200"/>
              <a:t> to "</a:t>
            </a:r>
            <a:r>
              <a:rPr lang="en-US" sz="1200" err="1"/>
              <a:t>RuntimeDefault</a:t>
            </a:r>
            <a:r>
              <a:rPr lang="en-US" sz="1200"/>
              <a:t>" or "Localhost")</a:t>
            </a:r>
          </a:p>
          <a:p>
            <a:r>
              <a:rPr lang="en-US" sz="1200" err="1"/>
              <a:t>deployment.apps</a:t>
            </a:r>
            <a:r>
              <a:rPr lang="en-US" sz="1200"/>
              <a:t>/azure-vote-back created</a:t>
            </a:r>
          </a:p>
          <a:p>
            <a:r>
              <a:rPr lang="en-US" sz="1200"/>
              <a:t>service/azure-vote-back created</a:t>
            </a:r>
          </a:p>
          <a:p>
            <a:r>
              <a:rPr lang="en-US" sz="1200"/>
              <a:t>Warning: would violate </a:t>
            </a:r>
            <a:r>
              <a:rPr lang="en-US" sz="1200" err="1"/>
              <a:t>PodSecurity</a:t>
            </a:r>
            <a:r>
              <a:rPr lang="en-US" sz="1200"/>
              <a:t> "</a:t>
            </a:r>
            <a:r>
              <a:rPr lang="en-US" sz="1200" err="1"/>
              <a:t>restricted:latest</a:t>
            </a:r>
            <a:r>
              <a:rPr lang="en-US" sz="1200"/>
              <a:t>": </a:t>
            </a:r>
            <a:r>
              <a:rPr lang="en-US" sz="1200" err="1"/>
              <a:t>allowPrivilegeEscalation</a:t>
            </a:r>
            <a:r>
              <a:rPr lang="en-US" sz="1200"/>
              <a:t> != false (container "azure-vote-front" must set </a:t>
            </a:r>
            <a:r>
              <a:rPr lang="en-US" sz="1200" err="1"/>
              <a:t>securityContext.allowPrivilegeEscalation</a:t>
            </a:r>
            <a:r>
              <a:rPr lang="en-US" sz="1200"/>
              <a:t>=false), unrestricted capabilities (container "azure-vote-front" must set </a:t>
            </a:r>
            <a:r>
              <a:rPr lang="en-US" sz="1200" err="1"/>
              <a:t>securityContext.capabilities.drop</a:t>
            </a:r>
            <a:r>
              <a:rPr lang="en-US" sz="1200"/>
              <a:t>=["ALL"]), </a:t>
            </a:r>
            <a:r>
              <a:rPr lang="en-US" sz="1200" err="1"/>
              <a:t>runAsNonRoot</a:t>
            </a:r>
            <a:r>
              <a:rPr lang="en-US" sz="1200"/>
              <a:t> != true (pod or container "azure-vote-front" must set </a:t>
            </a:r>
            <a:r>
              <a:rPr lang="en-US" sz="1200" err="1"/>
              <a:t>securityContext.runAsNonRoot</a:t>
            </a:r>
            <a:r>
              <a:rPr lang="en-US" sz="1200"/>
              <a:t>=true), </a:t>
            </a:r>
            <a:r>
              <a:rPr lang="en-US" sz="1200" err="1"/>
              <a:t>seccompProfile</a:t>
            </a:r>
            <a:r>
              <a:rPr lang="en-US" sz="1200"/>
              <a:t> (pod or container "azure-vote-front" must set </a:t>
            </a:r>
            <a:r>
              <a:rPr lang="en-US" sz="1200" err="1"/>
              <a:t>securityContext.seccompProfile.type</a:t>
            </a:r>
            <a:r>
              <a:rPr lang="en-US" sz="1200"/>
              <a:t> to "</a:t>
            </a:r>
            <a:r>
              <a:rPr lang="en-US" sz="1200" err="1"/>
              <a:t>RuntimeDefault</a:t>
            </a:r>
            <a:r>
              <a:rPr lang="en-US" sz="1200"/>
              <a:t>" or "Localhost")</a:t>
            </a:r>
          </a:p>
          <a:p>
            <a:r>
              <a:rPr lang="en-US" sz="1200" err="1"/>
              <a:t>deployment.apps</a:t>
            </a:r>
            <a:r>
              <a:rPr lang="en-US" sz="1200"/>
              <a:t>/azure-vote-front created</a:t>
            </a:r>
          </a:p>
          <a:p>
            <a:r>
              <a:rPr lang="en-US" sz="1200"/>
              <a:t>service/azure-vote-front created</a:t>
            </a:r>
          </a:p>
        </p:txBody>
      </p:sp>
    </p:spTree>
    <p:extLst>
      <p:ext uri="{BB962C8B-B14F-4D97-AF65-F5344CB8AC3E}">
        <p14:creationId xmlns:p14="http://schemas.microsoft.com/office/powerpoint/2010/main" val="4129994756"/>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437E76-9DFD-E7BB-BED9-412CF6F13EC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A9FA1D4-1E1A-1FAD-5FD8-02E47DDC385F}"/>
              </a:ext>
            </a:extLst>
          </p:cNvPr>
          <p:cNvSpPr>
            <a:spLocks noGrp="1"/>
          </p:cNvSpPr>
          <p:nvPr>
            <p:ph type="title"/>
          </p:nvPr>
        </p:nvSpPr>
        <p:spPr/>
        <p:txBody>
          <a:bodyPr/>
          <a:lstStyle/>
          <a:p>
            <a:r>
              <a:rPr lang="en-US"/>
              <a:t>Demo Companion</a:t>
            </a:r>
          </a:p>
        </p:txBody>
      </p:sp>
      <p:pic>
        <p:nvPicPr>
          <p:cNvPr id="4" name="Picture 3">
            <a:extLst>
              <a:ext uri="{FF2B5EF4-FFF2-40B4-BE49-F238E27FC236}">
                <a16:creationId xmlns:a16="http://schemas.microsoft.com/office/drawing/2014/main" id="{C09946B4-BAA8-FECA-A3AC-BC44DBAC18AD}"/>
              </a:ext>
            </a:extLst>
          </p:cNvPr>
          <p:cNvPicPr>
            <a:picLocks noChangeAspect="1"/>
          </p:cNvPicPr>
          <p:nvPr/>
        </p:nvPicPr>
        <p:blipFill>
          <a:blip r:embed="rId2"/>
          <a:stretch>
            <a:fillRect/>
          </a:stretch>
        </p:blipFill>
        <p:spPr>
          <a:xfrm>
            <a:off x="917742" y="1847057"/>
            <a:ext cx="9190354" cy="2650866"/>
          </a:xfrm>
          <a:prstGeom prst="rect">
            <a:avLst/>
          </a:prstGeom>
        </p:spPr>
      </p:pic>
    </p:spTree>
    <p:extLst>
      <p:ext uri="{BB962C8B-B14F-4D97-AF65-F5344CB8AC3E}">
        <p14:creationId xmlns:p14="http://schemas.microsoft.com/office/powerpoint/2010/main" val="917974161"/>
      </p:ext>
    </p:extLst>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4" name="Rectangle 23">
            <a:extLst>
              <a:ext uri="{FF2B5EF4-FFF2-40B4-BE49-F238E27FC236}">
                <a16:creationId xmlns:a16="http://schemas.microsoft.com/office/drawing/2014/main" id="{389575E1-3389-451A-A5F7-27854C25C5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4293"/>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A53CCC5C-D88E-40FB-B30B-23DCDBD01D3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4"/>
            <a:ext cx="4167268" cy="6858004"/>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Arc 25">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7550402" y="2455479"/>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354F4E26-D1F3-EC07-4782-463CFD06FAD1}"/>
              </a:ext>
            </a:extLst>
          </p:cNvPr>
          <p:cNvSpPr>
            <a:spLocks noGrp="1"/>
          </p:cNvSpPr>
          <p:nvPr>
            <p:ph idx="1"/>
          </p:nvPr>
        </p:nvSpPr>
        <p:spPr>
          <a:xfrm>
            <a:off x="4447308" y="591344"/>
            <a:ext cx="6906491" cy="5585619"/>
          </a:xfrm>
        </p:spPr>
        <p:txBody>
          <a:bodyPr anchor="ctr">
            <a:normAutofit/>
          </a:bodyPr>
          <a:lstStyle/>
          <a:p>
            <a:pPr marL="0" indent="0">
              <a:buNone/>
            </a:pPr>
            <a:r>
              <a:rPr lang="en-US"/>
              <a:t>Questions ?</a:t>
            </a:r>
          </a:p>
        </p:txBody>
      </p:sp>
    </p:spTree>
    <p:extLst>
      <p:ext uri="{BB962C8B-B14F-4D97-AF65-F5344CB8AC3E}">
        <p14:creationId xmlns:p14="http://schemas.microsoft.com/office/powerpoint/2010/main" val="1936368771"/>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A8299C4-A57F-F76F-A252-0BDFCC66E676}"/>
            </a:ext>
          </a:extLst>
        </p:cNvPr>
        <p:cNvGrpSpPr/>
        <p:nvPr/>
      </p:nvGrpSpPr>
      <p:grpSpPr>
        <a:xfrm>
          <a:off x="0" y="0"/>
          <a:ext cx="0" cy="0"/>
          <a:chOff x="0" y="0"/>
          <a:chExt cx="0" cy="0"/>
        </a:xfrm>
      </p:grpSpPr>
      <p:sp useBgFill="1">
        <p:nvSpPr>
          <p:cNvPr id="24" name="Rectangle 23">
            <a:extLst>
              <a:ext uri="{FF2B5EF4-FFF2-40B4-BE49-F238E27FC236}">
                <a16:creationId xmlns:a16="http://schemas.microsoft.com/office/drawing/2014/main" id="{D79EAD09-A52B-3F40-20A0-992FD5B02C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4293"/>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E3C6766D-7230-6D6A-2178-AFEA6D3E883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4"/>
            <a:ext cx="4167268" cy="6858004"/>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Arc 25">
            <a:extLst>
              <a:ext uri="{FF2B5EF4-FFF2-40B4-BE49-F238E27FC236}">
                <a16:creationId xmlns:a16="http://schemas.microsoft.com/office/drawing/2014/main" id="{7098CF42-3639-BD0B-AB92-5E94C9F7FB6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7550402" y="2455479"/>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19BE6953-44A8-E351-F8C5-9B2D6522B55D}"/>
              </a:ext>
            </a:extLst>
          </p:cNvPr>
          <p:cNvSpPr>
            <a:spLocks noGrp="1"/>
          </p:cNvSpPr>
          <p:nvPr>
            <p:ph idx="1"/>
          </p:nvPr>
        </p:nvSpPr>
        <p:spPr>
          <a:xfrm>
            <a:off x="4447308" y="591344"/>
            <a:ext cx="6906491" cy="5585619"/>
          </a:xfrm>
        </p:spPr>
        <p:txBody>
          <a:bodyPr anchor="ctr">
            <a:normAutofit/>
          </a:bodyPr>
          <a:lstStyle/>
          <a:p>
            <a:pPr marL="0" indent="0">
              <a:buNone/>
            </a:pPr>
            <a:r>
              <a:rPr lang="en-US"/>
              <a:t>Thank you</a:t>
            </a:r>
          </a:p>
        </p:txBody>
      </p:sp>
    </p:spTree>
    <p:extLst>
      <p:ext uri="{BB962C8B-B14F-4D97-AF65-F5344CB8AC3E}">
        <p14:creationId xmlns:p14="http://schemas.microsoft.com/office/powerpoint/2010/main" val="1409184322"/>
      </p:ext>
    </p:extLst>
  </p:cSld>
  <p:clrMapOvr>
    <a:masterClrMapping/>
  </p:clrMapOvr>
</p:sld>
</file>

<file path=ppt/theme/theme1.xml><?xml version="1.0" encoding="utf-8"?>
<a:theme xmlns:a="http://schemas.openxmlformats.org/drawingml/2006/main" name="1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f42aa342-8706-4288-bd11-ebb85995028c}" enabled="1" method="Standar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otalTime>0</TotalTime>
  <Words>8373</Words>
  <Application>Microsoft Office PowerPoint</Application>
  <PresentationFormat>Widescreen</PresentationFormat>
  <Paragraphs>1187</Paragraphs>
  <Slides>200</Slides>
  <Notes>112</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200</vt:i4>
      </vt:variant>
    </vt:vector>
  </HeadingPairs>
  <TitlesOfParts>
    <vt:vector size="208" baseType="lpstr">
      <vt:lpstr>Aptos</vt:lpstr>
      <vt:lpstr>Aptos Display</vt:lpstr>
      <vt:lpstr>Aptos Narrow</vt:lpstr>
      <vt:lpstr>Arial</vt:lpstr>
      <vt:lpstr>Calibri</vt:lpstr>
      <vt:lpstr>Consolas</vt:lpstr>
      <vt:lpstr>SFMono-Regular</vt:lpstr>
      <vt:lpstr>1_Office Theme</vt:lpstr>
      <vt:lpstr>AKS Deep Dive Workshop SECURITY</vt:lpstr>
      <vt:lpstr>AKS Security</vt:lpstr>
      <vt:lpstr>Security Concepts</vt:lpstr>
      <vt:lpstr>Security Vulnerability Management</vt:lpstr>
      <vt:lpstr>Finding and Fixing Vulnerabilities</vt:lpstr>
      <vt:lpstr>AKS Container Images</vt:lpstr>
      <vt:lpstr>Security Vulnerability Management</vt:lpstr>
      <vt:lpstr>Vulnerability Classification</vt:lpstr>
      <vt:lpstr>Security Baseline</vt:lpstr>
      <vt:lpstr>Confidential Containers Security Policy</vt:lpstr>
      <vt:lpstr>Confidential Containers Security Policy</vt:lpstr>
      <vt:lpstr>Policy  Contents</vt:lpstr>
      <vt:lpstr>DEMO</vt:lpstr>
      <vt:lpstr>Security Controls by Azure Policy</vt:lpstr>
      <vt:lpstr>Container Security</vt:lpstr>
      <vt:lpstr>Defender for Containers Overview</vt:lpstr>
      <vt:lpstr>5 Core Domains of Container Security</vt:lpstr>
      <vt:lpstr>DEMO</vt:lpstr>
      <vt:lpstr>Confidential Containers Overview</vt:lpstr>
      <vt:lpstr>Confidential Containers Overview</vt:lpstr>
      <vt:lpstr>Confidential Computing</vt:lpstr>
      <vt:lpstr>Confidential VM node pool support on AKS with AMD SEV-SNP confidential VMs</vt:lpstr>
      <vt:lpstr>Application enclave support with Intel SGX based confidential computing nodes on AKS</vt:lpstr>
      <vt:lpstr>Application enclave support with Intel SGX based confidential computing nodes on AKS</vt:lpstr>
      <vt:lpstr>DEMO</vt:lpstr>
      <vt:lpstr>DEMO</vt:lpstr>
      <vt:lpstr>Image Security</vt:lpstr>
      <vt:lpstr>Container Image Management Best Practices</vt:lpstr>
      <vt:lpstr>Secure the Images and Runtime</vt:lpstr>
      <vt:lpstr>Secure the Images and Runtime</vt:lpstr>
      <vt:lpstr>Automatically build new images on base image update</vt:lpstr>
      <vt:lpstr>Validate Signed Images with Image Integrity</vt:lpstr>
      <vt:lpstr>Validate Signed Images with Image Integrity</vt:lpstr>
      <vt:lpstr>How Image Integrity works?</vt:lpstr>
      <vt:lpstr>Image Integrity: Considerations and Limitations</vt:lpstr>
      <vt:lpstr>DEMO</vt:lpstr>
      <vt:lpstr>Remove Vulnerable Images with ImageCleaner</vt:lpstr>
      <vt:lpstr>DEMO</vt:lpstr>
      <vt:lpstr>Scan Images in your CI/CD Workflow</vt:lpstr>
      <vt:lpstr>Scan images in ACR Registries</vt:lpstr>
      <vt:lpstr>Cluster Security</vt:lpstr>
      <vt:lpstr>Cluster Security Best Practices</vt:lpstr>
      <vt:lpstr>Azure kubelogin</vt:lpstr>
      <vt:lpstr>DEMO</vt:lpstr>
      <vt:lpstr>Managed Identities - Overview</vt:lpstr>
      <vt:lpstr>Enable a Managed Identity on your Cluster</vt:lpstr>
      <vt:lpstr>DEMO</vt:lpstr>
      <vt:lpstr>Create a Service Principal</vt:lpstr>
      <vt:lpstr>DEMO</vt:lpstr>
      <vt:lpstr>Enable access to AKS clusters using Trusted Access</vt:lpstr>
      <vt:lpstr>DEMO</vt:lpstr>
      <vt:lpstr>Limit access to cluster configuration file</vt:lpstr>
      <vt:lpstr>DEMO</vt:lpstr>
      <vt:lpstr>Define API server authorized IP ranges</vt:lpstr>
      <vt:lpstr>DEMO</vt:lpstr>
      <vt:lpstr>Use service tags for API server authorized IP ranges in AKS</vt:lpstr>
      <vt:lpstr>DEMO</vt:lpstr>
      <vt:lpstr>Manage Cluster Certificates and Rotation</vt:lpstr>
      <vt:lpstr>DEMO</vt:lpstr>
      <vt:lpstr>Use Custom Certificate Authorities</vt:lpstr>
      <vt:lpstr>DEMO</vt:lpstr>
      <vt:lpstr>Use Azure Policy</vt:lpstr>
      <vt:lpstr>DEMO</vt:lpstr>
      <vt:lpstr>Control Deployments with Azure Policy</vt:lpstr>
      <vt:lpstr>DEMO</vt:lpstr>
      <vt:lpstr>Enforce Best Practices with Deployment Safeguards</vt:lpstr>
      <vt:lpstr>DEMO</vt:lpstr>
      <vt:lpstr>Create an OIDC Issuer for your Cluster</vt:lpstr>
      <vt:lpstr>DEMO</vt:lpstr>
      <vt:lpstr>Create an OIDC Issuer for your Cluster</vt:lpstr>
      <vt:lpstr>DEMO</vt:lpstr>
      <vt:lpstr>Enable KMS Data Encryption in AKS</vt:lpstr>
      <vt:lpstr>DEMO</vt:lpstr>
      <vt:lpstr>Use KMS etcd Encryption (legacy)</vt:lpstr>
      <vt:lpstr>DEMO</vt:lpstr>
      <vt:lpstr>Update Key Vault Mode</vt:lpstr>
      <vt:lpstr>DEMO</vt:lpstr>
      <vt:lpstr>Migrate to KMS v2</vt:lpstr>
      <vt:lpstr>DEMO</vt:lpstr>
      <vt:lpstr>Observability for KMS etcd Encryption</vt:lpstr>
      <vt:lpstr>DEMO</vt:lpstr>
      <vt:lpstr>Migrate to KMS with platform-managed or customer-managed keys</vt:lpstr>
      <vt:lpstr>DEMO</vt:lpstr>
      <vt:lpstr>Secure Container Access to Resources</vt:lpstr>
      <vt:lpstr>DEMO</vt:lpstr>
      <vt:lpstr>Node Security</vt:lpstr>
      <vt:lpstr>BYOK for Azure Managed Disks</vt:lpstr>
      <vt:lpstr>DEMO</vt:lpstr>
      <vt:lpstr>Enable Host-Based Encryption</vt:lpstr>
      <vt:lpstr>DEMO</vt:lpstr>
      <vt:lpstr>Enable FIPS</vt:lpstr>
      <vt:lpstr>DEMO</vt:lpstr>
      <vt:lpstr>Use Confidential Virtual Machines</vt:lpstr>
      <vt:lpstr>DEMO</vt:lpstr>
      <vt:lpstr>Use Dedicated Hosts with AKS</vt:lpstr>
      <vt:lpstr>DEMO</vt:lpstr>
      <vt:lpstr>Restrict access to IMDS</vt:lpstr>
      <vt:lpstr>DEMO</vt:lpstr>
      <vt:lpstr>Authentication and Authorization</vt:lpstr>
      <vt:lpstr>Access and Identity Concepts</vt:lpstr>
      <vt:lpstr>Authentication and authorization best practices</vt:lpstr>
      <vt:lpstr>Use Managed Identities</vt:lpstr>
      <vt:lpstr>DEMO</vt:lpstr>
      <vt:lpstr>Create Service Principal</vt:lpstr>
      <vt:lpstr>DEMO</vt:lpstr>
      <vt:lpstr>Enable AKS-Managed Microsoft Entra Integration</vt:lpstr>
      <vt:lpstr>DEMO</vt:lpstr>
      <vt:lpstr>Manage Local Accounts</vt:lpstr>
      <vt:lpstr>DEMO</vt:lpstr>
      <vt:lpstr>Cluster and Node Access Control with Conditional Access</vt:lpstr>
      <vt:lpstr>DEMO</vt:lpstr>
      <vt:lpstr>Cluster and node access control with Privileged Identity Management</vt:lpstr>
      <vt:lpstr>DEMO</vt:lpstr>
      <vt:lpstr>Microsoft Entra Integration (Legacy)</vt:lpstr>
      <vt:lpstr>DEMO</vt:lpstr>
      <vt:lpstr>Enable GMSA Integration</vt:lpstr>
      <vt:lpstr>DEMO</vt:lpstr>
      <vt:lpstr>Use Azure RBAC for Kubernetes Authorization</vt:lpstr>
      <vt:lpstr>DEMO</vt:lpstr>
      <vt:lpstr>Use Kubernetes RBAC with Microsoft Entra Integration</vt:lpstr>
      <vt:lpstr>DEMO</vt:lpstr>
      <vt:lpstr>Use Kubernetes RBAC with Microsoft Entra Integration</vt:lpstr>
      <vt:lpstr>DEMO</vt:lpstr>
      <vt:lpstr>Update Cluster Credentials</vt:lpstr>
      <vt:lpstr>DEMO</vt:lpstr>
      <vt:lpstr>Limit Access to Cluster Configuration File</vt:lpstr>
      <vt:lpstr>DEMO</vt:lpstr>
      <vt:lpstr>External Identity Provider Authentication Overview</vt:lpstr>
      <vt:lpstr>DEMO</vt:lpstr>
      <vt:lpstr>Configure External Identity Providers</vt:lpstr>
      <vt:lpstr>DEMO</vt:lpstr>
      <vt:lpstr>Control Deployments with Azure Policy</vt:lpstr>
      <vt:lpstr>DEMO</vt:lpstr>
      <vt:lpstr>Application Security</vt:lpstr>
      <vt:lpstr>Create an OIDC Issuer for your Cluster</vt:lpstr>
      <vt:lpstr>DEMO</vt:lpstr>
      <vt:lpstr>Workload Identity Overview</vt:lpstr>
      <vt:lpstr>DEMO</vt:lpstr>
      <vt:lpstr>Deploy and Configure Workload Identity</vt:lpstr>
      <vt:lpstr>DEMO</vt:lpstr>
      <vt:lpstr>Configure Cross-Tenant Workload Identity</vt:lpstr>
      <vt:lpstr>DEMO</vt:lpstr>
      <vt:lpstr>Migrate your App from Pod identity to Workload Identity</vt:lpstr>
      <vt:lpstr>DEMO</vt:lpstr>
      <vt:lpstr>Identity Bindings Overview</vt:lpstr>
      <vt:lpstr>Set up identity bindings</vt:lpstr>
      <vt:lpstr>DEMO</vt:lpstr>
      <vt:lpstr>Microsoft Entra Pod Identity</vt:lpstr>
      <vt:lpstr>DEMO</vt:lpstr>
      <vt:lpstr>Pod Sandboxing Overview</vt:lpstr>
      <vt:lpstr>Pod Sandboxing Considerations</vt:lpstr>
      <vt:lpstr>Deploy Pod Sandboxing</vt:lpstr>
      <vt:lpstr>DEMO</vt:lpstr>
      <vt:lpstr>Secure Pod Traffic with Network Policies</vt:lpstr>
      <vt:lpstr>DEMO</vt:lpstr>
      <vt:lpstr>Network Policy Best Practices</vt:lpstr>
      <vt:lpstr>DEMO</vt:lpstr>
      <vt:lpstr>Use Network Policies in the Azure Portal</vt:lpstr>
      <vt:lpstr>DEMO</vt:lpstr>
      <vt:lpstr>Pod Security Policies</vt:lpstr>
      <vt:lpstr>DEMO</vt:lpstr>
      <vt:lpstr>Pod Security Best Practices</vt:lpstr>
      <vt:lpstr>Resource Management Best Practices</vt:lpstr>
      <vt:lpstr>Configure TLS for NGINX Ingress Controller</vt:lpstr>
      <vt:lpstr>1 - Configure Secrets Store CSI Driver</vt:lpstr>
      <vt:lpstr>DEMO</vt:lpstr>
      <vt:lpstr>2 - Provider Azure Key Vault Access</vt:lpstr>
      <vt:lpstr>DEMO</vt:lpstr>
      <vt:lpstr>3 - Apply Extra Configurations or Perform  Troubleshooting</vt:lpstr>
      <vt:lpstr>DEMO</vt:lpstr>
      <vt:lpstr>Open ID Connect (OIDC) on AKS</vt:lpstr>
      <vt:lpstr>Open ID Connect (OIDC) on AKS</vt:lpstr>
      <vt:lpstr>Open ID Connect (OIDC) on AKS</vt:lpstr>
      <vt:lpstr>PowerPoint Presentation</vt:lpstr>
      <vt:lpstr>Authentication Sequence of OIDC</vt:lpstr>
      <vt:lpstr>Open ID Connect (OIDC) on AKS</vt:lpstr>
      <vt:lpstr>Service Account Labels and Annotations</vt:lpstr>
      <vt:lpstr>Service Account Annotations</vt:lpstr>
      <vt:lpstr>Pod Labels</vt:lpstr>
      <vt:lpstr>Pod Annotations</vt:lpstr>
      <vt:lpstr>DEMO</vt:lpstr>
      <vt:lpstr>Deploy and configure Microsoft Entra Workload ID on an Azure Kubernetes Service (AKS) cluster</vt:lpstr>
      <vt:lpstr>Secrets Store CSI Driver</vt:lpstr>
      <vt:lpstr>CSI Driver</vt:lpstr>
      <vt:lpstr>Secret Store CSI Driver</vt:lpstr>
      <vt:lpstr>Azure Key Vault provider for Secret Store CSI Driver in an AKS cluster</vt:lpstr>
      <vt:lpstr>Features</vt:lpstr>
      <vt:lpstr>Limitations</vt:lpstr>
      <vt:lpstr>DEMO</vt:lpstr>
      <vt:lpstr>Pod Security Admission (PSA)</vt:lpstr>
      <vt:lpstr>Pod Security Standards</vt:lpstr>
      <vt:lpstr>The Privileged Policy</vt:lpstr>
      <vt:lpstr>The Baseline Policy</vt:lpstr>
      <vt:lpstr>The Restricted Policy</vt:lpstr>
      <vt:lpstr>Pod Security Admission in AKS</vt:lpstr>
      <vt:lpstr>DEMO</vt:lpstr>
      <vt:lpstr>Demo Companion</vt:lpstr>
      <vt:lpstr>Demo Companion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Faik Hakan Bilgen</dc:creator>
  <cp:lastModifiedBy>Faik Hakan Bilgen</cp:lastModifiedBy>
  <cp:revision>1</cp:revision>
  <dcterms:created xsi:type="dcterms:W3CDTF">2026-01-16T08:37:14Z</dcterms:created>
  <dcterms:modified xsi:type="dcterms:W3CDTF">2026-10-16T14:31:38Z</dcterms:modified>
</cp:coreProperties>
</file>